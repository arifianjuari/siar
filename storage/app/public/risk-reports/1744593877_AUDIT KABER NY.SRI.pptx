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101" d="100"/>
          <a:sy n="101" d="100"/>
        </p:scale>
        <p:origin x="150"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19C10BE-9204-4044-AF0C-E6DC2A614C2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19C10BE-9204-4044-AF0C-E6DC2A614C2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9C10BE-9204-4044-AF0C-E6DC2A614C2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9C10BE-9204-4044-AF0C-E6DC2A614C2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19C10BE-9204-4044-AF0C-E6DC2A614C2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19C10BE-9204-4044-AF0C-E6DC2A614C2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19C10BE-9204-4044-AF0C-E6DC2A614C2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E9244-EB64-4BB4-8247-CC62BF3ED14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19C10BE-9204-4044-AF0C-E6DC2A614C29}" type="datetimeFigureOut">
              <a:rPr lang="en-US" smtClean="0"/>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C0E9244-EB64-4BB4-8247-CC62BF3ED14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latin typeface="Arial Black" panose="020B0A04020102020204" pitchFamily="34" charset="0"/>
              </a:rPr>
              <a:t>AUDIT PASIEN KAMAR BERSALIN</a:t>
            </a:r>
            <a:br>
              <a:rPr lang="en-US" b="1" dirty="0">
                <a:latin typeface="Arial Black" panose="020B0A04020102020204" pitchFamily="34" charset="0"/>
              </a:rPr>
            </a:br>
            <a:r>
              <a:rPr lang="en-US" b="1" dirty="0">
                <a:latin typeface="Arial Black" panose="020B0A04020102020204" pitchFamily="34" charset="0"/>
              </a:rPr>
              <a:t>NY.SRI HARYANTI (46 TAHUN)</a:t>
            </a:r>
            <a:endParaRPr lang="en-US" b="1" dirty="0">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66725" y="561976"/>
            <a:ext cx="11258550" cy="5753100"/>
          </a:xfrm>
        </p:spPr>
        <p:txBody>
          <a:bodyPr>
            <a:normAutofit lnSpcReduction="20000"/>
          </a:bodyPr>
          <a:lstStyle/>
          <a:p>
            <a:pPr algn="just"/>
            <a:r>
              <a:rPr lang="en-US" sz="2000" dirty="0">
                <a:solidFill>
                  <a:schemeClr val="tx1"/>
                </a:solidFill>
              </a:rPr>
              <a:t>Px </a:t>
            </a:r>
            <a:r>
              <a:rPr lang="en-US" sz="2000" dirty="0" err="1">
                <a:solidFill>
                  <a:schemeClr val="tx1"/>
                </a:solidFill>
              </a:rPr>
              <a:t>datang</a:t>
            </a:r>
            <a:r>
              <a:rPr lang="en-US" sz="2000" dirty="0">
                <a:solidFill>
                  <a:schemeClr val="tx1"/>
                </a:solidFill>
              </a:rPr>
              <a:t> </a:t>
            </a:r>
            <a:r>
              <a:rPr lang="en-US" sz="2000" dirty="0" err="1">
                <a:solidFill>
                  <a:schemeClr val="tx1"/>
                </a:solidFill>
              </a:rPr>
              <a:t>ke</a:t>
            </a:r>
            <a:r>
              <a:rPr lang="en-US" sz="2000" dirty="0">
                <a:solidFill>
                  <a:schemeClr val="tx1"/>
                </a:solidFill>
              </a:rPr>
              <a:t> kamar bersalin </a:t>
            </a:r>
            <a:r>
              <a:rPr lang="en-US" sz="2000" dirty="0" err="1">
                <a:solidFill>
                  <a:schemeClr val="tx1"/>
                </a:solidFill>
              </a:rPr>
              <a:t>hari</a:t>
            </a:r>
            <a:r>
              <a:rPr lang="en-US" sz="2000" dirty="0">
                <a:solidFill>
                  <a:schemeClr val="tx1"/>
                </a:solidFill>
              </a:rPr>
              <a:t> S</a:t>
            </a:r>
            <a:r>
              <a:rPr lang="en-US" sz="2000" dirty="0" err="1">
                <a:solidFill>
                  <a:schemeClr val="tx1"/>
                </a:solidFill>
              </a:rPr>
              <a:t>enin</a:t>
            </a:r>
            <a:r>
              <a:rPr lang="en-US" sz="2000" dirty="0">
                <a:solidFill>
                  <a:schemeClr val="tx1"/>
                </a:solidFill>
              </a:rPr>
              <a:t> </a:t>
            </a:r>
            <a:r>
              <a:rPr lang="en-US" sz="2000" dirty="0" err="1">
                <a:solidFill>
                  <a:schemeClr val="tx1"/>
                </a:solidFill>
              </a:rPr>
              <a:t>tgl</a:t>
            </a:r>
            <a:r>
              <a:rPr lang="en-US" sz="2000" dirty="0">
                <a:solidFill>
                  <a:schemeClr val="tx1"/>
                </a:solidFill>
              </a:rPr>
              <a:t> 17-06-2023 </a:t>
            </a:r>
            <a:r>
              <a:rPr lang="en-US" sz="2000" dirty="0" err="1">
                <a:solidFill>
                  <a:schemeClr val="tx1"/>
                </a:solidFill>
              </a:rPr>
              <a:t>pkl</a:t>
            </a:r>
            <a:r>
              <a:rPr lang="en-US" sz="2000" dirty="0">
                <a:solidFill>
                  <a:schemeClr val="tx1"/>
                </a:solidFill>
              </a:rPr>
              <a:t>: 19:35</a:t>
            </a:r>
            <a:endParaRPr lang="en-US" sz="2000" dirty="0">
              <a:solidFill>
                <a:schemeClr val="tx1"/>
              </a:solidFill>
            </a:endParaRPr>
          </a:p>
          <a:p>
            <a:pPr algn="just"/>
            <a:r>
              <a:rPr lang="en-US" sz="2000" dirty="0">
                <a:solidFill>
                  <a:schemeClr val="tx1"/>
                </a:solidFill>
              </a:rPr>
              <a:t>S : </a:t>
            </a:r>
            <a:r>
              <a:rPr lang="en-US" sz="2000" dirty="0" err="1">
                <a:solidFill>
                  <a:schemeClr val="tx1"/>
                </a:solidFill>
              </a:rPr>
              <a:t>ibu</a:t>
            </a:r>
            <a:r>
              <a:rPr lang="en-US" sz="2000" dirty="0">
                <a:solidFill>
                  <a:schemeClr val="tx1"/>
                </a:solidFill>
              </a:rPr>
              <a:t> </a:t>
            </a:r>
            <a:r>
              <a:rPr lang="en-US" sz="2000" dirty="0" err="1">
                <a:solidFill>
                  <a:schemeClr val="tx1"/>
                </a:solidFill>
              </a:rPr>
              <a:t>mengatakan</a:t>
            </a:r>
            <a:r>
              <a:rPr lang="en-US" sz="2000" dirty="0">
                <a:solidFill>
                  <a:schemeClr val="tx1"/>
                </a:solidFill>
              </a:rPr>
              <a:t> akan operasi angkat kandungan</a:t>
            </a:r>
            <a:endParaRPr lang="en-US" sz="2000" dirty="0">
              <a:solidFill>
                <a:schemeClr val="tx1"/>
              </a:solidFill>
            </a:endParaRPr>
          </a:p>
          <a:p>
            <a:pPr algn="just"/>
            <a:r>
              <a:rPr lang="en-US" sz="2000" dirty="0">
                <a:solidFill>
                  <a:schemeClr val="tx1"/>
                </a:solidFill>
              </a:rPr>
              <a:t>O: </a:t>
            </a:r>
            <a:r>
              <a:rPr lang="en-US" sz="2000" dirty="0" err="1">
                <a:solidFill>
                  <a:schemeClr val="tx1"/>
                </a:solidFill>
              </a:rPr>
              <a:t>ku</a:t>
            </a:r>
            <a:r>
              <a:rPr lang="en-US" sz="2000" dirty="0">
                <a:solidFill>
                  <a:schemeClr val="tx1"/>
                </a:solidFill>
              </a:rPr>
              <a:t> </a:t>
            </a:r>
            <a:r>
              <a:rPr lang="en-US" sz="2000" dirty="0" err="1">
                <a:solidFill>
                  <a:schemeClr val="tx1"/>
                </a:solidFill>
              </a:rPr>
              <a:t>baik</a:t>
            </a:r>
            <a:r>
              <a:rPr lang="en-US" sz="2000" dirty="0">
                <a:solidFill>
                  <a:schemeClr val="tx1"/>
                </a:solidFill>
              </a:rPr>
              <a:t>, </a:t>
            </a:r>
            <a:r>
              <a:rPr lang="en-US" sz="2000" dirty="0" err="1">
                <a:solidFill>
                  <a:schemeClr val="tx1"/>
                </a:solidFill>
              </a:rPr>
              <a:t>kes</a:t>
            </a:r>
            <a:r>
              <a:rPr lang="en-US" sz="2000" dirty="0">
                <a:solidFill>
                  <a:schemeClr val="tx1"/>
                </a:solidFill>
              </a:rPr>
              <a:t> CM</a:t>
            </a:r>
            <a:endParaRPr lang="en-US" sz="2000" dirty="0">
              <a:solidFill>
                <a:schemeClr val="tx1"/>
              </a:solidFill>
            </a:endParaRPr>
          </a:p>
          <a:p>
            <a:pPr algn="just"/>
            <a:r>
              <a:rPr lang="en-US" sz="2000" dirty="0">
                <a:solidFill>
                  <a:schemeClr val="tx1"/>
                </a:solidFill>
              </a:rPr>
              <a:t>     T: 160/90 N:80 S: 36,5</a:t>
            </a:r>
            <a:endParaRPr lang="en-US" sz="2000" dirty="0">
              <a:solidFill>
                <a:schemeClr val="tx1"/>
              </a:solidFill>
            </a:endParaRPr>
          </a:p>
          <a:p>
            <a:pPr algn="just"/>
            <a:r>
              <a:rPr lang="en-US" sz="2000" dirty="0">
                <a:solidFill>
                  <a:schemeClr val="tx1"/>
                </a:solidFill>
              </a:rPr>
              <a:t>         </a:t>
            </a:r>
            <a:r>
              <a:rPr lang="en-US" sz="2000" dirty="0" err="1">
                <a:solidFill>
                  <a:schemeClr val="tx1"/>
                </a:solidFill>
              </a:rPr>
              <a:t>pengeluaran</a:t>
            </a:r>
            <a:r>
              <a:rPr lang="en-US" sz="2000" dirty="0">
                <a:solidFill>
                  <a:schemeClr val="tx1"/>
                </a:solidFill>
              </a:rPr>
              <a:t> </a:t>
            </a:r>
            <a:r>
              <a:rPr lang="en-US" sz="2000" dirty="0" err="1">
                <a:solidFill>
                  <a:schemeClr val="tx1"/>
                </a:solidFill>
              </a:rPr>
              <a:t>pervag</a:t>
            </a:r>
            <a:r>
              <a:rPr lang="en-US" sz="2000" dirty="0">
                <a:solidFill>
                  <a:schemeClr val="tx1"/>
                </a:solidFill>
              </a:rPr>
              <a:t> (-)</a:t>
            </a:r>
            <a:endParaRPr lang="en-US" sz="2000" dirty="0">
              <a:solidFill>
                <a:schemeClr val="tx1"/>
              </a:solidFill>
            </a:endParaRPr>
          </a:p>
          <a:p>
            <a:pPr algn="just"/>
            <a:r>
              <a:rPr lang="en-US" sz="2000" dirty="0">
                <a:solidFill>
                  <a:schemeClr val="tx1"/>
                </a:solidFill>
              </a:rPr>
              <a:t>A : Pro SVH USO a/i Adenomiosis + Hipertensi</a:t>
            </a:r>
            <a:endParaRPr lang="en-US" sz="2000" dirty="0">
              <a:solidFill>
                <a:schemeClr val="tx1"/>
              </a:solidFill>
            </a:endParaRPr>
          </a:p>
          <a:p>
            <a:pPr algn="just"/>
            <a:r>
              <a:rPr lang="en-US" sz="2000" dirty="0">
                <a:solidFill>
                  <a:schemeClr val="tx1"/>
                </a:solidFill>
              </a:rPr>
              <a:t>P : advice :</a:t>
            </a:r>
            <a:endParaRPr lang="en-US" sz="2000" dirty="0">
              <a:solidFill>
                <a:schemeClr val="tx1"/>
              </a:solidFill>
            </a:endParaRPr>
          </a:p>
          <a:p>
            <a:pPr algn="just"/>
            <a:r>
              <a:rPr lang="en-US" sz="2000" dirty="0">
                <a:solidFill>
                  <a:schemeClr val="tx1"/>
                </a:solidFill>
              </a:rPr>
              <a:t>      Cek GDS,,PT,APTT,,EKG</a:t>
            </a:r>
            <a:endParaRPr lang="en-US" sz="2000" dirty="0">
              <a:solidFill>
                <a:schemeClr val="tx1"/>
              </a:solidFill>
            </a:endParaRPr>
          </a:p>
          <a:p>
            <a:pPr algn="just"/>
            <a:r>
              <a:rPr lang="en-US" sz="2000" dirty="0">
                <a:solidFill>
                  <a:schemeClr val="tx1"/>
                </a:solidFill>
              </a:rPr>
              <a:t>      Konsul Anastesi untuk hasil EKG</a:t>
            </a:r>
            <a:endParaRPr lang="en-US" sz="2000" dirty="0">
              <a:solidFill>
                <a:schemeClr val="tx1"/>
              </a:solidFill>
            </a:endParaRPr>
          </a:p>
          <a:p>
            <a:pPr algn="just"/>
            <a:r>
              <a:rPr lang="en-US" sz="2000" dirty="0">
                <a:solidFill>
                  <a:schemeClr val="tx1"/>
                </a:solidFill>
              </a:rPr>
              <a:t>      Amlodipin 1 x 10 mg</a:t>
            </a:r>
            <a:endParaRPr lang="en-US" sz="2000" dirty="0">
              <a:solidFill>
                <a:schemeClr val="tx1"/>
              </a:solidFill>
            </a:endParaRPr>
          </a:p>
          <a:p>
            <a:pPr indent="457200" algn="just"/>
            <a:r>
              <a:rPr lang="en-US" sz="2000" dirty="0">
                <a:solidFill>
                  <a:schemeClr val="tx1"/>
                </a:solidFill>
              </a:rPr>
              <a:t>candesartan 1x1</a:t>
            </a:r>
            <a:endParaRPr lang="en-US" sz="2000" dirty="0">
              <a:solidFill>
                <a:schemeClr val="tx1"/>
              </a:solidFill>
            </a:endParaRPr>
          </a:p>
          <a:p>
            <a:pPr indent="457200" algn="just"/>
            <a:r>
              <a:rPr lang="en-US" sz="2000" dirty="0">
                <a:solidFill>
                  <a:schemeClr val="tx1"/>
                </a:solidFill>
              </a:rPr>
              <a:t>regumen 3x1</a:t>
            </a:r>
            <a:endParaRPr lang="en-US" sz="2000" dirty="0">
              <a:solidFill>
                <a:schemeClr val="tx1"/>
              </a:solidFill>
            </a:endParaRPr>
          </a:p>
          <a:p>
            <a:pPr indent="457200" algn="just"/>
            <a:r>
              <a:rPr lang="en-US" sz="2000" dirty="0">
                <a:solidFill>
                  <a:schemeClr val="tx1"/>
                </a:solidFill>
              </a:rPr>
              <a:t>rencana operasi pukul 07.00</a:t>
            </a:r>
            <a:endParaRPr lang="en-US" sz="2000" dirty="0">
              <a:solidFill>
                <a:schemeClr val="tx1"/>
              </a:solidFill>
            </a:endParaRPr>
          </a:p>
          <a:p>
            <a:pPr algn="just"/>
            <a:r>
              <a:rPr lang="en-US" sz="2000" dirty="0">
                <a:solidFill>
                  <a:schemeClr val="tx1"/>
                </a:solidFill>
              </a:rPr>
              <a:t>      </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2450" y="509587"/>
            <a:ext cx="11220450" cy="5838825"/>
          </a:xfrm>
        </p:spPr>
        <p:txBody>
          <a:bodyPr>
            <a:normAutofit fontScale="52500"/>
          </a:bodyPr>
          <a:lstStyle/>
          <a:p>
            <a:pPr marL="0" indent="0">
              <a:buNone/>
            </a:pPr>
            <a:endParaRPr lang="en-US" dirty="0"/>
          </a:p>
          <a:p>
            <a:pPr marL="0" indent="0">
              <a:buNone/>
            </a:pPr>
            <a:r>
              <a:rPr lang="en-US" sz="3810" dirty="0">
                <a:solidFill>
                  <a:schemeClr val="tx1"/>
                </a:solidFill>
              </a:rPr>
              <a:t>tanggal 18 Februari 2025 pukul 06.00</a:t>
            </a:r>
            <a:endParaRPr lang="en-US" sz="3810" dirty="0">
              <a:solidFill>
                <a:schemeClr val="tx1"/>
              </a:solidFill>
            </a:endParaRPr>
          </a:p>
          <a:p>
            <a:pPr marL="0" indent="0">
              <a:buNone/>
            </a:pPr>
            <a:r>
              <a:rPr lang="en-US" sz="3810" dirty="0">
                <a:solidFill>
                  <a:schemeClr val="tx1"/>
                </a:solidFill>
              </a:rPr>
              <a:t>S : Ibu </a:t>
            </a:r>
            <a:r>
              <a:rPr lang="en-US" sz="3810" dirty="0" err="1">
                <a:solidFill>
                  <a:schemeClr val="tx1"/>
                </a:solidFill>
              </a:rPr>
              <a:t>mengatakan</a:t>
            </a:r>
            <a:r>
              <a:rPr lang="en-US" sz="3810" dirty="0">
                <a:solidFill>
                  <a:schemeClr val="tx1"/>
                </a:solidFill>
              </a:rPr>
              <a:t> takut akan operasi</a:t>
            </a:r>
            <a:endParaRPr lang="en-US" sz="3810" dirty="0">
              <a:solidFill>
                <a:schemeClr val="tx1"/>
              </a:solidFill>
            </a:endParaRPr>
          </a:p>
          <a:p>
            <a:pPr marL="0" indent="0">
              <a:buNone/>
            </a:pPr>
            <a:r>
              <a:rPr lang="en-US" sz="3810" dirty="0">
                <a:solidFill>
                  <a:schemeClr val="tx1"/>
                </a:solidFill>
              </a:rPr>
              <a:t>O:  T: 142/89 N:80</a:t>
            </a:r>
            <a:endParaRPr lang="en-US" sz="3810" dirty="0">
              <a:solidFill>
                <a:schemeClr val="tx1"/>
              </a:solidFill>
            </a:endParaRPr>
          </a:p>
          <a:p>
            <a:pPr marL="0" indent="0">
              <a:buNone/>
            </a:pPr>
            <a:r>
              <a:rPr lang="en-US" sz="3810" dirty="0">
                <a:solidFill>
                  <a:schemeClr val="tx1"/>
                </a:solidFill>
              </a:rPr>
              <a:t>A: Pro SVH USO a/i Adenomiosis + Hipertensi</a:t>
            </a:r>
            <a:endParaRPr lang="en-US" sz="3810" dirty="0">
              <a:solidFill>
                <a:schemeClr val="tx1"/>
              </a:solidFill>
            </a:endParaRPr>
          </a:p>
          <a:p>
            <a:pPr marL="0" indent="0">
              <a:buNone/>
            </a:pPr>
            <a:r>
              <a:rPr lang="en-US" sz="3810" dirty="0">
                <a:solidFill>
                  <a:schemeClr val="tx1"/>
                </a:solidFill>
              </a:rPr>
              <a:t>P: Inf RL </a:t>
            </a:r>
            <a:endParaRPr lang="en-US" sz="3810" dirty="0">
              <a:solidFill>
                <a:schemeClr val="tx1"/>
              </a:solidFill>
            </a:endParaRPr>
          </a:p>
          <a:p>
            <a:pPr marL="0" indent="0">
              <a:buNone/>
            </a:pPr>
            <a:r>
              <a:rPr lang="en-US" sz="3810" dirty="0">
                <a:solidFill>
                  <a:schemeClr val="tx1"/>
                </a:solidFill>
              </a:rPr>
              <a:t>    </a:t>
            </a:r>
            <a:r>
              <a:rPr lang="en-US" sz="3810" dirty="0" err="1">
                <a:solidFill>
                  <a:schemeClr val="tx1"/>
                </a:solidFill>
              </a:rPr>
              <a:t>Inj cefazoline 1 gram</a:t>
            </a:r>
            <a:endParaRPr lang="en-US" sz="3810" dirty="0" err="1">
              <a:solidFill>
                <a:schemeClr val="tx1"/>
              </a:solidFill>
            </a:endParaRPr>
          </a:p>
          <a:p>
            <a:pPr marL="0" indent="0">
              <a:buNone/>
            </a:pPr>
            <a:r>
              <a:rPr lang="en-US" sz="3810" dirty="0" err="1">
                <a:solidFill>
                  <a:schemeClr val="tx1"/>
                </a:solidFill>
              </a:rPr>
              <a:t>    inj ketorolac 80 mg</a:t>
            </a:r>
            <a:endParaRPr lang="en-US" sz="3810" dirty="0" err="1">
              <a:solidFill>
                <a:schemeClr val="tx1"/>
              </a:solidFill>
            </a:endParaRPr>
          </a:p>
          <a:p>
            <a:pPr marL="0" indent="0">
              <a:buNone/>
            </a:pPr>
            <a:r>
              <a:rPr lang="en-US" sz="3810" dirty="0" err="1">
                <a:solidFill>
                  <a:schemeClr val="tx1"/>
                </a:solidFill>
              </a:rPr>
              <a:t>    inj metoklopramide 1 ampul</a:t>
            </a:r>
            <a:endParaRPr lang="en-US" sz="3810" dirty="0" err="1">
              <a:solidFill>
                <a:schemeClr val="tx1"/>
              </a:solidFill>
            </a:endParaRPr>
          </a:p>
          <a:p>
            <a:pPr marL="0" indent="0">
              <a:buNone/>
            </a:pPr>
            <a:r>
              <a:rPr lang="en-US" sz="3810" dirty="0" err="1">
                <a:solidFill>
                  <a:schemeClr val="tx1"/>
                </a:solidFill>
              </a:rPr>
              <a:t>(06.30) px naik ok</a:t>
            </a:r>
            <a:endParaRPr lang="en-US" sz="3810" dirty="0">
              <a:solidFill>
                <a:schemeClr val="tx1"/>
              </a:solidFill>
            </a:endParaRPr>
          </a:p>
          <a:p>
            <a:pPr marL="0" indent="0">
              <a:buNone/>
            </a:pPr>
            <a:r>
              <a:rPr lang="en-US" sz="2400" dirty="0">
                <a:solidFill>
                  <a:schemeClr val="tx1"/>
                </a:solidFill>
              </a:rPr>
              <a:t>      </a:t>
            </a:r>
            <a:endParaRPr lang="en-US" sz="2400" dirty="0">
              <a:solidFill>
                <a:schemeClr val="tx1"/>
              </a:solidFill>
            </a:endParaRPr>
          </a:p>
          <a:p>
            <a:pPr marL="0" indent="0">
              <a:buNone/>
            </a:pPr>
            <a:endParaRPr lang="en-US" sz="2400" dirty="0">
              <a:solidFill>
                <a:schemeClr val="tx1"/>
              </a:solidFill>
            </a:endParaRPr>
          </a:p>
          <a:p>
            <a:pPr marL="0" indent="0">
              <a:buNone/>
            </a:pPr>
            <a:endParaRPr lang="en-US" dirty="0"/>
          </a:p>
          <a:p>
            <a:pPr marL="0" indent="0">
              <a:buNone/>
            </a:pPr>
            <a:endParaRPr lang="en-US" dirty="0"/>
          </a:p>
          <a:p>
            <a:pPr marL="0" indent="0">
              <a:buNone/>
            </a:pPr>
            <a:endParaRPr lang="en-US" dirty="0"/>
          </a:p>
          <a:p>
            <a:pPr marL="0" indent="0">
              <a:buNone/>
            </a:pPr>
            <a:r>
              <a:rPr lang="en-US" dirty="0"/>
              <a:t>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4825"/>
            <a:ext cx="10515600" cy="5672138"/>
          </a:xfrm>
        </p:spPr>
        <p:txBody>
          <a:bodyPr>
            <a:normAutofit lnSpcReduction="20000"/>
          </a:bodyPr>
          <a:lstStyle/>
          <a:p>
            <a:pPr marL="0" indent="0">
              <a:buNone/>
            </a:pPr>
            <a:endParaRPr lang="en-US" dirty="0"/>
          </a:p>
          <a:p>
            <a:pPr marL="0" indent="0">
              <a:buNone/>
            </a:pPr>
            <a:r>
              <a:rPr lang="en-US" sz="2000" dirty="0">
                <a:solidFill>
                  <a:schemeClr val="tx1"/>
                </a:solidFill>
              </a:rPr>
              <a:t>Tanggal 18 Februari 2025 pukul 11.00 (bidan datang ke ruang (RR)</a:t>
            </a:r>
            <a:endParaRPr lang="en-US" sz="2000" dirty="0">
              <a:solidFill>
                <a:schemeClr val="tx1"/>
              </a:solidFill>
            </a:endParaRPr>
          </a:p>
          <a:p>
            <a:pPr marL="0" indent="0">
              <a:buNone/>
            </a:pPr>
            <a:r>
              <a:rPr lang="en-US" sz="2000" dirty="0">
                <a:solidFill>
                  <a:schemeClr val="tx1"/>
                </a:solidFill>
              </a:rPr>
              <a:t>S : Ibu </a:t>
            </a:r>
            <a:r>
              <a:rPr lang="en-US" sz="2000" dirty="0" err="1">
                <a:solidFill>
                  <a:schemeClr val="tx1"/>
                </a:solidFill>
              </a:rPr>
              <a:t>mengatakan</a:t>
            </a:r>
            <a:r>
              <a:rPr lang="en-US" sz="2000" dirty="0">
                <a:solidFill>
                  <a:schemeClr val="tx1"/>
                </a:solidFill>
              </a:rPr>
              <a:t> mual</a:t>
            </a:r>
            <a:endParaRPr lang="en-US" sz="2000" dirty="0">
              <a:solidFill>
                <a:schemeClr val="tx1"/>
              </a:solidFill>
            </a:endParaRPr>
          </a:p>
          <a:p>
            <a:pPr marL="0" indent="0">
              <a:buNone/>
            </a:pPr>
            <a:r>
              <a:rPr lang="en-US" sz="2000" dirty="0">
                <a:solidFill>
                  <a:schemeClr val="tx1"/>
                </a:solidFill>
              </a:rPr>
              <a:t>O: px tampak pucat dan terpasang nassal canule 3 lpm</a:t>
            </a:r>
            <a:endParaRPr lang="en-US" sz="2000" dirty="0">
              <a:solidFill>
                <a:schemeClr val="tx1"/>
              </a:solidFill>
            </a:endParaRPr>
          </a:p>
          <a:p>
            <a:pPr marL="0" indent="0">
              <a:buNone/>
            </a:pPr>
            <a:r>
              <a:rPr lang="en-US" sz="2000" dirty="0">
                <a:solidFill>
                  <a:schemeClr val="tx1"/>
                </a:solidFill>
              </a:rPr>
              <a:t>    T:94/67  N:126</a:t>
            </a:r>
            <a:endParaRPr lang="en-US" sz="2000" dirty="0">
              <a:solidFill>
                <a:schemeClr val="tx1"/>
              </a:solidFill>
            </a:endParaRPr>
          </a:p>
          <a:p>
            <a:pPr marL="0" indent="0">
              <a:buNone/>
            </a:pPr>
            <a:r>
              <a:rPr lang="en-US" sz="2000" dirty="0">
                <a:solidFill>
                  <a:schemeClr val="tx1"/>
                </a:solidFill>
              </a:rPr>
              <a:t>A: Post SVH BSO a/i Mioma Uteri multiple + kista coklat bilateral</a:t>
            </a:r>
            <a:endParaRPr lang="en-US" sz="2000" dirty="0">
              <a:solidFill>
                <a:schemeClr val="tx1"/>
              </a:solidFill>
            </a:endParaRPr>
          </a:p>
          <a:p>
            <a:pPr marL="0" indent="0">
              <a:buNone/>
            </a:pPr>
            <a:r>
              <a:rPr lang="en-US" sz="2000" dirty="0">
                <a:solidFill>
                  <a:schemeClr val="tx1"/>
                </a:solidFill>
              </a:rPr>
              <a:t>P: Inf RL </a:t>
            </a:r>
            <a:endParaRPr lang="en-US" sz="2000" dirty="0">
              <a:solidFill>
                <a:schemeClr val="tx1"/>
              </a:solidFill>
            </a:endParaRPr>
          </a:p>
          <a:p>
            <a:pPr marL="0" indent="0">
              <a:buNone/>
            </a:pPr>
            <a:r>
              <a:rPr lang="en-US" sz="2000" dirty="0">
                <a:solidFill>
                  <a:schemeClr val="tx1"/>
                </a:solidFill>
              </a:rPr>
              <a:t>    lab dl post op</a:t>
            </a:r>
            <a:endParaRPr lang="en-US" sz="2000" dirty="0">
              <a:solidFill>
                <a:schemeClr val="tx1"/>
              </a:solidFill>
            </a:endParaRPr>
          </a:p>
          <a:p>
            <a:pPr marL="0" indent="0">
              <a:buNone/>
            </a:pPr>
            <a:r>
              <a:rPr lang="en-US" sz="2000" dirty="0">
                <a:solidFill>
                  <a:schemeClr val="tx1"/>
                </a:solidFill>
              </a:rPr>
              <a:t>ket:Bidan memanggil kru ok untuk konfirmasi kondisi pasien.Kru ok menjelaskan keadaan saat ini dikarenakan proses pembiusan.Bidan melakukan pengambilan darah dibantu kru ok.Kemudian bidan melakukan transfer pasien dari RR ke VK atas persetujuan kru OK.Saat di VK dilakukan pemasangan monitor untuk memantau kondisi pasien.</a:t>
            </a:r>
            <a:endParaRPr lang="en-US" sz="2000" dirty="0">
              <a:solidFill>
                <a:schemeClr val="tx1"/>
              </a:solidFill>
            </a:endParaRPr>
          </a:p>
          <a:p>
            <a:pPr marL="0" indent="0">
              <a:buNone/>
            </a:pPr>
            <a:r>
              <a:rPr lang="en-US" sz="2400" dirty="0">
                <a:solidFill>
                  <a:schemeClr val="tx1"/>
                </a:solidFill>
              </a:rPr>
              <a:t>    </a:t>
            </a:r>
            <a:endParaRPr lang="en-US" sz="2400" dirty="0">
              <a:solidFill>
                <a:schemeClr val="tx1"/>
              </a:solidFill>
            </a:endParaRPr>
          </a:p>
          <a:p>
            <a:pPr marL="0" indent="0">
              <a:buNone/>
            </a:pPr>
            <a:endParaRPr lang="en-US" sz="2400" dirty="0">
              <a:solidFill>
                <a:schemeClr val="tx1"/>
              </a:solidFill>
            </a:endParaRP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609600"/>
            <a:ext cx="8596630" cy="890905"/>
          </a:xfrm>
        </p:spPr>
        <p:txBody>
          <a:bodyPr>
            <a:normAutofit/>
          </a:bodyPr>
          <a:lstStyle/>
          <a:p>
            <a:r>
              <a:rPr lang="en-US" dirty="0">
                <a:solidFill>
                  <a:schemeClr val="tx1"/>
                </a:solidFill>
              </a:rPr>
              <a:t>tanggal 18 Februari 2025 jam 12.00 </a:t>
            </a:r>
            <a:endParaRPr lang="en-US" dirty="0">
              <a:solidFill>
                <a:schemeClr val="tx1"/>
              </a:solidFill>
            </a:endParaRPr>
          </a:p>
        </p:txBody>
      </p:sp>
      <p:sp>
        <p:nvSpPr>
          <p:cNvPr id="3" name="Content Placeholder 2"/>
          <p:cNvSpPr>
            <a:spLocks noGrp="1"/>
          </p:cNvSpPr>
          <p:nvPr>
            <p:ph idx="1"/>
          </p:nvPr>
        </p:nvSpPr>
        <p:spPr>
          <a:xfrm>
            <a:off x="677545" y="1304290"/>
            <a:ext cx="8596630" cy="4841875"/>
          </a:xfrm>
        </p:spPr>
        <p:txBody>
          <a:bodyPr>
            <a:normAutofit fontScale="25000"/>
          </a:bodyPr>
          <a:lstStyle/>
          <a:p>
            <a:pPr marL="0" indent="0">
              <a:buNone/>
            </a:pPr>
            <a:r>
              <a:rPr lang="en-US" sz="8000" dirty="0">
                <a:solidFill>
                  <a:schemeClr val="tx1"/>
                </a:solidFill>
              </a:rPr>
              <a:t>S: </a:t>
            </a:r>
            <a:r>
              <a:rPr lang="en-US" sz="8000" dirty="0" err="1">
                <a:solidFill>
                  <a:schemeClr val="tx1"/>
                </a:solidFill>
              </a:rPr>
              <a:t>ibu</a:t>
            </a:r>
            <a:r>
              <a:rPr lang="en-US" sz="8000" dirty="0">
                <a:solidFill>
                  <a:schemeClr val="tx1"/>
                </a:solidFill>
              </a:rPr>
              <a:t> mengatakan nyeri luka operasi dan nyeri punggung</a:t>
            </a:r>
            <a:endParaRPr lang="en-US" sz="8000" dirty="0">
              <a:solidFill>
                <a:schemeClr val="tx1"/>
              </a:solidFill>
            </a:endParaRPr>
          </a:p>
          <a:p>
            <a:pPr marL="0" indent="0">
              <a:buNone/>
            </a:pPr>
            <a:r>
              <a:rPr lang="en-US" sz="8000" dirty="0">
                <a:solidFill>
                  <a:schemeClr val="tx1"/>
                </a:solidFill>
              </a:rPr>
              <a:t>O: k/u lemah DC:200 cc</a:t>
            </a:r>
            <a:endParaRPr lang="en-US" sz="8000" dirty="0">
              <a:solidFill>
                <a:schemeClr val="tx1"/>
              </a:solidFill>
            </a:endParaRPr>
          </a:p>
          <a:p>
            <a:pPr marL="0" indent="0">
              <a:buNone/>
            </a:pPr>
            <a:r>
              <a:rPr lang="en-US" sz="8000" dirty="0">
                <a:solidFill>
                  <a:schemeClr val="tx1"/>
                </a:solidFill>
              </a:rPr>
              <a:t> T:92/67 N:121 SpO2 : 97% (terpasang nassal canule 3 lpm)</a:t>
            </a:r>
            <a:endParaRPr lang="en-US" sz="8000" dirty="0">
              <a:solidFill>
                <a:schemeClr val="tx1"/>
              </a:solidFill>
            </a:endParaRPr>
          </a:p>
          <a:p>
            <a:pPr marL="0" indent="0">
              <a:buNone/>
            </a:pPr>
            <a:r>
              <a:rPr lang="en-US" sz="8000" dirty="0">
                <a:solidFill>
                  <a:schemeClr val="tx1"/>
                </a:solidFill>
              </a:rPr>
              <a:t> HASIL DL: HB: 9,4 gr/dl ,,leukosit:28.670,,thrombosit : 518.000</a:t>
            </a:r>
            <a:endParaRPr lang="en-US" sz="8000" dirty="0">
              <a:solidFill>
                <a:schemeClr val="tx1"/>
              </a:solidFill>
            </a:endParaRPr>
          </a:p>
          <a:p>
            <a:pPr marL="0" indent="0">
              <a:buNone/>
            </a:pPr>
            <a:r>
              <a:rPr lang="en-US" sz="8000" dirty="0">
                <a:solidFill>
                  <a:schemeClr val="tx1"/>
                </a:solidFill>
              </a:rPr>
              <a:t>A: Post SVH BSO a/i mioma uteri multiple + kista coklat bilateral)</a:t>
            </a:r>
            <a:endParaRPr lang="en-US" sz="8000" dirty="0">
              <a:solidFill>
                <a:schemeClr val="tx1"/>
              </a:solidFill>
            </a:endParaRPr>
          </a:p>
          <a:p>
            <a:pPr marL="0" indent="0">
              <a:buNone/>
            </a:pPr>
            <a:r>
              <a:rPr lang="en-US" sz="8000" dirty="0">
                <a:solidFill>
                  <a:schemeClr val="tx1"/>
                </a:solidFill>
              </a:rPr>
              <a:t>P :Lapor</a:t>
            </a:r>
            <a:endParaRPr lang="en-US" sz="8000" dirty="0">
              <a:solidFill>
                <a:schemeClr val="tx1"/>
              </a:solidFill>
            </a:endParaRPr>
          </a:p>
          <a:p>
            <a:pPr marL="0" indent="0">
              <a:buNone/>
            </a:pPr>
            <a:r>
              <a:rPr lang="en-US" sz="8000" dirty="0">
                <a:solidFill>
                  <a:schemeClr val="tx1"/>
                </a:solidFill>
              </a:rPr>
              <a:t>    -inf RL drip tramadol 100 mg 20 tpm ( dari anastesi )</a:t>
            </a:r>
            <a:endParaRPr lang="en-US" sz="8000" dirty="0">
              <a:solidFill>
                <a:schemeClr val="tx1"/>
              </a:solidFill>
            </a:endParaRPr>
          </a:p>
          <a:p>
            <a:pPr marL="0" indent="0">
              <a:buNone/>
            </a:pPr>
            <a:r>
              <a:rPr lang="en-US" sz="8000" dirty="0">
                <a:solidFill>
                  <a:schemeClr val="tx1"/>
                </a:solidFill>
              </a:rPr>
              <a:t>    - inj ketorolac 3x 30 mg</a:t>
            </a:r>
            <a:endParaRPr lang="en-US" sz="8000" dirty="0">
              <a:solidFill>
                <a:schemeClr val="tx1"/>
              </a:solidFill>
            </a:endParaRPr>
          </a:p>
          <a:p>
            <a:pPr marL="0" indent="0">
              <a:buNone/>
            </a:pPr>
            <a:r>
              <a:rPr lang="en-US" sz="8000" dirty="0">
                <a:solidFill>
                  <a:schemeClr val="tx1"/>
                </a:solidFill>
              </a:rPr>
              <a:t>    - inj asam tranexamat 3x 500 mg</a:t>
            </a:r>
            <a:endParaRPr lang="en-US" sz="8000" dirty="0">
              <a:solidFill>
                <a:schemeClr val="tx1"/>
              </a:solidFill>
            </a:endParaRPr>
          </a:p>
          <a:p>
            <a:pPr marL="0" indent="0">
              <a:buNone/>
            </a:pPr>
            <a:r>
              <a:rPr lang="en-US" sz="3690" dirty="0">
                <a:solidFill>
                  <a:schemeClr val="tx1"/>
                </a:solidFill>
              </a:rPr>
              <a:t>    </a:t>
            </a:r>
            <a:endParaRPr lang="en-US" sz="3690" dirty="0">
              <a:solidFill>
                <a:schemeClr val="tx1"/>
              </a:solidFill>
            </a:endParaRPr>
          </a:p>
          <a:p>
            <a:pPr marL="0" indent="0">
              <a:buNone/>
            </a:pPr>
            <a:r>
              <a:rPr lang="en-US" sz="3690" dirty="0">
                <a:solidFill>
                  <a:schemeClr val="tx1"/>
                </a:solidFill>
              </a:rPr>
              <a:t>     </a:t>
            </a:r>
            <a:r>
              <a:rPr lang="en-US" sz="8000" dirty="0">
                <a:solidFill>
                  <a:schemeClr val="tx1"/>
                </a:solidFill>
              </a:rPr>
              <a:t>(13.30) pasien mengeluh nyeri punggung  :inj ketorolac 1 ampul + antasida sirup</a:t>
            </a:r>
            <a:endParaRPr lang="en-US" sz="8000" dirty="0">
              <a:solidFill>
                <a:schemeClr val="tx1"/>
              </a:solidFill>
            </a:endParaRPr>
          </a:p>
          <a:p>
            <a:pPr marL="0" indent="0">
              <a:buNone/>
            </a:pPr>
            <a:endParaRPr lang="en-US" sz="8000" dirty="0">
              <a:solidFill>
                <a:schemeClr val="tx1"/>
              </a:solidFill>
            </a:endParaRPr>
          </a:p>
          <a:p>
            <a:pPr marL="0" indent="0">
              <a:buNone/>
            </a:pPr>
            <a:r>
              <a:rPr lang="en-US" dirty="0">
                <a:solidFill>
                  <a:schemeClr val="tx1"/>
                </a:solidFill>
              </a:rPr>
              <a:t>     </a:t>
            </a:r>
            <a:r>
              <a:rPr lang="en-US" dirty="0" err="1">
                <a:solidFill>
                  <a:schemeClr val="tx1"/>
                </a:solidFill>
              </a:rPr>
              <a:t>s</a:t>
            </a:r>
            <a:endParaRPr lang="en-US"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609600"/>
            <a:ext cx="8596630" cy="788035"/>
          </a:xfrm>
        </p:spPr>
        <p:txBody>
          <a:bodyPr/>
          <a:lstStyle/>
          <a:p>
            <a:r>
              <a:rPr lang="en-US"/>
              <a:t>Tanggal 18 Februari 2025 jam 15.00</a:t>
            </a:r>
            <a:endParaRPr lang="en-US"/>
          </a:p>
        </p:txBody>
      </p:sp>
      <p:sp>
        <p:nvSpPr>
          <p:cNvPr id="3" name="Content Placeholder 2"/>
          <p:cNvSpPr>
            <a:spLocks noGrp="1"/>
          </p:cNvSpPr>
          <p:nvPr>
            <p:ph idx="1"/>
          </p:nvPr>
        </p:nvSpPr>
        <p:spPr>
          <a:xfrm>
            <a:off x="677545" y="1397635"/>
            <a:ext cx="8596630" cy="4643755"/>
          </a:xfrm>
        </p:spPr>
        <p:txBody>
          <a:bodyPr>
            <a:normAutofit/>
          </a:bodyPr>
          <a:lstStyle/>
          <a:p>
            <a:pPr marL="0" indent="0">
              <a:buNone/>
            </a:pPr>
            <a:r>
              <a:rPr lang="en-US" dirty="0">
                <a:solidFill>
                  <a:schemeClr val="tx1"/>
                </a:solidFill>
                <a:sym typeface="+mn-ea"/>
              </a:rPr>
              <a:t>S: </a:t>
            </a:r>
            <a:r>
              <a:rPr lang="en-US" dirty="0" err="1">
                <a:solidFill>
                  <a:schemeClr val="tx1"/>
                </a:solidFill>
                <a:sym typeface="+mn-ea"/>
              </a:rPr>
              <a:t>ibu</a:t>
            </a:r>
            <a:r>
              <a:rPr lang="en-US" dirty="0">
                <a:solidFill>
                  <a:schemeClr val="tx1"/>
                </a:solidFill>
                <a:sym typeface="+mn-ea"/>
              </a:rPr>
              <a:t> mengatakan nyeri punggung , ingin pijat punggung karena nyeri</a:t>
            </a:r>
            <a:endParaRPr lang="en-US" dirty="0">
              <a:solidFill>
                <a:schemeClr val="tx1"/>
              </a:solidFill>
            </a:endParaRPr>
          </a:p>
          <a:p>
            <a:pPr marL="0" indent="0">
              <a:buNone/>
            </a:pPr>
            <a:r>
              <a:rPr lang="en-US" dirty="0">
                <a:solidFill>
                  <a:schemeClr val="tx1"/>
                </a:solidFill>
                <a:sym typeface="+mn-ea"/>
              </a:rPr>
              <a:t>O: k/u lemah DC:200 cc</a:t>
            </a:r>
            <a:endParaRPr lang="en-US" dirty="0">
              <a:solidFill>
                <a:schemeClr val="tx1"/>
              </a:solidFill>
            </a:endParaRPr>
          </a:p>
          <a:p>
            <a:pPr marL="0" indent="0">
              <a:buNone/>
            </a:pPr>
            <a:r>
              <a:rPr lang="en-US" dirty="0">
                <a:solidFill>
                  <a:schemeClr val="tx1"/>
                </a:solidFill>
                <a:sym typeface="+mn-ea"/>
              </a:rPr>
              <a:t> T:95/60 N:120 SpO2 : 97% (terpasang nassal canule 3 lpm)</a:t>
            </a:r>
            <a:endParaRPr lang="en-US" dirty="0">
              <a:solidFill>
                <a:schemeClr val="tx1"/>
              </a:solidFill>
            </a:endParaRPr>
          </a:p>
          <a:p>
            <a:pPr marL="0" indent="0">
              <a:buNone/>
            </a:pPr>
            <a:r>
              <a:rPr lang="en-US" dirty="0">
                <a:solidFill>
                  <a:schemeClr val="tx1"/>
                </a:solidFill>
                <a:sym typeface="+mn-ea"/>
              </a:rPr>
              <a:t> HASIL DL: HB: 9,4 gr/dl ,,leukosit:28.670,,thrombosit : 518.000</a:t>
            </a:r>
            <a:endParaRPr lang="en-US" dirty="0">
              <a:solidFill>
                <a:schemeClr val="tx1"/>
              </a:solidFill>
            </a:endParaRPr>
          </a:p>
          <a:p>
            <a:pPr marL="0" indent="0">
              <a:buNone/>
            </a:pPr>
            <a:r>
              <a:rPr lang="en-US" dirty="0">
                <a:solidFill>
                  <a:schemeClr val="tx1"/>
                </a:solidFill>
                <a:sym typeface="+mn-ea"/>
              </a:rPr>
              <a:t>A: Post SVH BSO a/i mioma uteri multiple + kista coklat bilateral)</a:t>
            </a:r>
            <a:endParaRPr lang="en-US" dirty="0">
              <a:solidFill>
                <a:schemeClr val="tx1"/>
              </a:solidFill>
            </a:endParaRPr>
          </a:p>
          <a:p>
            <a:pPr marL="0" indent="0">
              <a:buNone/>
            </a:pPr>
            <a:r>
              <a:rPr lang="en-US" dirty="0">
                <a:solidFill>
                  <a:schemeClr val="tx1"/>
                </a:solidFill>
                <a:sym typeface="+mn-ea"/>
              </a:rPr>
              <a:t>P :Lapor</a:t>
            </a:r>
            <a:endParaRPr lang="en-US" dirty="0">
              <a:solidFill>
                <a:schemeClr val="tx1"/>
              </a:solidFill>
            </a:endParaRPr>
          </a:p>
          <a:p>
            <a:pPr marL="0" indent="0">
              <a:buNone/>
            </a:pPr>
            <a:r>
              <a:rPr lang="en-US" dirty="0">
                <a:solidFill>
                  <a:schemeClr val="tx1"/>
                </a:solidFill>
                <a:sym typeface="+mn-ea"/>
              </a:rPr>
              <a:t>    -inf RL drip tramadol 100 mg 20 tpm ( dari anastesi )</a:t>
            </a:r>
            <a:endParaRPr lang="en-US" dirty="0">
              <a:solidFill>
                <a:schemeClr val="tx1"/>
              </a:solidFill>
            </a:endParaRPr>
          </a:p>
          <a:p>
            <a:pPr marL="0" indent="0">
              <a:buNone/>
            </a:pPr>
            <a:r>
              <a:rPr lang="en-US" dirty="0">
                <a:solidFill>
                  <a:schemeClr val="tx1"/>
                </a:solidFill>
                <a:sym typeface="+mn-ea"/>
              </a:rPr>
              <a:t>    - inj ketorolac 3x 30 mg</a:t>
            </a:r>
            <a:endParaRPr lang="en-US" dirty="0">
              <a:solidFill>
                <a:schemeClr val="tx1"/>
              </a:solidFill>
            </a:endParaRPr>
          </a:p>
          <a:p>
            <a:pPr marL="0" indent="0">
              <a:buNone/>
            </a:pPr>
            <a:r>
              <a:rPr lang="en-US" dirty="0">
                <a:solidFill>
                  <a:schemeClr val="tx1"/>
                </a:solidFill>
                <a:sym typeface="+mn-ea"/>
              </a:rPr>
              <a:t>    - inj asam tranexamat 3x 500 mg</a:t>
            </a:r>
            <a:endParaRPr lang="en-US" dirty="0">
              <a:solidFill>
                <a:schemeClr val="tx1"/>
              </a:solidFill>
            </a:endParaRPr>
          </a:p>
          <a:p>
            <a:pPr marL="0" indent="0">
              <a:buNone/>
            </a:pPr>
            <a:r>
              <a:rPr lang="en-US" dirty="0">
                <a:solidFill>
                  <a:schemeClr val="tx1"/>
                </a:solidFill>
                <a:sym typeface="+mn-ea"/>
              </a:rPr>
              <a:t>   Konsul asisten anastesi (boleh di urut halus)</a:t>
            </a:r>
            <a:endParaRPr lang="en-US" dirty="0">
              <a:solidFill>
                <a:schemeClr val="tx1"/>
              </a:solidFill>
            </a:endParaRPr>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609600"/>
            <a:ext cx="8596630" cy="664210"/>
          </a:xfrm>
        </p:spPr>
        <p:txBody>
          <a:bodyPr/>
          <a:p>
            <a:r>
              <a:rPr lang="en-US"/>
              <a:t>Tanggal 18 Februari 2025 jam 15.40</a:t>
            </a:r>
            <a:endParaRPr lang="en-US"/>
          </a:p>
        </p:txBody>
      </p:sp>
      <p:sp>
        <p:nvSpPr>
          <p:cNvPr id="3" name="Content Placeholder 2"/>
          <p:cNvSpPr>
            <a:spLocks noGrp="1"/>
          </p:cNvSpPr>
          <p:nvPr>
            <p:ph idx="1"/>
          </p:nvPr>
        </p:nvSpPr>
        <p:spPr>
          <a:xfrm>
            <a:off x="677545" y="1427480"/>
            <a:ext cx="8596630" cy="4613910"/>
          </a:xfrm>
        </p:spPr>
        <p:txBody>
          <a:bodyPr/>
          <a:p>
            <a:pPr marL="0" indent="0">
              <a:buNone/>
            </a:pPr>
            <a:r>
              <a:rPr lang="en-US" dirty="0">
                <a:solidFill>
                  <a:schemeClr val="tx1"/>
                </a:solidFill>
                <a:sym typeface="+mn-ea"/>
              </a:rPr>
              <a:t>S: </a:t>
            </a:r>
            <a:r>
              <a:rPr lang="en-US" dirty="0" err="1">
                <a:solidFill>
                  <a:schemeClr val="tx1"/>
                </a:solidFill>
                <a:sym typeface="+mn-ea"/>
              </a:rPr>
              <a:t>ibu</a:t>
            </a:r>
            <a:r>
              <a:rPr lang="en-US" dirty="0">
                <a:solidFill>
                  <a:schemeClr val="tx1"/>
                </a:solidFill>
                <a:sym typeface="+mn-ea"/>
              </a:rPr>
              <a:t> mengatakan nyeri punggung (nampak gelisah)</a:t>
            </a:r>
            <a:endParaRPr lang="en-US" dirty="0">
              <a:solidFill>
                <a:schemeClr val="tx1"/>
              </a:solidFill>
            </a:endParaRPr>
          </a:p>
          <a:p>
            <a:pPr marL="0" indent="0">
              <a:buNone/>
            </a:pPr>
            <a:r>
              <a:rPr lang="en-US" dirty="0">
                <a:solidFill>
                  <a:schemeClr val="tx1"/>
                </a:solidFill>
                <a:sym typeface="+mn-ea"/>
              </a:rPr>
              <a:t>O: k/u lemah DC:200 cc</a:t>
            </a:r>
            <a:endParaRPr lang="en-US" dirty="0">
              <a:solidFill>
                <a:schemeClr val="tx1"/>
              </a:solidFill>
            </a:endParaRPr>
          </a:p>
          <a:p>
            <a:pPr marL="0" indent="0">
              <a:buNone/>
            </a:pPr>
            <a:r>
              <a:rPr lang="en-US" dirty="0">
                <a:solidFill>
                  <a:schemeClr val="tx1"/>
                </a:solidFill>
                <a:sym typeface="+mn-ea"/>
              </a:rPr>
              <a:t> T:92/67 N:119 SpO2 : 86% (terpasang NRBM 15 ltm)</a:t>
            </a:r>
            <a:endParaRPr lang="en-US" dirty="0">
              <a:solidFill>
                <a:schemeClr val="tx1"/>
              </a:solidFill>
            </a:endParaRPr>
          </a:p>
          <a:p>
            <a:pPr marL="0" indent="0">
              <a:buNone/>
            </a:pPr>
            <a:r>
              <a:rPr lang="en-US" dirty="0">
                <a:solidFill>
                  <a:schemeClr val="tx1"/>
                </a:solidFill>
                <a:sym typeface="+mn-ea"/>
              </a:rPr>
              <a:t> HASIL DL: HB: 9,4 gr/dl ,,leukosit:28.670,,thrombosit : 518.000</a:t>
            </a:r>
            <a:endParaRPr lang="en-US" dirty="0">
              <a:solidFill>
                <a:schemeClr val="tx1"/>
              </a:solidFill>
            </a:endParaRPr>
          </a:p>
          <a:p>
            <a:pPr marL="0" indent="0">
              <a:buNone/>
            </a:pPr>
            <a:r>
              <a:rPr lang="en-US" dirty="0">
                <a:solidFill>
                  <a:schemeClr val="tx1"/>
                </a:solidFill>
                <a:sym typeface="+mn-ea"/>
              </a:rPr>
              <a:t>A: Post SVH BSO a/i mioma uteri multiple + kista coklat bilateral)</a:t>
            </a:r>
            <a:endParaRPr lang="en-US" dirty="0">
              <a:solidFill>
                <a:schemeClr val="tx1"/>
              </a:solidFill>
            </a:endParaRPr>
          </a:p>
          <a:p>
            <a:pPr marL="0" indent="0">
              <a:buNone/>
            </a:pPr>
            <a:r>
              <a:rPr lang="en-US" dirty="0">
                <a:solidFill>
                  <a:schemeClr val="tx1"/>
                </a:solidFill>
                <a:sym typeface="+mn-ea"/>
              </a:rPr>
              <a:t>P :Lapor</a:t>
            </a:r>
            <a:endParaRPr lang="en-US" dirty="0">
              <a:solidFill>
                <a:schemeClr val="tx1"/>
              </a:solidFill>
            </a:endParaRPr>
          </a:p>
          <a:p>
            <a:pPr marL="0" indent="0">
              <a:buNone/>
            </a:pPr>
            <a:r>
              <a:rPr lang="en-US" dirty="0">
                <a:solidFill>
                  <a:schemeClr val="tx1"/>
                </a:solidFill>
                <a:sym typeface="+mn-ea"/>
              </a:rPr>
              <a:t>    -inf RL drip tramadol 100 mg 20 tpm </a:t>
            </a:r>
            <a:endParaRPr lang="en-US" dirty="0">
              <a:solidFill>
                <a:schemeClr val="tx1"/>
              </a:solidFill>
            </a:endParaRPr>
          </a:p>
          <a:p>
            <a:pPr marL="0" indent="0">
              <a:buNone/>
            </a:pPr>
            <a:r>
              <a:rPr lang="en-US" dirty="0">
                <a:solidFill>
                  <a:schemeClr val="tx1"/>
                </a:solidFill>
                <a:sym typeface="+mn-ea"/>
              </a:rPr>
              <a:t>    - lapor DPJP </a:t>
            </a:r>
            <a:endParaRPr lang="en-US" dirty="0">
              <a:solidFill>
                <a:schemeClr val="tx1"/>
              </a:solidFill>
            </a:endParaRPr>
          </a:p>
          <a:p>
            <a:pPr marL="0" indent="0">
              <a:buNone/>
            </a:pPr>
            <a:r>
              <a:rPr lang="en-US" dirty="0">
                <a:solidFill>
                  <a:schemeClr val="tx1"/>
                </a:solidFill>
                <a:sym typeface="+mn-ea"/>
              </a:rPr>
              <a:t>    - lapor dokter Anastesi</a:t>
            </a:r>
            <a:endParaRPr lang="en-US" dirty="0">
              <a:solidFill>
                <a:schemeClr val="tx1"/>
              </a:solidFill>
              <a:sym typeface="+mn-ea"/>
            </a:endParaRPr>
          </a:p>
          <a:p>
            <a:pPr marL="0" indent="0">
              <a:buNone/>
            </a:pPr>
            <a:endParaRPr lang="en-US" dirty="0">
              <a:solidFill>
                <a:schemeClr val="tx1"/>
              </a:solidFill>
              <a:sym typeface="+mn-ea"/>
            </a:endParaRPr>
          </a:p>
          <a:p>
            <a:pPr marL="0" indent="0">
              <a:buNone/>
            </a:pPr>
            <a:endParaRPr lang="en-US" dirty="0">
              <a:solidFill>
                <a:schemeClr val="tx1"/>
              </a:solidFill>
              <a:sym typeface="+mn-ea"/>
            </a:endParaRPr>
          </a:p>
          <a:p>
            <a:pPr marL="0" indent="0">
              <a:buNone/>
            </a:pPr>
            <a:endParaRPr lang="en-US" dirty="0">
              <a:solidFill>
                <a:schemeClr val="tx1"/>
              </a:solidFill>
            </a:endParaRPr>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7545" y="532765"/>
            <a:ext cx="8596630" cy="5508625"/>
          </a:xfrm>
        </p:spPr>
        <p:txBody>
          <a:bodyPr/>
          <a:p>
            <a:pPr marL="0" indent="0">
              <a:buNone/>
            </a:pPr>
            <a:r>
              <a:rPr lang="en-US" b="1">
                <a:solidFill>
                  <a:schemeClr val="tx1"/>
                </a:solidFill>
              </a:rPr>
              <a:t>jam 16.00</a:t>
            </a:r>
            <a:endParaRPr lang="en-US" b="1">
              <a:solidFill>
                <a:schemeClr val="tx1"/>
              </a:solidFill>
            </a:endParaRPr>
          </a:p>
          <a:p>
            <a:pPr marL="0" indent="0">
              <a:buNone/>
            </a:pPr>
            <a:r>
              <a:rPr lang="en-US"/>
              <a:t>- Infus doubel line</a:t>
            </a:r>
            <a:endParaRPr lang="en-US"/>
          </a:p>
          <a:p>
            <a:pPr marL="0" indent="0">
              <a:buNone/>
            </a:pPr>
            <a:r>
              <a:rPr lang="en-US"/>
              <a:t>terapi selanjutnya dilakukan oleh dr Anastesi dan perawat anastesi untuk pemasangan cva , pemasangan mayo , di berikan injeksi ephineprin 1 amp</a:t>
            </a:r>
            <a:endParaRPr lang="en-US"/>
          </a:p>
          <a:p>
            <a:pPr marL="0" indent="0">
              <a:buNone/>
            </a:pPr>
            <a:r>
              <a:rPr lang="en-US"/>
              <a:t>-di lakukan RJP 2 siklus , respon (+)</a:t>
            </a:r>
            <a:endParaRPr lang="en-US"/>
          </a:p>
          <a:p>
            <a:pPr marL="0" indent="0">
              <a:buNone/>
            </a:pPr>
            <a:r>
              <a:rPr lang="en-US"/>
              <a:t>pengambilan DL</a:t>
            </a:r>
            <a:endParaRPr lang="en-US"/>
          </a:p>
          <a:p>
            <a:pPr marL="0" indent="0">
              <a:buNone/>
            </a:pPr>
            <a:r>
              <a:rPr lang="en-US" b="1">
                <a:solidFill>
                  <a:schemeClr val="tx1"/>
                </a:solidFill>
              </a:rPr>
              <a:t>jam 17.55 px pindah ICU</a:t>
            </a:r>
            <a:endParaRPr lang="en-US" b="1">
              <a:solidFill>
                <a:schemeClr val="tx1"/>
              </a:solidFill>
            </a:endParaRPr>
          </a:p>
          <a:p>
            <a:pPr marL="0" indent="0">
              <a:buNone/>
            </a:pPr>
            <a:r>
              <a:rPr lang="en-US"/>
              <a:t>tx Inf widahes</a:t>
            </a:r>
            <a:endParaRPr lang="en-US"/>
          </a:p>
          <a:p>
            <a:pPr marL="0" indent="0">
              <a:buNone/>
            </a:pPr>
            <a:r>
              <a:rPr lang="en-US"/>
              <a:t>inj ketorolac 3x1</a:t>
            </a:r>
            <a:endParaRPr lang="en-US"/>
          </a:p>
          <a:p>
            <a:pPr marL="0" indent="0">
              <a:buNone/>
            </a:pPr>
            <a:r>
              <a:rPr lang="en-US"/>
              <a:t>inj asam tranex 3x500</a:t>
            </a:r>
            <a:endParaRPr lang="en-US"/>
          </a:p>
          <a:p>
            <a:pPr marL="0" indent="0">
              <a:buNone/>
            </a:pPr>
            <a:r>
              <a:rPr lang="en-US"/>
              <a:t>tranfusi PRC 2 labu</a:t>
            </a:r>
            <a:endParaRPr lang="en-US"/>
          </a:p>
          <a:p>
            <a:pPr marL="0" indent="0">
              <a:buNone/>
            </a:pPr>
            <a:r>
              <a:rPr lang="en-US"/>
              <a:t>injekasi cefotaxime 3x1 gr</a:t>
            </a:r>
            <a:endParaRPr lang="en-US"/>
          </a:p>
          <a:p>
            <a:pPr marL="0" indent="0">
              <a:buNone/>
            </a:pPr>
            <a:r>
              <a:rPr lang="en-US"/>
              <a:t>terpasang ventilator</a:t>
            </a:r>
            <a:endParaRPr lang="en-US"/>
          </a:p>
          <a:p>
            <a:pPr marL="0" indent="0">
              <a:buNone/>
            </a:pPr>
            <a:endParaRPr lang="en-US"/>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3022</Words>
  <Application>WPS Slides</Application>
  <PresentationFormat>Widescreen</PresentationFormat>
  <Paragraphs>105</Paragraphs>
  <Slides>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vt:i4>
      </vt:variant>
    </vt:vector>
  </HeadingPairs>
  <TitlesOfParts>
    <vt:vector size="19" baseType="lpstr">
      <vt:lpstr>Arial</vt:lpstr>
      <vt:lpstr>SimSun</vt:lpstr>
      <vt:lpstr>Wingdings</vt:lpstr>
      <vt:lpstr>Wingdings 3</vt:lpstr>
      <vt:lpstr>Arial</vt:lpstr>
      <vt:lpstr>Arial Black</vt:lpstr>
      <vt:lpstr>Microsoft YaHei</vt:lpstr>
      <vt:lpstr>Arial Unicode MS</vt:lpstr>
      <vt:lpstr>Trebuchet MS</vt:lpstr>
      <vt:lpstr>Calibri</vt:lpstr>
      <vt:lpstr>Facet</vt:lpstr>
      <vt:lpstr>AUDIT PASIEN KAMAR BERSALIN</vt:lpstr>
      <vt:lpstr>PowerPoint 演示文稿</vt:lpstr>
      <vt:lpstr>PowerPoint 演示文稿</vt:lpstr>
      <vt:lpstr>PowerPoint 演示文稿</vt:lpstr>
      <vt:lpstr>Tgl : 20-06-2023 Jam : 10.30</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PASIEN KAMAR BERSALIN</dc:title>
  <dc:creator>USER</dc:creator>
  <cp:lastModifiedBy>USER</cp:lastModifiedBy>
  <cp:revision>6</cp:revision>
  <dcterms:created xsi:type="dcterms:W3CDTF">2023-06-20T04:33:00Z</dcterms:created>
  <dcterms:modified xsi:type="dcterms:W3CDTF">2025-04-13T11:00:44Z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7C39E48473D34146B3D74700709A5757_12</vt:lpwstr>
  </property>
  <property fmtid="{D5CDD505-2E9C-101B-9397-08002B2CF9AE}" pid="3" name="KSOProductBuildVer">
    <vt:lpwstr>1033-12.2.0.20795</vt:lpwstr>
  </property>
</Properties>
</file>
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45"/>
  </p:handoutMasterIdLst>
  <p:sldIdLst>
    <p:sldId id="407" r:id="rId3"/>
    <p:sldId id="408" r:id="rId4"/>
    <p:sldId id="404" r:id="rId5"/>
    <p:sldId id="411" r:id="rId6"/>
    <p:sldId id="412" r:id="rId7"/>
    <p:sldId id="413" r:id="rId8"/>
    <p:sldId id="317" r:id="rId9"/>
    <p:sldId id="257" r:id="rId10"/>
    <p:sldId id="258" r:id="rId11"/>
    <p:sldId id="315" r:id="rId12"/>
    <p:sldId id="362" r:id="rId13"/>
    <p:sldId id="321" r:id="rId14"/>
    <p:sldId id="322" r:id="rId15"/>
    <p:sldId id="323" r:id="rId16"/>
    <p:sldId id="324" r:id="rId17"/>
    <p:sldId id="325" r:id="rId18"/>
    <p:sldId id="326" r:id="rId19"/>
    <p:sldId id="376" r:id="rId20"/>
    <p:sldId id="390" r:id="rId21"/>
    <p:sldId id="363" r:id="rId22"/>
    <p:sldId id="378" r:id="rId24"/>
    <p:sldId id="391" r:id="rId25"/>
    <p:sldId id="392" r:id="rId26"/>
    <p:sldId id="377" r:id="rId27"/>
    <p:sldId id="395" r:id="rId28"/>
    <p:sldId id="397" r:id="rId29"/>
    <p:sldId id="398" r:id="rId30"/>
    <p:sldId id="399" r:id="rId31"/>
    <p:sldId id="400" r:id="rId32"/>
    <p:sldId id="401" r:id="rId33"/>
    <p:sldId id="402" r:id="rId34"/>
    <p:sldId id="388" r:id="rId35"/>
    <p:sldId id="389" r:id="rId36"/>
    <p:sldId id="416" r:id="rId37"/>
    <p:sldId id="417" r:id="rId38"/>
    <p:sldId id="418" r:id="rId39"/>
    <p:sldId id="419" r:id="rId40"/>
    <p:sldId id="420" r:id="rId41"/>
    <p:sldId id="421" r:id="rId42"/>
    <p:sldId id="422" r:id="rId43"/>
    <p:sldId id="424" r:id="rId44"/>
  </p:sldIdLst>
  <p:sldSz cx="9144000" cy="6858000" type="screen4x3"/>
  <p:notesSz cx="6858000" cy="994537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26" autoAdjust="0"/>
    <p:restoredTop sz="94660"/>
  </p:normalViewPr>
  <p:slideViewPr>
    <p:cSldViewPr snapToGrid="0" showGuides="1">
      <p:cViewPr varScale="1">
        <p:scale>
          <a:sx n="85" d="100"/>
          <a:sy n="85" d="100"/>
        </p:scale>
        <p:origin x="1373" y="4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handoutMaster" Target="handoutMasters/handoutMaster1.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71800" cy="497285"/>
          </a:xfrm>
          <a:prstGeom prst="rect">
            <a:avLst/>
          </a:prstGeom>
        </p:spPr>
        <p:txBody>
          <a:bodyPr vert="horz" lIns="91705" tIns="45853" rIns="91705" bIns="45853" rtlCol="0"/>
          <a:lstStyle>
            <a:lvl1pPr algn="l">
              <a:defRPr sz="1200"/>
            </a:lvl1pPr>
          </a:lstStyle>
          <a:p>
            <a:endParaRPr lang="en-US"/>
          </a:p>
        </p:txBody>
      </p:sp>
      <p:sp>
        <p:nvSpPr>
          <p:cNvPr id="3" name="Date Placeholder 2"/>
          <p:cNvSpPr>
            <a:spLocks noGrp="1"/>
          </p:cNvSpPr>
          <p:nvPr>
            <p:ph type="dt" sz="quarter" idx="1"/>
          </p:nvPr>
        </p:nvSpPr>
        <p:spPr>
          <a:xfrm>
            <a:off x="3884614" y="0"/>
            <a:ext cx="2971800" cy="497285"/>
          </a:xfrm>
          <a:prstGeom prst="rect">
            <a:avLst/>
          </a:prstGeom>
        </p:spPr>
        <p:txBody>
          <a:bodyPr vert="horz" lIns="91705" tIns="45853" rIns="91705" bIns="45853" rtlCol="0"/>
          <a:lstStyle>
            <a:lvl1pPr algn="r">
              <a:defRPr sz="1200"/>
            </a:lvl1pPr>
          </a:lstStyle>
          <a:p>
            <a:fld id="{E22E95CF-FCCB-448A-AF32-122D53B915E6}" type="datetimeFigureOut">
              <a:rPr lang="en-US" smtClean="0"/>
            </a:fld>
            <a:endParaRPr lang="en-US"/>
          </a:p>
        </p:txBody>
      </p:sp>
      <p:sp>
        <p:nvSpPr>
          <p:cNvPr id="4" name="Footer Placeholder 3"/>
          <p:cNvSpPr>
            <a:spLocks noGrp="1"/>
          </p:cNvSpPr>
          <p:nvPr>
            <p:ph type="ftr" sz="quarter" idx="2"/>
          </p:nvPr>
        </p:nvSpPr>
        <p:spPr>
          <a:xfrm>
            <a:off x="1" y="9446678"/>
            <a:ext cx="2971800" cy="497285"/>
          </a:xfrm>
          <a:prstGeom prst="rect">
            <a:avLst/>
          </a:prstGeom>
        </p:spPr>
        <p:txBody>
          <a:bodyPr vert="horz" lIns="91705" tIns="45853" rIns="91705" bIns="45853" rtlCol="0" anchor="b"/>
          <a:lstStyle>
            <a:lvl1pPr algn="l">
              <a:defRPr sz="1200"/>
            </a:lvl1pPr>
          </a:lstStyle>
          <a:p>
            <a:endParaRPr lang="en-US"/>
          </a:p>
        </p:txBody>
      </p:sp>
      <p:sp>
        <p:nvSpPr>
          <p:cNvPr id="5" name="Slide Number Placeholder 4"/>
          <p:cNvSpPr>
            <a:spLocks noGrp="1"/>
          </p:cNvSpPr>
          <p:nvPr>
            <p:ph type="sldNum" sz="quarter" idx="3"/>
          </p:nvPr>
        </p:nvSpPr>
        <p:spPr>
          <a:xfrm>
            <a:off x="3884614" y="9446678"/>
            <a:ext cx="2971800" cy="497285"/>
          </a:xfrm>
          <a:prstGeom prst="rect">
            <a:avLst/>
          </a:prstGeom>
        </p:spPr>
        <p:txBody>
          <a:bodyPr vert="horz" lIns="91705" tIns="45853" rIns="91705" bIns="45853" rtlCol="0" anchor="b"/>
          <a:lstStyle>
            <a:lvl1pPr algn="r">
              <a:defRPr sz="1200"/>
            </a:lvl1pPr>
          </a:lstStyle>
          <a:p>
            <a:fld id="{BF047B17-96EF-4DA1-A1C4-AA66BE789F6E}"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71800" cy="497285"/>
          </a:xfrm>
          <a:prstGeom prst="rect">
            <a:avLst/>
          </a:prstGeom>
        </p:spPr>
        <p:txBody>
          <a:bodyPr vert="horz" lIns="91705" tIns="45853" rIns="91705" bIns="45853" rtlCol="0"/>
          <a:lstStyle>
            <a:lvl1pPr algn="l">
              <a:defRPr sz="1200"/>
            </a:lvl1pPr>
          </a:lstStyle>
          <a:p>
            <a:endParaRPr lang="en-US"/>
          </a:p>
        </p:txBody>
      </p:sp>
      <p:sp>
        <p:nvSpPr>
          <p:cNvPr id="3" name="Date Placeholder 2"/>
          <p:cNvSpPr>
            <a:spLocks noGrp="1"/>
          </p:cNvSpPr>
          <p:nvPr>
            <p:ph type="dt" idx="1"/>
          </p:nvPr>
        </p:nvSpPr>
        <p:spPr>
          <a:xfrm>
            <a:off x="3884614" y="0"/>
            <a:ext cx="2971800" cy="497285"/>
          </a:xfrm>
          <a:prstGeom prst="rect">
            <a:avLst/>
          </a:prstGeom>
        </p:spPr>
        <p:txBody>
          <a:bodyPr vert="horz" lIns="91705" tIns="45853" rIns="91705" bIns="45853" rtlCol="0"/>
          <a:lstStyle>
            <a:lvl1pPr algn="r">
              <a:defRPr sz="1200"/>
            </a:lvl1pPr>
          </a:lstStyle>
          <a:p>
            <a:fld id="{C351A20B-CD04-4162-914A-F48F12F1E5D9}" type="datetimeFigureOut">
              <a:rPr lang="en-US" smtClean="0"/>
            </a:fld>
            <a:endParaRPr lang="en-US"/>
          </a:p>
        </p:txBody>
      </p:sp>
      <p:sp>
        <p:nvSpPr>
          <p:cNvPr id="4" name="Slide Image Placeholder 3"/>
          <p:cNvSpPr>
            <a:spLocks noGrp="1" noRot="1" noChangeAspect="1"/>
          </p:cNvSpPr>
          <p:nvPr>
            <p:ph type="sldImg" idx="2"/>
          </p:nvPr>
        </p:nvSpPr>
        <p:spPr>
          <a:xfrm>
            <a:off x="942975" y="746125"/>
            <a:ext cx="4972050" cy="3729038"/>
          </a:xfrm>
          <a:prstGeom prst="rect">
            <a:avLst/>
          </a:prstGeom>
          <a:noFill/>
          <a:ln w="12700">
            <a:solidFill>
              <a:prstClr val="black"/>
            </a:solidFill>
          </a:ln>
        </p:spPr>
        <p:txBody>
          <a:bodyPr vert="horz" lIns="91705" tIns="45853" rIns="91705" bIns="45853" rtlCol="0" anchor="ctr"/>
          <a:lstStyle/>
          <a:p>
            <a:endParaRPr lang="en-US"/>
          </a:p>
        </p:txBody>
      </p:sp>
      <p:sp>
        <p:nvSpPr>
          <p:cNvPr id="5" name="Notes Placeholder 4"/>
          <p:cNvSpPr>
            <a:spLocks noGrp="1"/>
          </p:cNvSpPr>
          <p:nvPr>
            <p:ph type="body" sz="quarter" idx="3"/>
          </p:nvPr>
        </p:nvSpPr>
        <p:spPr>
          <a:xfrm>
            <a:off x="685801" y="4724203"/>
            <a:ext cx="5486400" cy="4475560"/>
          </a:xfrm>
          <a:prstGeom prst="rect">
            <a:avLst/>
          </a:prstGeom>
        </p:spPr>
        <p:txBody>
          <a:bodyPr vert="horz" lIns="91705" tIns="45853" rIns="91705" bIns="45853"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1" y="9446678"/>
            <a:ext cx="2971800" cy="497285"/>
          </a:xfrm>
          <a:prstGeom prst="rect">
            <a:avLst/>
          </a:prstGeom>
        </p:spPr>
        <p:txBody>
          <a:bodyPr vert="horz" lIns="91705" tIns="45853" rIns="91705" bIns="45853" rtlCol="0" anchor="b"/>
          <a:lstStyle>
            <a:lvl1pPr algn="l">
              <a:defRPr sz="1200"/>
            </a:lvl1pPr>
          </a:lstStyle>
          <a:p>
            <a:endParaRPr lang="en-US"/>
          </a:p>
        </p:txBody>
      </p:sp>
      <p:sp>
        <p:nvSpPr>
          <p:cNvPr id="7" name="Slide Number Placeholder 6"/>
          <p:cNvSpPr>
            <a:spLocks noGrp="1"/>
          </p:cNvSpPr>
          <p:nvPr>
            <p:ph type="sldNum" sz="quarter" idx="5"/>
          </p:nvPr>
        </p:nvSpPr>
        <p:spPr>
          <a:xfrm>
            <a:off x="3884614" y="9446678"/>
            <a:ext cx="2971800" cy="497285"/>
          </a:xfrm>
          <a:prstGeom prst="rect">
            <a:avLst/>
          </a:prstGeom>
        </p:spPr>
        <p:txBody>
          <a:bodyPr vert="horz" lIns="91705" tIns="45853" rIns="91705" bIns="45853" rtlCol="0" anchor="b"/>
          <a:lstStyle>
            <a:lvl1pPr algn="r">
              <a:defRPr sz="1200"/>
            </a:lvl1pPr>
          </a:lstStyle>
          <a:p>
            <a:fld id="{03CF239C-AD7A-4789-B131-C69597EF4B1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03CF239C-AD7A-4789-B131-C69597EF4B19}"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solidFill>
          </a:ln>
        </p:spPr>
      </p:sp>
      <p:sp>
        <p:nvSpPr>
          <p:cNvPr id="25603" name="Notes Placeholder 2"/>
          <p:cNvSpPr>
            <a:spLocks noGrp="1"/>
          </p:cNvSpPr>
          <p:nvPr>
            <p:ph type="body" idx="1"/>
          </p:nvPr>
        </p:nvSpPr>
        <p:spPr bwMode="auto">
          <a:xfrm>
            <a:off x="683111" y="4892646"/>
            <a:ext cx="5464884" cy="4635139"/>
          </a:xfrm>
          <a:prstGeom prst="rect">
            <a:avLst/>
          </a:prstGeom>
          <a:noFill/>
          <a:ln>
            <a:miter lim="800000"/>
          </a:ln>
        </p:spPr>
        <p:txBody>
          <a:bodyPr/>
          <a:lstStyle/>
          <a:p>
            <a:pPr eaLnBrk="1" hangingPunct="1"/>
            <a:endParaRPr lang="id-ID" altLang="en-US"/>
          </a:p>
        </p:txBody>
      </p:sp>
      <p:sp>
        <p:nvSpPr>
          <p:cNvPr id="25604" name="Slide Number Placeholder 3"/>
          <p:cNvSpPr>
            <a:spLocks noGrp="1"/>
          </p:cNvSpPr>
          <p:nvPr>
            <p:ph type="sldNum" sz="quarter" idx="5"/>
          </p:nvPr>
        </p:nvSpPr>
        <p:spPr>
          <a:noFill/>
        </p:spPr>
        <p:txBody>
          <a:bodyPr/>
          <a:lstStyle/>
          <a:p>
            <a:fld id="{760B35B3-4037-4944-830D-89A1DF7E677C}" type="slidenum">
              <a:rPr lang="id-ID" altLang="en-US" smtClean="0"/>
            </a:fld>
            <a:endParaRPr lang="id-ID"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solidFill>
          </a:ln>
        </p:spPr>
      </p:sp>
      <p:sp>
        <p:nvSpPr>
          <p:cNvPr id="25603" name="Notes Placeholder 2"/>
          <p:cNvSpPr>
            <a:spLocks noGrp="1"/>
          </p:cNvSpPr>
          <p:nvPr>
            <p:ph type="body" idx="1"/>
          </p:nvPr>
        </p:nvSpPr>
        <p:spPr bwMode="auto">
          <a:xfrm>
            <a:off x="683111" y="4892646"/>
            <a:ext cx="5464884" cy="4635139"/>
          </a:xfrm>
          <a:prstGeom prst="rect">
            <a:avLst/>
          </a:prstGeom>
          <a:noFill/>
          <a:ln>
            <a:miter lim="800000"/>
          </a:ln>
        </p:spPr>
        <p:txBody>
          <a:bodyPr/>
          <a:lstStyle/>
          <a:p>
            <a:pPr eaLnBrk="1" hangingPunct="1"/>
            <a:endParaRPr lang="id-ID" altLang="en-US"/>
          </a:p>
        </p:txBody>
      </p:sp>
      <p:sp>
        <p:nvSpPr>
          <p:cNvPr id="25604" name="Slide Number Placeholder 3"/>
          <p:cNvSpPr>
            <a:spLocks noGrp="1"/>
          </p:cNvSpPr>
          <p:nvPr>
            <p:ph type="sldNum" sz="quarter" idx="5"/>
          </p:nvPr>
        </p:nvSpPr>
        <p:spPr>
          <a:noFill/>
        </p:spPr>
        <p:txBody>
          <a:bodyPr/>
          <a:lstStyle/>
          <a:p>
            <a:fld id="{760B35B3-4037-4944-830D-89A1DF7E677C}" type="slidenum">
              <a:rPr lang="id-ID" altLang="en-US" smtClean="0"/>
            </a:fld>
            <a:endParaRPr lang="id-ID"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solidFill>
          </a:ln>
        </p:spPr>
      </p:sp>
      <p:sp>
        <p:nvSpPr>
          <p:cNvPr id="25603" name="Notes Placeholder 2"/>
          <p:cNvSpPr>
            <a:spLocks noGrp="1"/>
          </p:cNvSpPr>
          <p:nvPr>
            <p:ph type="body" idx="1"/>
          </p:nvPr>
        </p:nvSpPr>
        <p:spPr bwMode="auto">
          <a:xfrm>
            <a:off x="683111" y="4892646"/>
            <a:ext cx="5464884" cy="4635139"/>
          </a:xfrm>
          <a:prstGeom prst="rect">
            <a:avLst/>
          </a:prstGeom>
          <a:noFill/>
          <a:ln>
            <a:miter lim="800000"/>
          </a:ln>
        </p:spPr>
        <p:txBody>
          <a:bodyPr/>
          <a:lstStyle/>
          <a:p>
            <a:pPr eaLnBrk="1" hangingPunct="1"/>
            <a:endParaRPr lang="id-ID" altLang="en-US"/>
          </a:p>
        </p:txBody>
      </p:sp>
      <p:sp>
        <p:nvSpPr>
          <p:cNvPr id="25604" name="Slide Number Placeholder 3"/>
          <p:cNvSpPr>
            <a:spLocks noGrp="1"/>
          </p:cNvSpPr>
          <p:nvPr>
            <p:ph type="sldNum" sz="quarter" idx="5"/>
          </p:nvPr>
        </p:nvSpPr>
        <p:spPr>
          <a:noFill/>
        </p:spPr>
        <p:txBody>
          <a:bodyPr/>
          <a:lstStyle/>
          <a:p>
            <a:fld id="{760B35B3-4037-4944-830D-89A1DF7E677C}" type="slidenum">
              <a:rPr lang="id-ID" altLang="en-US" smtClean="0"/>
            </a:fld>
            <a:endParaRPr lang="id-ID"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solidFill>
          </a:ln>
        </p:spPr>
      </p:sp>
      <p:sp>
        <p:nvSpPr>
          <p:cNvPr id="25603" name="Notes Placeholder 2"/>
          <p:cNvSpPr>
            <a:spLocks noGrp="1"/>
          </p:cNvSpPr>
          <p:nvPr>
            <p:ph type="body" idx="1"/>
          </p:nvPr>
        </p:nvSpPr>
        <p:spPr bwMode="auto">
          <a:xfrm>
            <a:off x="683111" y="4892646"/>
            <a:ext cx="5464884" cy="4635139"/>
          </a:xfrm>
          <a:prstGeom prst="rect">
            <a:avLst/>
          </a:prstGeom>
          <a:noFill/>
          <a:ln>
            <a:miter lim="800000"/>
          </a:ln>
        </p:spPr>
        <p:txBody>
          <a:bodyPr/>
          <a:lstStyle/>
          <a:p>
            <a:pPr eaLnBrk="1" hangingPunct="1"/>
            <a:endParaRPr lang="id-ID" altLang="en-US"/>
          </a:p>
        </p:txBody>
      </p:sp>
      <p:sp>
        <p:nvSpPr>
          <p:cNvPr id="25604" name="Slide Number Placeholder 3"/>
          <p:cNvSpPr>
            <a:spLocks noGrp="1"/>
          </p:cNvSpPr>
          <p:nvPr>
            <p:ph type="sldNum" sz="quarter" idx="5"/>
          </p:nvPr>
        </p:nvSpPr>
        <p:spPr>
          <a:noFill/>
        </p:spPr>
        <p:txBody>
          <a:bodyPr/>
          <a:lstStyle/>
          <a:p>
            <a:fld id="{760B35B3-4037-4944-830D-89A1DF7E677C}" type="slidenum">
              <a:rPr lang="id-ID" altLang="en-US" smtClean="0"/>
            </a:fld>
            <a:endParaRPr lang="id-ID"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solidFill>
          </a:ln>
        </p:spPr>
      </p:sp>
      <p:sp>
        <p:nvSpPr>
          <p:cNvPr id="25603" name="Notes Placeholder 2"/>
          <p:cNvSpPr>
            <a:spLocks noGrp="1"/>
          </p:cNvSpPr>
          <p:nvPr>
            <p:ph type="body" idx="1"/>
          </p:nvPr>
        </p:nvSpPr>
        <p:spPr bwMode="auto">
          <a:xfrm>
            <a:off x="683111" y="4892646"/>
            <a:ext cx="5464884" cy="4635139"/>
          </a:xfrm>
          <a:prstGeom prst="rect">
            <a:avLst/>
          </a:prstGeom>
          <a:noFill/>
          <a:ln>
            <a:miter lim="800000"/>
          </a:ln>
        </p:spPr>
        <p:txBody>
          <a:bodyPr/>
          <a:lstStyle/>
          <a:p>
            <a:pPr eaLnBrk="1" hangingPunct="1"/>
            <a:endParaRPr lang="id-ID" altLang="en-US"/>
          </a:p>
        </p:txBody>
      </p:sp>
      <p:sp>
        <p:nvSpPr>
          <p:cNvPr id="25604" name="Slide Number Placeholder 3"/>
          <p:cNvSpPr>
            <a:spLocks noGrp="1"/>
          </p:cNvSpPr>
          <p:nvPr>
            <p:ph type="sldNum" sz="quarter" idx="5"/>
          </p:nvPr>
        </p:nvSpPr>
        <p:spPr>
          <a:noFill/>
        </p:spPr>
        <p:txBody>
          <a:bodyPr/>
          <a:lstStyle/>
          <a:p>
            <a:fld id="{760B35B3-4037-4944-830D-89A1DF7E677C}" type="slidenum">
              <a:rPr lang="id-ID" altLang="en-US" smtClean="0"/>
            </a:fld>
            <a:endParaRPr lang="id-ID"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solidFill>
          </a:ln>
        </p:spPr>
      </p:sp>
      <p:sp>
        <p:nvSpPr>
          <p:cNvPr id="25603" name="Notes Placeholder 2"/>
          <p:cNvSpPr>
            <a:spLocks noGrp="1"/>
          </p:cNvSpPr>
          <p:nvPr>
            <p:ph type="body" idx="1"/>
          </p:nvPr>
        </p:nvSpPr>
        <p:spPr bwMode="auto">
          <a:xfrm>
            <a:off x="683111" y="4892646"/>
            <a:ext cx="5464884" cy="4635139"/>
          </a:xfrm>
          <a:prstGeom prst="rect">
            <a:avLst/>
          </a:prstGeom>
          <a:noFill/>
          <a:ln>
            <a:miter lim="800000"/>
          </a:ln>
        </p:spPr>
        <p:txBody>
          <a:bodyPr/>
          <a:lstStyle/>
          <a:p>
            <a:pPr eaLnBrk="1" hangingPunct="1"/>
            <a:endParaRPr lang="id-ID" altLang="en-US"/>
          </a:p>
        </p:txBody>
      </p:sp>
      <p:sp>
        <p:nvSpPr>
          <p:cNvPr id="25604" name="Slide Number Placeholder 3"/>
          <p:cNvSpPr>
            <a:spLocks noGrp="1"/>
          </p:cNvSpPr>
          <p:nvPr>
            <p:ph type="sldNum" sz="quarter" idx="5"/>
          </p:nvPr>
        </p:nvSpPr>
        <p:spPr>
          <a:noFill/>
        </p:spPr>
        <p:txBody>
          <a:bodyPr/>
          <a:lstStyle/>
          <a:p>
            <a:fld id="{760B35B3-4037-4944-830D-89A1DF7E677C}" type="slidenum">
              <a:rPr lang="id-ID" altLang="en-US" smtClean="0"/>
            </a:fld>
            <a:endParaRPr lang="id-ID"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solidFill>
          </a:ln>
        </p:spPr>
      </p:sp>
      <p:sp>
        <p:nvSpPr>
          <p:cNvPr id="25603" name="Notes Placeholder 2"/>
          <p:cNvSpPr>
            <a:spLocks noGrp="1"/>
          </p:cNvSpPr>
          <p:nvPr>
            <p:ph type="body" idx="1"/>
          </p:nvPr>
        </p:nvSpPr>
        <p:spPr bwMode="auto">
          <a:xfrm>
            <a:off x="683111" y="4892646"/>
            <a:ext cx="5464884" cy="4635139"/>
          </a:xfrm>
          <a:prstGeom prst="rect">
            <a:avLst/>
          </a:prstGeom>
          <a:noFill/>
          <a:ln>
            <a:miter lim="800000"/>
          </a:ln>
        </p:spPr>
        <p:txBody>
          <a:bodyPr/>
          <a:lstStyle/>
          <a:p>
            <a:pPr eaLnBrk="1" hangingPunct="1"/>
            <a:endParaRPr lang="id-ID" altLang="en-US"/>
          </a:p>
        </p:txBody>
      </p:sp>
      <p:sp>
        <p:nvSpPr>
          <p:cNvPr id="25604" name="Slide Number Placeholder 3"/>
          <p:cNvSpPr>
            <a:spLocks noGrp="1"/>
          </p:cNvSpPr>
          <p:nvPr>
            <p:ph type="sldNum" sz="quarter" idx="5"/>
          </p:nvPr>
        </p:nvSpPr>
        <p:spPr>
          <a:noFill/>
        </p:spPr>
        <p:txBody>
          <a:bodyPr/>
          <a:lstStyle/>
          <a:p>
            <a:fld id="{760B35B3-4037-4944-830D-89A1DF7E677C}" type="slidenum">
              <a:rPr lang="id-ID" altLang="en-US" smtClean="0"/>
            </a:fld>
            <a:endParaRPr lang="id-ID"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solidFill>
          </a:ln>
        </p:spPr>
      </p:sp>
      <p:sp>
        <p:nvSpPr>
          <p:cNvPr id="25603" name="Notes Placeholder 2"/>
          <p:cNvSpPr>
            <a:spLocks noGrp="1"/>
          </p:cNvSpPr>
          <p:nvPr>
            <p:ph type="body" idx="1"/>
          </p:nvPr>
        </p:nvSpPr>
        <p:spPr bwMode="auto">
          <a:xfrm>
            <a:off x="683111" y="4892646"/>
            <a:ext cx="5464884" cy="4635139"/>
          </a:xfrm>
          <a:prstGeom prst="rect">
            <a:avLst/>
          </a:prstGeom>
          <a:noFill/>
          <a:ln>
            <a:miter lim="800000"/>
          </a:ln>
        </p:spPr>
        <p:txBody>
          <a:bodyPr/>
          <a:lstStyle/>
          <a:p>
            <a:pPr eaLnBrk="1" hangingPunct="1"/>
            <a:endParaRPr lang="id-ID" altLang="en-US"/>
          </a:p>
        </p:txBody>
      </p:sp>
      <p:sp>
        <p:nvSpPr>
          <p:cNvPr id="25604" name="Slide Number Placeholder 3"/>
          <p:cNvSpPr>
            <a:spLocks noGrp="1"/>
          </p:cNvSpPr>
          <p:nvPr>
            <p:ph type="sldNum" sz="quarter" idx="5"/>
          </p:nvPr>
        </p:nvSpPr>
        <p:spPr>
          <a:noFill/>
        </p:spPr>
        <p:txBody>
          <a:bodyPr/>
          <a:lstStyle/>
          <a:p>
            <a:fld id="{760B35B3-4037-4944-830D-89A1DF7E677C}" type="slidenum">
              <a:rPr lang="id-ID" altLang="en-US" smtClean="0"/>
            </a:fld>
            <a:endParaRPr lang="id-ID"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solidFill>
          </a:ln>
        </p:spPr>
      </p:sp>
      <p:sp>
        <p:nvSpPr>
          <p:cNvPr id="25603" name="Notes Placeholder 2"/>
          <p:cNvSpPr>
            <a:spLocks noGrp="1"/>
          </p:cNvSpPr>
          <p:nvPr>
            <p:ph type="body" idx="1"/>
          </p:nvPr>
        </p:nvSpPr>
        <p:spPr bwMode="auto">
          <a:xfrm>
            <a:off x="683111" y="4892646"/>
            <a:ext cx="5464884" cy="4635139"/>
          </a:xfrm>
          <a:prstGeom prst="rect">
            <a:avLst/>
          </a:prstGeom>
          <a:noFill/>
          <a:ln>
            <a:miter lim="800000"/>
          </a:ln>
        </p:spPr>
        <p:txBody>
          <a:bodyPr/>
          <a:lstStyle/>
          <a:p>
            <a:pPr eaLnBrk="1" hangingPunct="1"/>
            <a:endParaRPr lang="id-ID" altLang="en-US"/>
          </a:p>
        </p:txBody>
      </p:sp>
      <p:sp>
        <p:nvSpPr>
          <p:cNvPr id="25604" name="Slide Number Placeholder 3"/>
          <p:cNvSpPr>
            <a:spLocks noGrp="1"/>
          </p:cNvSpPr>
          <p:nvPr>
            <p:ph type="sldNum" sz="quarter" idx="5"/>
          </p:nvPr>
        </p:nvSpPr>
        <p:spPr>
          <a:noFill/>
        </p:spPr>
        <p:txBody>
          <a:bodyPr/>
          <a:lstStyle/>
          <a:p>
            <a:fld id="{760B35B3-4037-4944-830D-89A1DF7E677C}" type="slidenum">
              <a:rPr lang="id-ID" altLang="en-US" smtClean="0"/>
            </a:fld>
            <a:endParaRPr lang="id-ID"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solidFill>
          </a:ln>
        </p:spPr>
      </p:sp>
      <p:sp>
        <p:nvSpPr>
          <p:cNvPr id="25603" name="Notes Placeholder 2"/>
          <p:cNvSpPr>
            <a:spLocks noGrp="1"/>
          </p:cNvSpPr>
          <p:nvPr>
            <p:ph type="body" idx="1"/>
          </p:nvPr>
        </p:nvSpPr>
        <p:spPr bwMode="auto">
          <a:xfrm>
            <a:off x="683111" y="4892646"/>
            <a:ext cx="5464884" cy="4635139"/>
          </a:xfrm>
          <a:prstGeom prst="rect">
            <a:avLst/>
          </a:prstGeom>
          <a:noFill/>
          <a:ln>
            <a:miter lim="800000"/>
          </a:ln>
        </p:spPr>
        <p:txBody>
          <a:bodyPr/>
          <a:lstStyle/>
          <a:p>
            <a:pPr eaLnBrk="1" hangingPunct="1"/>
            <a:endParaRPr lang="id-ID" altLang="en-US"/>
          </a:p>
        </p:txBody>
      </p:sp>
      <p:sp>
        <p:nvSpPr>
          <p:cNvPr id="25604" name="Slide Number Placeholder 3"/>
          <p:cNvSpPr>
            <a:spLocks noGrp="1"/>
          </p:cNvSpPr>
          <p:nvPr>
            <p:ph type="sldNum" sz="quarter" idx="5"/>
          </p:nvPr>
        </p:nvSpPr>
        <p:spPr>
          <a:noFill/>
        </p:spPr>
        <p:txBody>
          <a:bodyPr/>
          <a:lstStyle/>
          <a:p>
            <a:fld id="{760B35B3-4037-4944-830D-89A1DF7E677C}" type="slidenum">
              <a:rPr lang="id-ID" altLang="en-US" smtClean="0"/>
            </a:fld>
            <a:endParaRPr lang="id-ID"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solidFill>
          </a:ln>
        </p:spPr>
      </p:sp>
      <p:sp>
        <p:nvSpPr>
          <p:cNvPr id="25603" name="Notes Placeholder 2"/>
          <p:cNvSpPr>
            <a:spLocks noGrp="1"/>
          </p:cNvSpPr>
          <p:nvPr>
            <p:ph type="body" idx="1"/>
          </p:nvPr>
        </p:nvSpPr>
        <p:spPr bwMode="auto">
          <a:xfrm>
            <a:off x="683111" y="4892646"/>
            <a:ext cx="5464884" cy="4635139"/>
          </a:xfrm>
          <a:prstGeom prst="rect">
            <a:avLst/>
          </a:prstGeom>
          <a:noFill/>
          <a:ln>
            <a:miter lim="800000"/>
          </a:ln>
        </p:spPr>
        <p:txBody>
          <a:bodyPr/>
          <a:lstStyle/>
          <a:p>
            <a:pPr eaLnBrk="1" hangingPunct="1"/>
            <a:endParaRPr lang="id-ID" altLang="en-US"/>
          </a:p>
        </p:txBody>
      </p:sp>
      <p:sp>
        <p:nvSpPr>
          <p:cNvPr id="25604" name="Slide Number Placeholder 3"/>
          <p:cNvSpPr>
            <a:spLocks noGrp="1"/>
          </p:cNvSpPr>
          <p:nvPr>
            <p:ph type="sldNum" sz="quarter" idx="5"/>
          </p:nvPr>
        </p:nvSpPr>
        <p:spPr>
          <a:noFill/>
        </p:spPr>
        <p:txBody>
          <a:bodyPr/>
          <a:lstStyle/>
          <a:p>
            <a:fld id="{760B35B3-4037-4944-830D-89A1DF7E677C}" type="slidenum">
              <a:rPr lang="id-ID" altLang="en-US" smtClean="0"/>
            </a:fld>
            <a:endParaRPr lang="id-ID"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A74457A-B619-4030-88A4-9A203A999B6B}" type="datetimeFigureOut">
              <a:rPr lang="en-US" smtClean="0"/>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B8706CAD-522E-4A19-A77D-A453EC556C46}" type="slidenum">
              <a:rPr lang="en-US" smtClean="0"/>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A74457A-B619-4030-88A4-9A203A999B6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06CAD-522E-4A19-A77D-A453EC556C46}" type="slidenum">
              <a:rPr lang="en-US" smtClean="0"/>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A74457A-B619-4030-88A4-9A203A999B6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06CAD-522E-4A19-A77D-A453EC556C46}" type="slidenum">
              <a:rPr lang="en-US" smtClean="0"/>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AA74457A-B619-4030-88A4-9A203A999B6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706CAD-522E-4A19-A77D-A453EC556C46}" type="slidenum">
              <a:rPr lang="en-US" smtClean="0"/>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AA74457A-B619-4030-88A4-9A203A999B6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706CAD-522E-4A19-A77D-A453EC556C46}"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74457A-B619-4030-88A4-9A203A999B6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706CAD-522E-4A19-A77D-A453EC556C4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74457A-B619-4030-88A4-9A203A999B6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706CAD-522E-4A19-A77D-A453EC556C4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A74457A-B619-4030-88A4-9A203A999B6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706CAD-522E-4A19-A77D-A453EC556C46}" type="slidenum">
              <a:rPr lang="en-US" smtClean="0"/>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endParaRPr lang="en-US"/>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AA74457A-B619-4030-88A4-9A203A999B6B}" type="datetimeFigureOut">
              <a:rPr lang="en-US" smtClean="0"/>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B8706CAD-522E-4A19-A77D-A453EC556C46}" type="slidenum">
              <a:rPr lang="en-US" smtClean="0"/>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A74457A-B619-4030-88A4-9A203A999B6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06CAD-522E-4A19-A77D-A453EC556C4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A74457A-B619-4030-88A4-9A203A999B6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06CAD-522E-4A19-A77D-A453EC556C46}" type="slidenum">
              <a:rPr lang="en-US" smtClean="0"/>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2">
            <a:extLst>
              <a:ext uri="{28A0092B-C50C-407E-A947-70E740481C1C}">
                <a14:useLocalDpi xmlns:a14="http://schemas.microsoft.com/office/drawing/2010/main" val="0"/>
              </a:ext>
            </a:extLst>
          </a:blip>
          <a:srcRect l="12500" t="1538" r="12500" b="-1538"/>
          <a:stretch>
            <a:fillRect/>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A74457A-B619-4030-88A4-9A203A999B6B}" type="datetimeFigureOut">
              <a:rPr lang="en-US" smtClean="0"/>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B8706CAD-522E-4A19-A77D-A453EC556C46}"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KAJIAN KASUS PASIEN MD DI UNIT PICU DENGAN DIAGNOSA</a:t>
            </a:r>
            <a:endParaRPr lang="en-ID" dirty="0"/>
          </a:p>
        </p:txBody>
      </p:sp>
      <p:sp>
        <p:nvSpPr>
          <p:cNvPr id="3" name="Content Placeholder 2"/>
          <p:cNvSpPr>
            <a:spLocks noGrp="1"/>
          </p:cNvSpPr>
          <p:nvPr>
            <p:ph idx="1"/>
          </p:nvPr>
        </p:nvSpPr>
        <p:spPr/>
        <p:txBody>
          <a:bodyPr/>
          <a:lstStyle/>
          <a:p>
            <a:endParaRPr lang="en-ID" dirty="0"/>
          </a:p>
        </p:txBody>
      </p:sp>
      <p:sp>
        <p:nvSpPr>
          <p:cNvPr id="4" name="Rectangle 3"/>
          <p:cNvSpPr/>
          <p:nvPr/>
        </p:nvSpPr>
        <p:spPr>
          <a:xfrm>
            <a:off x="1005840" y="2095500"/>
            <a:ext cx="7008994" cy="1562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dirty="0">
                <a:effectLst/>
                <a:latin typeface="Arial" panose="020B0604020202020204" pitchFamily="34" charset="0"/>
                <a:ea typeface="DengXian" panose="02010600030101010101" pitchFamily="2" charset="-122"/>
              </a:rPr>
              <a:t>DSS + </a:t>
            </a:r>
            <a:r>
              <a:rPr lang="en-US" sz="2000" b="1" i="1" dirty="0">
                <a:latin typeface="Arial" panose="020B0604020202020204" pitchFamily="34" charset="0"/>
                <a:ea typeface="DengXian" panose="02010600030101010101" pitchFamily="2" charset="-122"/>
              </a:rPr>
              <a:t>Overweight</a:t>
            </a:r>
            <a:r>
              <a:rPr lang="en-US" sz="2000" b="1" i="1" dirty="0">
                <a:effectLst/>
                <a:latin typeface="Arial" panose="020B0604020202020204" pitchFamily="34" charset="0"/>
                <a:ea typeface="DengXian" panose="02010600030101010101" pitchFamily="2" charset="-122"/>
              </a:rPr>
              <a:t>+ Enteritis </a:t>
            </a:r>
            <a:endParaRPr lang="en-US" sz="2000" b="1" i="1" dirty="0">
              <a:effectLst/>
              <a:latin typeface="Arial" panose="020B0604020202020204" pitchFamily="34" charset="0"/>
              <a:ea typeface="DengXian" panose="02010600030101010101" pitchFamily="2" charset="-122"/>
            </a:endParaRPr>
          </a:p>
          <a:p>
            <a:pPr algn="ctr"/>
            <a:r>
              <a:rPr lang="en-US" sz="2000" b="1" i="1" dirty="0">
                <a:latin typeface="Arial" panose="020B0604020202020204" pitchFamily="34" charset="0"/>
                <a:ea typeface="DengXian" panose="02010600030101010101" pitchFamily="2" charset="-122"/>
              </a:rPr>
              <a:t>+</a:t>
            </a:r>
            <a:r>
              <a:rPr lang="en-US" sz="2000" b="1" i="1" dirty="0">
                <a:effectLst/>
                <a:latin typeface="Arial" panose="020B0604020202020204" pitchFamily="34" charset="0"/>
                <a:ea typeface="DengXian" panose="02010600030101010101" pitchFamily="2" charset="-122"/>
              </a:rPr>
              <a:t> transaminitis + Azotemia + </a:t>
            </a:r>
            <a:r>
              <a:rPr lang="en-US" sz="2000" b="1" i="1" dirty="0">
                <a:latin typeface="Arial" panose="020B0604020202020204" pitchFamily="34" charset="0"/>
                <a:ea typeface="DengXian" panose="02010600030101010101" pitchFamily="2" charset="-122"/>
              </a:rPr>
              <a:t>Upper GI B</a:t>
            </a:r>
            <a:r>
              <a:rPr lang="en-US" sz="2000" b="1" i="1" dirty="0">
                <a:effectLst/>
                <a:latin typeface="Arial" panose="020B0604020202020204" pitchFamily="34" charset="0"/>
                <a:ea typeface="DengXian" panose="02010600030101010101" pitchFamily="2" charset="-122"/>
              </a:rPr>
              <a:t>leeding + Status </a:t>
            </a:r>
            <a:r>
              <a:rPr lang="en-US" sz="2000" b="1" i="1" dirty="0" err="1">
                <a:effectLst/>
                <a:latin typeface="Arial" panose="020B0604020202020204" pitchFamily="34" charset="0"/>
                <a:ea typeface="DengXian" panose="02010600030101010101" pitchFamily="2" charset="-122"/>
              </a:rPr>
              <a:t>Epileptikus</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O.k</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perdarahan</a:t>
            </a:r>
            <a:r>
              <a:rPr lang="en-US" sz="2000" b="1" i="1" dirty="0">
                <a:effectLst/>
                <a:latin typeface="Arial" panose="020B0604020202020204" pitchFamily="34" charset="0"/>
                <a:ea typeface="DengXian" panose="02010600030101010101" pitchFamily="2" charset="-122"/>
              </a:rPr>
              <a:t> dd </a:t>
            </a:r>
            <a:r>
              <a:rPr lang="en-US" sz="2000" b="1" i="1" dirty="0" err="1">
                <a:latin typeface="Arial" panose="020B0604020202020204" pitchFamily="34" charset="0"/>
                <a:ea typeface="DengXian" panose="02010600030101010101" pitchFamily="2" charset="-122"/>
              </a:rPr>
              <a:t>elektrolit</a:t>
            </a:r>
            <a:r>
              <a:rPr lang="en-US" sz="2000" b="1" i="1" dirty="0">
                <a:latin typeface="Arial" panose="020B0604020202020204" pitchFamily="34" charset="0"/>
                <a:ea typeface="DengXian" panose="02010600030101010101" pitchFamily="2" charset="-122"/>
              </a:rPr>
              <a:t> imbalance dd </a:t>
            </a:r>
            <a:r>
              <a:rPr lang="en-US" sz="2000" b="1" i="1" dirty="0" err="1">
                <a:latin typeface="Arial" panose="020B0604020202020204" pitchFamily="34" charset="0"/>
                <a:ea typeface="DengXian" panose="02010600030101010101" pitchFamily="2" charset="-122"/>
              </a:rPr>
              <a:t>ensefalitis</a:t>
            </a:r>
            <a:r>
              <a:rPr lang="en-US" sz="2000" b="1" i="1" dirty="0">
                <a:effectLst/>
                <a:latin typeface="Arial" panose="020B0604020202020204" pitchFamily="34" charset="0"/>
                <a:ea typeface="DengXian" panose="02010600030101010101" pitchFamily="2" charset="-122"/>
              </a:rPr>
              <a:t> + Hyponatremia </a:t>
            </a:r>
            <a:endParaRPr lang="en-ID" sz="2000" b="1"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271" y="781660"/>
            <a:ext cx="6571343" cy="1049235"/>
          </a:xfrm>
        </p:spPr>
        <p:txBody>
          <a:bodyPr/>
          <a:lstStyle/>
          <a:p>
            <a:pPr algn="ctr"/>
            <a:r>
              <a:rPr lang="en-US" dirty="0"/>
              <a:t>	</a:t>
            </a:r>
            <a:r>
              <a:rPr lang="en-US" sz="4000" dirty="0"/>
              <a:t>PENDAHULUAN</a:t>
            </a:r>
            <a:endParaRPr lang="en-ID" dirty="0"/>
          </a:p>
        </p:txBody>
      </p:sp>
      <p:sp>
        <p:nvSpPr>
          <p:cNvPr id="3" name="Content Placeholder 2"/>
          <p:cNvSpPr>
            <a:spLocks noGrp="1"/>
          </p:cNvSpPr>
          <p:nvPr>
            <p:ph idx="1"/>
          </p:nvPr>
        </p:nvSpPr>
        <p:spPr/>
        <p:txBody>
          <a:bodyPr/>
          <a:lstStyle/>
          <a:p>
            <a:r>
              <a:rPr lang="en-US" dirty="0" err="1"/>
              <a:t>Diagnosa</a:t>
            </a:r>
            <a:r>
              <a:rPr lang="en-US" dirty="0"/>
              <a:t> </a:t>
            </a:r>
            <a:r>
              <a:rPr lang="en-US" dirty="0" err="1"/>
              <a:t>awal</a:t>
            </a:r>
            <a:r>
              <a:rPr lang="en-US" dirty="0"/>
              <a:t> : </a:t>
            </a:r>
            <a:r>
              <a:rPr lang="en-US" sz="2000" b="1" i="1" dirty="0">
                <a:effectLst/>
                <a:latin typeface="Arial" panose="020B0604020202020204" pitchFamily="34" charset="0"/>
                <a:ea typeface="DengXian" panose="02010600030101010101" pitchFamily="2" charset="-122"/>
              </a:rPr>
              <a:t>DSS + </a:t>
            </a:r>
            <a:r>
              <a:rPr lang="en-US" sz="2000" b="1" i="1" dirty="0">
                <a:latin typeface="Arial" panose="020B0604020202020204" pitchFamily="34" charset="0"/>
                <a:ea typeface="DengXian" panose="02010600030101010101" pitchFamily="2" charset="-122"/>
              </a:rPr>
              <a:t>Overweight</a:t>
            </a:r>
            <a:r>
              <a:rPr lang="en-US" sz="2000" b="1" i="1" dirty="0">
                <a:effectLst/>
                <a:latin typeface="Arial" panose="020B0604020202020204" pitchFamily="34" charset="0"/>
                <a:ea typeface="DengXian" panose="02010600030101010101" pitchFamily="2" charset="-122"/>
              </a:rPr>
              <a:t>+ Enteritis </a:t>
            </a:r>
            <a:r>
              <a:rPr lang="en-US" sz="2000" b="1" i="1" dirty="0">
                <a:latin typeface="Arial" panose="020B0604020202020204" pitchFamily="34" charset="0"/>
                <a:ea typeface="DengXian" panose="02010600030101010101" pitchFamily="2" charset="-122"/>
              </a:rPr>
              <a:t>+</a:t>
            </a:r>
            <a:r>
              <a:rPr lang="en-US" sz="2000" b="1" i="1" dirty="0">
                <a:effectLst/>
                <a:latin typeface="Arial" panose="020B0604020202020204" pitchFamily="34" charset="0"/>
                <a:ea typeface="DengXian" panose="02010600030101010101" pitchFamily="2" charset="-122"/>
              </a:rPr>
              <a:t> transaminitis + Azotemia </a:t>
            </a:r>
            <a:endParaRPr lang="en-US" sz="2000" b="1" i="1" dirty="0">
              <a:effectLst/>
              <a:latin typeface="Arial" panose="020B0604020202020204" pitchFamily="34" charset="0"/>
              <a:ea typeface="DengXian" panose="02010600030101010101" pitchFamily="2" charset="-122"/>
            </a:endParaRPr>
          </a:p>
          <a:p>
            <a:r>
              <a:rPr lang="en-US" dirty="0" err="1"/>
              <a:t>Diagnosa</a:t>
            </a:r>
            <a:r>
              <a:rPr lang="en-US" dirty="0"/>
              <a:t> Akhir : </a:t>
            </a:r>
            <a:r>
              <a:rPr lang="en-US" sz="1800" b="1" i="1" dirty="0">
                <a:effectLst/>
                <a:latin typeface="Arial" panose="020B0604020202020204" pitchFamily="34" charset="0"/>
                <a:ea typeface="DengXian" panose="02010600030101010101" pitchFamily="2" charset="-122"/>
              </a:rPr>
              <a:t>DSS + </a:t>
            </a:r>
            <a:r>
              <a:rPr lang="en-US" sz="1800" b="1" i="1" dirty="0">
                <a:latin typeface="Arial" panose="020B0604020202020204" pitchFamily="34" charset="0"/>
                <a:ea typeface="DengXian" panose="02010600030101010101" pitchFamily="2" charset="-122"/>
              </a:rPr>
              <a:t>Overweight</a:t>
            </a:r>
            <a:r>
              <a:rPr lang="en-US" sz="1800" b="1" i="1" dirty="0">
                <a:effectLst/>
                <a:latin typeface="Arial" panose="020B0604020202020204" pitchFamily="34" charset="0"/>
                <a:ea typeface="DengXian" panose="02010600030101010101" pitchFamily="2" charset="-122"/>
              </a:rPr>
              <a:t>+ Enteritis </a:t>
            </a:r>
            <a:endParaRPr lang="en-US" sz="1800" b="1" i="1" dirty="0">
              <a:effectLst/>
              <a:latin typeface="Arial" panose="020B0604020202020204" pitchFamily="34" charset="0"/>
              <a:ea typeface="DengXian" panose="02010600030101010101" pitchFamily="2" charset="-122"/>
            </a:endParaRPr>
          </a:p>
          <a:p>
            <a:pPr algn="ctr"/>
            <a:r>
              <a:rPr lang="en-US" sz="1800" b="1" i="1" dirty="0">
                <a:latin typeface="Arial" panose="020B0604020202020204" pitchFamily="34" charset="0"/>
                <a:ea typeface="DengXian" panose="02010600030101010101" pitchFamily="2" charset="-122"/>
              </a:rPr>
              <a:t>+</a:t>
            </a:r>
            <a:r>
              <a:rPr lang="en-US" sz="1800" b="1" i="1" dirty="0">
                <a:effectLst/>
                <a:latin typeface="Arial" panose="020B0604020202020204" pitchFamily="34" charset="0"/>
                <a:ea typeface="DengXian" panose="02010600030101010101" pitchFamily="2" charset="-122"/>
              </a:rPr>
              <a:t> transaminitis + Azotemia + </a:t>
            </a:r>
            <a:r>
              <a:rPr lang="en-US" sz="1800" b="1" i="1" dirty="0">
                <a:latin typeface="Arial" panose="020B0604020202020204" pitchFamily="34" charset="0"/>
                <a:ea typeface="DengXian" panose="02010600030101010101" pitchFamily="2" charset="-122"/>
              </a:rPr>
              <a:t>Upper GI B</a:t>
            </a:r>
            <a:r>
              <a:rPr lang="en-US" sz="1800" b="1" i="1" dirty="0">
                <a:effectLst/>
                <a:latin typeface="Arial" panose="020B0604020202020204" pitchFamily="34" charset="0"/>
                <a:ea typeface="DengXian" panose="02010600030101010101" pitchFamily="2" charset="-122"/>
              </a:rPr>
              <a:t>leeding + Status </a:t>
            </a:r>
            <a:r>
              <a:rPr lang="en-US" sz="1800" b="1" i="1" dirty="0" err="1">
                <a:effectLst/>
                <a:latin typeface="Arial" panose="020B0604020202020204" pitchFamily="34" charset="0"/>
                <a:ea typeface="DengXian" panose="02010600030101010101" pitchFamily="2" charset="-122"/>
              </a:rPr>
              <a:t>Epileptikus</a:t>
            </a:r>
            <a:r>
              <a:rPr lang="en-US" sz="1800" b="1" i="1" dirty="0">
                <a:effectLst/>
                <a:latin typeface="Arial" panose="020B0604020202020204" pitchFamily="34" charset="0"/>
                <a:ea typeface="DengXian" panose="02010600030101010101" pitchFamily="2" charset="-122"/>
              </a:rPr>
              <a:t> </a:t>
            </a:r>
            <a:r>
              <a:rPr lang="en-US" sz="1800" b="1" i="1" dirty="0" err="1">
                <a:effectLst/>
                <a:latin typeface="Arial" panose="020B0604020202020204" pitchFamily="34" charset="0"/>
                <a:ea typeface="DengXian" panose="02010600030101010101" pitchFamily="2" charset="-122"/>
              </a:rPr>
              <a:t>O.k</a:t>
            </a:r>
            <a:r>
              <a:rPr lang="en-US" sz="1800" b="1" i="1" dirty="0">
                <a:effectLst/>
                <a:latin typeface="Arial" panose="020B0604020202020204" pitchFamily="34" charset="0"/>
                <a:ea typeface="DengXian" panose="02010600030101010101" pitchFamily="2" charset="-122"/>
              </a:rPr>
              <a:t> </a:t>
            </a:r>
            <a:r>
              <a:rPr lang="en-US" sz="1800" b="1" i="1" dirty="0" err="1">
                <a:effectLst/>
                <a:latin typeface="Arial" panose="020B0604020202020204" pitchFamily="34" charset="0"/>
                <a:ea typeface="DengXian" panose="02010600030101010101" pitchFamily="2" charset="-122"/>
              </a:rPr>
              <a:t>perdarahan</a:t>
            </a:r>
            <a:r>
              <a:rPr lang="en-US" sz="1800" b="1" i="1" dirty="0">
                <a:effectLst/>
                <a:latin typeface="Arial" panose="020B0604020202020204" pitchFamily="34" charset="0"/>
                <a:ea typeface="DengXian" panose="02010600030101010101" pitchFamily="2" charset="-122"/>
              </a:rPr>
              <a:t> dd </a:t>
            </a:r>
            <a:r>
              <a:rPr lang="en-US" sz="1800" b="1" i="1" dirty="0" err="1">
                <a:latin typeface="Arial" panose="020B0604020202020204" pitchFamily="34" charset="0"/>
                <a:ea typeface="DengXian" panose="02010600030101010101" pitchFamily="2" charset="-122"/>
              </a:rPr>
              <a:t>elektrolit</a:t>
            </a:r>
            <a:r>
              <a:rPr lang="en-US" sz="1800" b="1" i="1" dirty="0">
                <a:latin typeface="Arial" panose="020B0604020202020204" pitchFamily="34" charset="0"/>
                <a:ea typeface="DengXian" panose="02010600030101010101" pitchFamily="2" charset="-122"/>
              </a:rPr>
              <a:t> imbalance dd </a:t>
            </a:r>
            <a:r>
              <a:rPr lang="en-US" sz="1800" b="1" i="1" dirty="0" err="1">
                <a:latin typeface="Arial" panose="020B0604020202020204" pitchFamily="34" charset="0"/>
                <a:ea typeface="DengXian" panose="02010600030101010101" pitchFamily="2" charset="-122"/>
              </a:rPr>
              <a:t>ensefalitis</a:t>
            </a:r>
            <a:r>
              <a:rPr lang="en-US" sz="1800" b="1" i="1" dirty="0">
                <a:effectLst/>
                <a:latin typeface="Arial" panose="020B0604020202020204" pitchFamily="34" charset="0"/>
                <a:ea typeface="DengXian" panose="02010600030101010101" pitchFamily="2" charset="-122"/>
              </a:rPr>
              <a:t> + Hyponatremia </a:t>
            </a:r>
            <a:endParaRPr lang="en-ID" sz="1800" b="1" i="1" dirty="0"/>
          </a:p>
          <a:p>
            <a:endParaRPr lang="en-ID"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DENGUE SHOCK SYNDROME</a:t>
            </a:r>
            <a:endParaRPr lang="en-ID" i="1" dirty="0"/>
          </a:p>
        </p:txBody>
      </p:sp>
      <p:sp>
        <p:nvSpPr>
          <p:cNvPr id="3" name="Content Placeholder 2"/>
          <p:cNvSpPr>
            <a:spLocks noGrp="1"/>
          </p:cNvSpPr>
          <p:nvPr>
            <p:ph idx="1"/>
          </p:nvPr>
        </p:nvSpPr>
        <p:spPr/>
        <p:txBody>
          <a:bodyPr>
            <a:normAutofit fontScale="50000"/>
          </a:bodyPr>
          <a:lstStyle/>
          <a:p>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Dengue shock syndrome (DSS)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adalah</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komplikasi</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serius</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dari</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demam</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berdarah</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dengue (DBD) yang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dapat</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terjadi</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pada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anak-anak</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terutama</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di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bawah</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usia</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15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tahun</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endPar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endParaRPr>
          </a:p>
          <a:p>
            <a:pPr marL="0" indent="0">
              <a:buNone/>
            </a:pPr>
            <a:endPar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endParaRPr>
          </a:p>
          <a:p>
            <a:r>
              <a:rPr lang="en-ID" sz="2400" b="0" i="1" dirty="0">
                <a:solidFill>
                  <a:srgbClr val="333333"/>
                </a:solidFill>
                <a:effectLst/>
                <a:latin typeface="Arial" panose="020B0604020202020204" pitchFamily="34" charset="0"/>
                <a:cs typeface="Arial" panose="020B0604020202020204" pitchFamily="34" charset="0"/>
              </a:rPr>
              <a:t>Dengue Shock Syndrome</a:t>
            </a:r>
            <a:r>
              <a:rPr lang="en-ID" sz="2400" b="0" i="0" dirty="0">
                <a:solidFill>
                  <a:srgbClr val="333333"/>
                </a:solidFill>
                <a:effectLst/>
                <a:latin typeface="Arial" panose="020B0604020202020204" pitchFamily="34" charset="0"/>
                <a:cs typeface="Arial" panose="020B0604020202020204" pitchFamily="34" charset="0"/>
              </a:rPr>
              <a:t> (DSS) </a:t>
            </a:r>
            <a:r>
              <a:rPr lang="en-ID" sz="2400" b="0" i="0" dirty="0" err="1">
                <a:solidFill>
                  <a:srgbClr val="333333"/>
                </a:solidFill>
                <a:effectLst/>
                <a:latin typeface="Arial" panose="020B0604020202020204" pitchFamily="34" charset="0"/>
                <a:cs typeface="Arial" panose="020B0604020202020204" pitchFamily="34" charset="0"/>
              </a:rPr>
              <a:t>adalah</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spektrum</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klinis</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dari</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infeksi</a:t>
            </a:r>
            <a:r>
              <a:rPr lang="en-ID" sz="2400" b="0" i="0" dirty="0">
                <a:solidFill>
                  <a:srgbClr val="333333"/>
                </a:solidFill>
                <a:effectLst/>
                <a:latin typeface="Arial" panose="020B0604020202020204" pitchFamily="34" charset="0"/>
                <a:cs typeface="Arial" panose="020B0604020202020204" pitchFamily="34" charset="0"/>
              </a:rPr>
              <a:t> dengue yang </a:t>
            </a:r>
            <a:r>
              <a:rPr lang="en-ID" sz="2400" b="0" i="0" dirty="0" err="1">
                <a:solidFill>
                  <a:srgbClr val="333333"/>
                </a:solidFill>
                <a:effectLst/>
                <a:latin typeface="Arial" panose="020B0604020202020204" pitchFamily="34" charset="0"/>
                <a:cs typeface="Arial" panose="020B0604020202020204" pitchFamily="34" charset="0"/>
              </a:rPr>
              <a:t>ditandai</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dengan</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gangguan</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sirkulasi</a:t>
            </a:r>
            <a:r>
              <a:rPr lang="en-ID" sz="2400" b="0" i="0" dirty="0">
                <a:solidFill>
                  <a:srgbClr val="333333"/>
                </a:solidFill>
                <a:effectLst/>
                <a:latin typeface="Arial" panose="020B0604020202020204" pitchFamily="34" charset="0"/>
                <a:cs typeface="Arial" panose="020B0604020202020204" pitchFamily="34" charset="0"/>
              </a:rPr>
              <a:t>. Salah </a:t>
            </a:r>
            <a:r>
              <a:rPr lang="en-ID" sz="2400" b="0" i="0" dirty="0" err="1">
                <a:solidFill>
                  <a:srgbClr val="333333"/>
                </a:solidFill>
                <a:effectLst/>
                <a:latin typeface="Arial" panose="020B0604020202020204" pitchFamily="34" charset="0"/>
                <a:cs typeface="Arial" panose="020B0604020202020204" pitchFamily="34" charset="0"/>
              </a:rPr>
              <a:t>satu</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kondisi</a:t>
            </a:r>
            <a:r>
              <a:rPr lang="en-ID" sz="2400" b="0" i="0" dirty="0">
                <a:solidFill>
                  <a:srgbClr val="333333"/>
                </a:solidFill>
                <a:effectLst/>
                <a:latin typeface="Arial" panose="020B0604020202020204" pitchFamily="34" charset="0"/>
                <a:cs typeface="Arial" panose="020B0604020202020204" pitchFamily="34" charset="0"/>
              </a:rPr>
              <a:t> yang </a:t>
            </a:r>
            <a:r>
              <a:rPr lang="en-ID" sz="2400" b="0" i="0" dirty="0" err="1">
                <a:solidFill>
                  <a:srgbClr val="333333"/>
                </a:solidFill>
                <a:effectLst/>
                <a:latin typeface="Arial" panose="020B0604020202020204" pitchFamily="34" charset="0"/>
                <a:cs typeface="Arial" panose="020B0604020202020204" pitchFamily="34" charset="0"/>
              </a:rPr>
              <a:t>menyebabkan</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syok</a:t>
            </a:r>
            <a:r>
              <a:rPr lang="en-ID" sz="2400" b="0" i="0" dirty="0">
                <a:solidFill>
                  <a:srgbClr val="333333"/>
                </a:solidFill>
                <a:effectLst/>
                <a:latin typeface="Arial" panose="020B0604020202020204" pitchFamily="34" charset="0"/>
                <a:cs typeface="Arial" panose="020B0604020202020204" pitchFamily="34" charset="0"/>
              </a:rPr>
              <a:t> pada </a:t>
            </a:r>
            <a:r>
              <a:rPr lang="en-ID" sz="2400" b="0" i="0" dirty="0" err="1">
                <a:solidFill>
                  <a:srgbClr val="333333"/>
                </a:solidFill>
                <a:effectLst/>
                <a:latin typeface="Arial" panose="020B0604020202020204" pitchFamily="34" charset="0"/>
                <a:cs typeface="Arial" panose="020B0604020202020204" pitchFamily="34" charset="0"/>
              </a:rPr>
              <a:t>infeksi</a:t>
            </a:r>
            <a:r>
              <a:rPr lang="en-ID" sz="2400" b="0" i="0" dirty="0">
                <a:solidFill>
                  <a:srgbClr val="333333"/>
                </a:solidFill>
                <a:effectLst/>
                <a:latin typeface="Arial" panose="020B0604020202020204" pitchFamily="34" charset="0"/>
                <a:cs typeface="Arial" panose="020B0604020202020204" pitchFamily="34" charset="0"/>
              </a:rPr>
              <a:t> dengue </a:t>
            </a:r>
            <a:r>
              <a:rPr lang="en-ID" sz="2400" b="0" i="0" dirty="0" err="1">
                <a:solidFill>
                  <a:srgbClr val="333333"/>
                </a:solidFill>
                <a:effectLst/>
                <a:latin typeface="Arial" panose="020B0604020202020204" pitchFamily="34" charset="0"/>
                <a:cs typeface="Arial" panose="020B0604020202020204" pitchFamily="34" charset="0"/>
              </a:rPr>
              <a:t>adalah</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obesitas</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Obesitas</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meningkatkan</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produksi</a:t>
            </a:r>
            <a:r>
              <a:rPr lang="en-ID" sz="2400" b="0" i="0" dirty="0">
                <a:solidFill>
                  <a:srgbClr val="333333"/>
                </a:solidFill>
                <a:effectLst/>
                <a:latin typeface="Arial" panose="020B0604020202020204" pitchFamily="34" charset="0"/>
                <a:cs typeface="Arial" panose="020B0604020202020204" pitchFamily="34" charset="0"/>
              </a:rPr>
              <a:t> mediator </a:t>
            </a:r>
            <a:r>
              <a:rPr lang="en-ID" sz="2400" b="0" i="0" dirty="0" err="1">
                <a:solidFill>
                  <a:srgbClr val="333333"/>
                </a:solidFill>
                <a:effectLst/>
                <a:latin typeface="Arial" panose="020B0604020202020204" pitchFamily="34" charset="0"/>
                <a:cs typeface="Arial" panose="020B0604020202020204" pitchFamily="34" charset="0"/>
              </a:rPr>
              <a:t>inflamasi</a:t>
            </a:r>
            <a:r>
              <a:rPr lang="en-ID" sz="2400" b="0" i="0" dirty="0">
                <a:solidFill>
                  <a:srgbClr val="333333"/>
                </a:solidFill>
                <a:effectLst/>
                <a:latin typeface="Arial" panose="020B0604020202020204" pitchFamily="34" charset="0"/>
                <a:cs typeface="Arial" panose="020B0604020202020204" pitchFamily="34" charset="0"/>
              </a:rPr>
              <a:t> yang </a:t>
            </a:r>
            <a:r>
              <a:rPr lang="en-ID" sz="2400" b="0" i="0" dirty="0" err="1">
                <a:solidFill>
                  <a:srgbClr val="333333"/>
                </a:solidFill>
                <a:effectLst/>
                <a:latin typeface="Arial" panose="020B0604020202020204" pitchFamily="34" charset="0"/>
                <a:cs typeface="Arial" panose="020B0604020202020204" pitchFamily="34" charset="0"/>
              </a:rPr>
              <a:t>meningkatkan</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permeabilitas</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kapiler</a:t>
            </a:r>
            <a:r>
              <a:rPr lang="en-ID" sz="2400" b="0" i="0" dirty="0">
                <a:solidFill>
                  <a:srgbClr val="333333"/>
                </a:solidFill>
                <a:effectLst/>
                <a:latin typeface="Arial" panose="020B0604020202020204" pitchFamily="34" charset="0"/>
                <a:cs typeface="Arial" panose="020B0604020202020204" pitchFamily="34" charset="0"/>
              </a:rPr>
              <a:t> dan </a:t>
            </a:r>
            <a:r>
              <a:rPr lang="en-ID" sz="2400" b="0" i="0" dirty="0" err="1">
                <a:solidFill>
                  <a:srgbClr val="333333"/>
                </a:solidFill>
                <a:effectLst/>
                <a:latin typeface="Arial" panose="020B0604020202020204" pitchFamily="34" charset="0"/>
                <a:cs typeface="Arial" panose="020B0604020202020204" pitchFamily="34" charset="0"/>
              </a:rPr>
              <a:t>menyebabkan</a:t>
            </a:r>
            <a:r>
              <a:rPr lang="en-ID" sz="2400" b="0" i="0" dirty="0">
                <a:solidFill>
                  <a:srgbClr val="333333"/>
                </a:solidFill>
                <a:effectLst/>
                <a:latin typeface="Arial" panose="020B0604020202020204" pitchFamily="34" charset="0"/>
                <a:cs typeface="Arial" panose="020B0604020202020204" pitchFamily="34" charset="0"/>
              </a:rPr>
              <a:t> </a:t>
            </a:r>
            <a:r>
              <a:rPr lang="en-ID" sz="2400" b="0" i="0" dirty="0" err="1">
                <a:solidFill>
                  <a:srgbClr val="333333"/>
                </a:solidFill>
                <a:effectLst/>
                <a:latin typeface="Arial" panose="020B0604020202020204" pitchFamily="34" charset="0"/>
                <a:cs typeface="Arial" panose="020B0604020202020204" pitchFamily="34" charset="0"/>
              </a:rPr>
              <a:t>kebocoran</a:t>
            </a:r>
            <a:r>
              <a:rPr lang="en-ID" sz="2400" b="0" i="0" dirty="0">
                <a:solidFill>
                  <a:srgbClr val="333333"/>
                </a:solidFill>
                <a:effectLst/>
                <a:latin typeface="Arial" panose="020B0604020202020204" pitchFamily="34" charset="0"/>
                <a:cs typeface="Arial" panose="020B0604020202020204" pitchFamily="34" charset="0"/>
              </a:rPr>
              <a:t> plasma.</a:t>
            </a:r>
            <a:endParaRPr lang="en-ID" sz="2400" b="0" i="0" dirty="0">
              <a:solidFill>
                <a:srgbClr val="333333"/>
              </a:solidFill>
              <a:effectLst/>
              <a:latin typeface="Arial" panose="020B0604020202020204" pitchFamily="34" charset="0"/>
              <a:cs typeface="Arial" panose="020B0604020202020204" pitchFamily="34" charset="0"/>
            </a:endParaRPr>
          </a:p>
          <a:p>
            <a:pPr marL="0" indent="0">
              <a:buNone/>
            </a:pPr>
            <a:endParaRPr lang="en-ID" sz="2400" dirty="0">
              <a:solidFill>
                <a:srgbClr val="333333"/>
              </a:solidFill>
              <a:latin typeface="Arial" panose="020B0604020202020204" pitchFamily="34" charset="0"/>
              <a:cs typeface="Arial" panose="020B0604020202020204" pitchFamily="34" charset="0"/>
            </a:endParaRPr>
          </a:p>
          <a:p>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DSS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ditandai</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dengan</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gangguan</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sirkulasi</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darah</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dan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dapat</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menyebabkan</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syok</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kerusakan</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organ, dan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bahkan</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kematian</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jika</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tidak</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segera</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r>
              <a:rPr lang="en-ID" sz="2400" b="0" i="1" dirty="0" err="1">
                <a:solidFill>
                  <a:srgbClr val="001D35"/>
                </a:solidFill>
                <a:effectLst/>
                <a:latin typeface="Arial" panose="020B0604020202020204" pitchFamily="34" charset="0"/>
                <a:ea typeface="Open Sans" panose="020B0606030504020204" pitchFamily="34" charset="0"/>
                <a:cs typeface="Arial" panose="020B0604020202020204" pitchFamily="34" charset="0"/>
              </a:rPr>
              <a:t>ditangani</a:t>
            </a:r>
            <a:r>
              <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rPr>
              <a:t>. </a:t>
            </a:r>
            <a:endPar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endParaRPr>
          </a:p>
          <a:p>
            <a:r>
              <a:rPr lang="en-ID" sz="2400" i="1" dirty="0">
                <a:solidFill>
                  <a:srgbClr val="001D35"/>
                </a:solidFill>
                <a:latin typeface="Arial" panose="020B0604020202020204" pitchFamily="34" charset="0"/>
                <a:ea typeface="Open Sans" panose="020B0606030504020204" pitchFamily="34" charset="0"/>
                <a:cs typeface="Arial" panose="020B0604020202020204" pitchFamily="34" charset="0"/>
              </a:rPr>
              <a:t>Source (https://e-journals.unmul.ac.id/index.php/JKM/article/view/3779/2546)</a:t>
            </a:r>
            <a:endParaRPr lang="en-ID" sz="2400" b="0" i="1" dirty="0">
              <a:solidFill>
                <a:srgbClr val="001D35"/>
              </a:solidFill>
              <a:effectLst/>
              <a:latin typeface="Arial" panose="020B0604020202020204" pitchFamily="34" charset="0"/>
              <a:ea typeface="Open Sans" panose="020B0606030504020204" pitchFamily="34" charset="0"/>
              <a:cs typeface="Arial" panose="020B0604020202020204" pitchFamily="34" charset="0"/>
            </a:endParaRPr>
          </a:p>
          <a:p>
            <a:endParaRPr lang="en-ID" sz="24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kern="0" spc="-10" dirty="0">
                <a:solidFill>
                  <a:srgbClr val="000000">
                    <a:alpha val="100000"/>
                  </a:srgbClr>
                </a:solidFill>
                <a:latin typeface="Tw Cen MT" panose="020B0602020104020603"/>
                <a:ea typeface="Tw Cen MT" panose="020B0602020104020603"/>
                <a:cs typeface="Tw Cen MT" panose="020B0602020104020603"/>
                <a:sym typeface="+mn-ea"/>
              </a:rPr>
              <a:t>Probable dengue</a:t>
            </a:r>
            <a:endParaRPr lang="en-US"/>
          </a:p>
        </p:txBody>
      </p:sp>
      <p:sp>
        <p:nvSpPr>
          <p:cNvPr id="3" name="Content Placeholder 2"/>
          <p:cNvSpPr>
            <a:spLocks noGrp="1"/>
          </p:cNvSpPr>
          <p:nvPr>
            <p:ph idx="1"/>
          </p:nvPr>
        </p:nvSpPr>
        <p:spPr>
          <a:xfrm>
            <a:off x="1443355" y="1268095"/>
            <a:ext cx="6571615" cy="4197985"/>
          </a:xfrm>
        </p:spPr>
        <p:txBody>
          <a:bodyPr>
            <a:normAutofit lnSpcReduction="10000"/>
          </a:bodyPr>
          <a:p>
            <a:pPr marL="12700" indent="0" algn="l" rtl="0" eaLnBrk="0">
              <a:lnSpc>
                <a:spcPct val="98000"/>
              </a:lnSpc>
              <a:spcBef>
                <a:spcPts val="135"/>
              </a:spcBef>
              <a:buNone/>
            </a:pPr>
            <a:r>
              <a:rPr b="1" kern="0" dirty="0">
                <a:solidFill>
                  <a:srgbClr val="000000">
                    <a:alpha val="100000"/>
                  </a:srgbClr>
                </a:solidFill>
                <a:latin typeface="Tw Cen MT" panose="020B0602020104020603"/>
                <a:ea typeface="Tw Cen MT" panose="020B0602020104020603"/>
                <a:cs typeface="Tw Cen MT" panose="020B0602020104020603"/>
                <a:sym typeface="+mn-ea"/>
              </a:rPr>
              <a:t>Tinggal/berpergia</a:t>
            </a:r>
            <a:r>
              <a:rPr b="1" kern="0" spc="-10" dirty="0">
                <a:solidFill>
                  <a:srgbClr val="000000">
                    <a:alpha val="100000"/>
                  </a:srgbClr>
                </a:solidFill>
                <a:latin typeface="Tw Cen MT" panose="020B0602020104020603"/>
                <a:ea typeface="Tw Cen MT" panose="020B0602020104020603"/>
                <a:cs typeface="Tw Cen MT" panose="020B0602020104020603"/>
                <a:sym typeface="+mn-ea"/>
              </a:rPr>
              <a:t>n ke daerah</a:t>
            </a:r>
            <a:r>
              <a:rPr b="1" kern="0" dirty="0">
                <a:solidFill>
                  <a:srgbClr val="000000">
                    <a:alpha val="100000"/>
                  </a:srgbClr>
                </a:solidFill>
                <a:latin typeface="Tw Cen MT" panose="020B0602020104020603"/>
                <a:ea typeface="Tw Cen MT" panose="020B0602020104020603"/>
                <a:cs typeface="Tw Cen MT" panose="020B0602020104020603"/>
                <a:sym typeface="+mn-ea"/>
              </a:rPr>
              <a:t>       </a:t>
            </a:r>
            <a:r>
              <a:rPr b="1" kern="0" spc="-40" dirty="0">
                <a:solidFill>
                  <a:srgbClr val="000000">
                    <a:alpha val="100000"/>
                  </a:srgbClr>
                </a:solidFill>
                <a:latin typeface="Tw Cen MT" panose="020B0602020104020603"/>
                <a:ea typeface="Tw Cen MT" panose="020B0602020104020603"/>
                <a:cs typeface="Tw Cen MT" panose="020B0602020104020603"/>
                <a:sym typeface="+mn-ea"/>
              </a:rPr>
              <a:t>endemik</a:t>
            </a:r>
            <a:r>
              <a:rPr b="1" kern="0" spc="50" dirty="0">
                <a:solidFill>
                  <a:srgbClr val="000000">
                    <a:alpha val="100000"/>
                  </a:srgbClr>
                </a:solidFill>
                <a:latin typeface="Tw Cen MT" panose="020B0602020104020603"/>
                <a:ea typeface="Tw Cen MT" panose="020B0602020104020603"/>
                <a:cs typeface="Tw Cen MT" panose="020B0602020104020603"/>
                <a:sym typeface="+mn-ea"/>
              </a:rPr>
              <a:t> </a:t>
            </a:r>
            <a:r>
              <a:rPr b="1" kern="0" spc="-40" dirty="0">
                <a:solidFill>
                  <a:srgbClr val="000000">
                    <a:alpha val="100000"/>
                  </a:srgbClr>
                </a:solidFill>
                <a:latin typeface="Tw Cen MT" panose="020B0602020104020603"/>
                <a:ea typeface="Tw Cen MT" panose="020B0602020104020603"/>
                <a:cs typeface="Tw Cen MT" panose="020B0602020104020603"/>
                <a:sym typeface="+mn-ea"/>
              </a:rPr>
              <a:t>dengu</a:t>
            </a:r>
            <a:r>
              <a:rPr b="1" kern="0" spc="-50" dirty="0">
                <a:solidFill>
                  <a:srgbClr val="000000">
                    <a:alpha val="100000"/>
                  </a:srgbClr>
                </a:solidFill>
                <a:latin typeface="Tw Cen MT" panose="020B0602020104020603"/>
                <a:ea typeface="Tw Cen MT" panose="020B0602020104020603"/>
                <a:cs typeface="Tw Cen MT" panose="020B0602020104020603"/>
                <a:sym typeface="+mn-ea"/>
              </a:rPr>
              <a:t>e</a:t>
            </a:r>
            <a:endParaRPr dirty="0">
              <a:latin typeface="Tw Cen MT" panose="020B0602020104020603"/>
              <a:ea typeface="Tw Cen MT" panose="020B0602020104020603"/>
              <a:cs typeface="Tw Cen MT" panose="020B0602020104020603"/>
            </a:endParaRPr>
          </a:p>
          <a:p>
            <a:pPr marL="0" indent="0" algn="l" rtl="0" eaLnBrk="0">
              <a:lnSpc>
                <a:spcPct val="98000"/>
              </a:lnSpc>
              <a:spcBef>
                <a:spcPts val="80"/>
              </a:spcBef>
              <a:buNone/>
            </a:pPr>
            <a:r>
              <a:rPr b="1" kern="0" spc="-40" dirty="0">
                <a:solidFill>
                  <a:srgbClr val="000000">
                    <a:alpha val="100000"/>
                  </a:srgbClr>
                </a:solidFill>
                <a:latin typeface="Tw Cen MT" panose="020B0602020104020603"/>
                <a:ea typeface="Tw Cen MT" panose="020B0602020104020603"/>
                <a:cs typeface="Tw Cen MT" panose="020B0602020104020603"/>
                <a:sym typeface="+mn-ea"/>
              </a:rPr>
              <a:t>Demam</a:t>
            </a:r>
            <a:r>
              <a:rPr b="1" kern="0" spc="50" dirty="0">
                <a:solidFill>
                  <a:srgbClr val="000000">
                    <a:alpha val="100000"/>
                  </a:srgbClr>
                </a:solidFill>
                <a:latin typeface="Tw Cen MT" panose="020B0602020104020603"/>
                <a:ea typeface="Tw Cen MT" panose="020B0602020104020603"/>
                <a:cs typeface="Tw Cen MT" panose="020B0602020104020603"/>
                <a:sym typeface="+mn-ea"/>
              </a:rPr>
              <a:t> </a:t>
            </a:r>
            <a:r>
              <a:rPr b="1" kern="0" spc="-40" dirty="0">
                <a:solidFill>
                  <a:srgbClr val="000000">
                    <a:alpha val="100000"/>
                  </a:srgbClr>
                </a:solidFill>
                <a:latin typeface="Tw Cen MT" panose="020B0602020104020603"/>
                <a:ea typeface="Tw Cen MT" panose="020B0602020104020603"/>
                <a:cs typeface="Tw Cen MT" panose="020B0602020104020603"/>
                <a:sym typeface="+mn-ea"/>
              </a:rPr>
              <a:t>dan</a:t>
            </a:r>
            <a:r>
              <a:rPr b="1" kern="0" spc="70" dirty="0">
                <a:solidFill>
                  <a:srgbClr val="000000">
                    <a:alpha val="100000"/>
                  </a:srgbClr>
                </a:solidFill>
                <a:latin typeface="Tw Cen MT" panose="020B0602020104020603"/>
                <a:ea typeface="Tw Cen MT" panose="020B0602020104020603"/>
                <a:cs typeface="Tw Cen MT" panose="020B0602020104020603"/>
                <a:sym typeface="+mn-ea"/>
              </a:rPr>
              <a:t> </a:t>
            </a:r>
            <a:r>
              <a:rPr b="1" kern="0" spc="-40" dirty="0">
                <a:solidFill>
                  <a:srgbClr val="000000">
                    <a:alpha val="100000"/>
                  </a:srgbClr>
                </a:solidFill>
                <a:latin typeface="Tw Cen MT" panose="020B0602020104020603"/>
                <a:ea typeface="Tw Cen MT" panose="020B0602020104020603"/>
                <a:cs typeface="Tw Cen MT" panose="020B0602020104020603"/>
                <a:sym typeface="+mn-ea"/>
              </a:rPr>
              <a:t>2</a:t>
            </a:r>
            <a:r>
              <a:rPr b="1" kern="0" spc="60" dirty="0">
                <a:solidFill>
                  <a:srgbClr val="000000">
                    <a:alpha val="100000"/>
                  </a:srgbClr>
                </a:solidFill>
                <a:latin typeface="Tw Cen MT" panose="020B0602020104020603"/>
                <a:ea typeface="Tw Cen MT" panose="020B0602020104020603"/>
                <a:cs typeface="Tw Cen MT" panose="020B0602020104020603"/>
                <a:sym typeface="+mn-ea"/>
              </a:rPr>
              <a:t> </a:t>
            </a:r>
            <a:r>
              <a:rPr b="1" kern="0" spc="-40" dirty="0">
                <a:solidFill>
                  <a:srgbClr val="000000">
                    <a:alpha val="100000"/>
                  </a:srgbClr>
                </a:solidFill>
                <a:latin typeface="Tw Cen MT" panose="020B0602020104020603"/>
                <a:ea typeface="Tw Cen MT" panose="020B0602020104020603"/>
                <a:cs typeface="Tw Cen MT" panose="020B0602020104020603"/>
                <a:sym typeface="+mn-ea"/>
              </a:rPr>
              <a:t>kriteria</a:t>
            </a:r>
            <a:r>
              <a:rPr b="1" kern="0" spc="50" dirty="0">
                <a:solidFill>
                  <a:srgbClr val="000000">
                    <a:alpha val="100000"/>
                  </a:srgbClr>
                </a:solidFill>
                <a:latin typeface="Tw Cen MT" panose="020B0602020104020603"/>
                <a:ea typeface="Tw Cen MT" panose="020B0602020104020603"/>
                <a:cs typeface="Tw Cen MT" panose="020B0602020104020603"/>
                <a:sym typeface="+mn-ea"/>
              </a:rPr>
              <a:t> </a:t>
            </a:r>
            <a:r>
              <a:rPr b="1" kern="0" spc="-40" dirty="0">
                <a:solidFill>
                  <a:srgbClr val="000000">
                    <a:alpha val="100000"/>
                  </a:srgbClr>
                </a:solidFill>
                <a:latin typeface="Tw Cen MT" panose="020B0602020104020603"/>
                <a:ea typeface="Tw Cen MT" panose="020B0602020104020603"/>
                <a:cs typeface="Tw Cen MT" panose="020B0602020104020603"/>
                <a:sym typeface="+mn-ea"/>
              </a:rPr>
              <a:t>dibawah ini</a:t>
            </a:r>
            <a:r>
              <a:rPr b="1" kern="0" spc="-50" dirty="0">
                <a:solidFill>
                  <a:srgbClr val="000000">
                    <a:alpha val="100000"/>
                  </a:srgbClr>
                </a:solidFill>
                <a:latin typeface="Tw Cen MT" panose="020B0602020104020603"/>
                <a:ea typeface="Tw Cen MT" panose="020B0602020104020603"/>
                <a:cs typeface="Tw Cen MT" panose="020B0602020104020603"/>
                <a:sym typeface="+mn-ea"/>
              </a:rPr>
              <a:t>:</a:t>
            </a:r>
            <a:endParaRPr dirty="0">
              <a:latin typeface="Tw Cen MT" panose="020B0602020104020603"/>
              <a:ea typeface="Tw Cen MT" panose="020B0602020104020603"/>
              <a:cs typeface="Tw Cen MT" panose="020B0602020104020603"/>
            </a:endParaRPr>
          </a:p>
          <a:p>
            <a:pPr marL="0" indent="0" algn="l" rtl="0" eaLnBrk="0">
              <a:lnSpc>
                <a:spcPts val="1410"/>
              </a:lnSpc>
              <a:buNone/>
            </a:pPr>
            <a:r>
              <a:rPr kern="0" spc="-20" dirty="0">
                <a:solidFill>
                  <a:srgbClr val="000000">
                    <a:alpha val="100000"/>
                  </a:srgbClr>
                </a:solidFill>
                <a:latin typeface="Arial" panose="020B0604020202020204"/>
                <a:ea typeface="Arial" panose="020B0604020202020204"/>
                <a:cs typeface="Arial" panose="020B0604020202020204"/>
                <a:sym typeface="+mn-ea"/>
              </a:rPr>
              <a:t>•</a:t>
            </a:r>
            <a:r>
              <a:rPr kern="0" spc="40" dirty="0">
                <a:solidFill>
                  <a:srgbClr val="000000">
                    <a:alpha val="100000"/>
                  </a:srgbClr>
                </a:solidFill>
                <a:latin typeface="Arial" panose="020B0604020202020204"/>
                <a:ea typeface="Arial" panose="020B0604020202020204"/>
                <a:cs typeface="Arial" panose="020B0604020202020204"/>
                <a:sym typeface="+mn-ea"/>
              </a:rPr>
              <a:t>   </a:t>
            </a:r>
            <a:r>
              <a:rPr b="1" kern="0" spc="-20" dirty="0">
                <a:solidFill>
                  <a:srgbClr val="000000">
                    <a:alpha val="100000"/>
                  </a:srgbClr>
                </a:solidFill>
                <a:latin typeface="Tw Cen MT" panose="020B0602020104020603"/>
                <a:ea typeface="Tw Cen MT" panose="020B0602020104020603"/>
                <a:cs typeface="Tw Cen MT" panose="020B0602020104020603"/>
                <a:sym typeface="+mn-ea"/>
              </a:rPr>
              <a:t>Mual,</a:t>
            </a:r>
            <a:r>
              <a:rPr b="1" kern="0" spc="90" dirty="0">
                <a:solidFill>
                  <a:srgbClr val="000000">
                    <a:alpha val="100000"/>
                  </a:srgbClr>
                </a:solidFill>
                <a:latin typeface="Tw Cen MT" panose="020B0602020104020603"/>
                <a:ea typeface="Tw Cen MT" panose="020B0602020104020603"/>
                <a:cs typeface="Tw Cen MT" panose="020B0602020104020603"/>
                <a:sym typeface="+mn-ea"/>
              </a:rPr>
              <a:t> </a:t>
            </a:r>
            <a:r>
              <a:rPr b="1" kern="0" spc="-20" dirty="0">
                <a:solidFill>
                  <a:srgbClr val="000000">
                    <a:alpha val="100000"/>
                  </a:srgbClr>
                </a:solidFill>
                <a:latin typeface="Tw Cen MT" panose="020B0602020104020603"/>
                <a:ea typeface="Tw Cen MT" panose="020B0602020104020603"/>
                <a:cs typeface="Tw Cen MT" panose="020B0602020104020603"/>
                <a:sym typeface="+mn-ea"/>
              </a:rPr>
              <a:t>muntah</a:t>
            </a:r>
            <a:endParaRPr dirty="0">
              <a:latin typeface="Tw Cen MT" panose="020B0602020104020603"/>
              <a:ea typeface="Tw Cen MT" panose="020B0602020104020603"/>
              <a:cs typeface="Tw Cen MT" panose="020B0602020104020603"/>
            </a:endParaRPr>
          </a:p>
          <a:p>
            <a:pPr marL="0" indent="0" algn="l" rtl="0" eaLnBrk="0">
              <a:lnSpc>
                <a:spcPct val="69000"/>
              </a:lnSpc>
              <a:spcBef>
                <a:spcPts val="305"/>
              </a:spcBef>
              <a:buNone/>
            </a:pPr>
            <a:r>
              <a:rPr kern="0" spc="-20" dirty="0">
                <a:solidFill>
                  <a:srgbClr val="000000">
                    <a:alpha val="100000"/>
                  </a:srgbClr>
                </a:solidFill>
                <a:latin typeface="Arial" panose="020B0604020202020204"/>
                <a:ea typeface="Arial" panose="020B0604020202020204"/>
                <a:cs typeface="Arial" panose="020B0604020202020204"/>
                <a:sym typeface="+mn-ea"/>
              </a:rPr>
              <a:t>•</a:t>
            </a:r>
            <a:r>
              <a:rPr kern="0" spc="50" dirty="0">
                <a:solidFill>
                  <a:srgbClr val="000000">
                    <a:alpha val="100000"/>
                  </a:srgbClr>
                </a:solidFill>
                <a:latin typeface="Arial" panose="020B0604020202020204"/>
                <a:ea typeface="Arial" panose="020B0604020202020204"/>
                <a:cs typeface="Arial" panose="020B0604020202020204"/>
                <a:sym typeface="+mn-ea"/>
              </a:rPr>
              <a:t>   </a:t>
            </a:r>
            <a:r>
              <a:rPr b="1" kern="0" spc="-20" dirty="0">
                <a:solidFill>
                  <a:srgbClr val="000000">
                    <a:alpha val="100000"/>
                  </a:srgbClr>
                </a:solidFill>
                <a:latin typeface="Tw Cen MT" panose="020B0602020104020603"/>
                <a:ea typeface="Tw Cen MT" panose="020B0602020104020603"/>
                <a:cs typeface="Tw Cen MT" panose="020B0602020104020603"/>
                <a:sym typeface="+mn-ea"/>
              </a:rPr>
              <a:t>Ruam</a:t>
            </a:r>
            <a:endParaRPr dirty="0">
              <a:latin typeface="Tw Cen MT" panose="020B0602020104020603"/>
              <a:ea typeface="Tw Cen MT" panose="020B0602020104020603"/>
              <a:cs typeface="Tw Cen MT" panose="020B0602020104020603"/>
            </a:endParaRPr>
          </a:p>
          <a:p>
            <a:pPr marL="0" indent="0" algn="l" rtl="0" eaLnBrk="0">
              <a:lnSpc>
                <a:spcPct val="72000"/>
              </a:lnSpc>
              <a:spcBef>
                <a:spcPts val="575"/>
              </a:spcBef>
              <a:buNone/>
            </a:pPr>
            <a:r>
              <a:rPr kern="0" spc="-40" dirty="0">
                <a:solidFill>
                  <a:srgbClr val="000000">
                    <a:alpha val="100000"/>
                  </a:srgbClr>
                </a:solidFill>
                <a:latin typeface="Arial" panose="020B0604020202020204"/>
                <a:ea typeface="Arial" panose="020B0604020202020204"/>
                <a:cs typeface="Arial" panose="020B0604020202020204"/>
                <a:sym typeface="+mn-ea"/>
              </a:rPr>
              <a:t>•</a:t>
            </a:r>
            <a:r>
              <a:rPr kern="0" spc="20" dirty="0">
                <a:solidFill>
                  <a:srgbClr val="000000">
                    <a:alpha val="100000"/>
                  </a:srgbClr>
                </a:solidFill>
                <a:latin typeface="Arial" panose="020B0604020202020204"/>
                <a:ea typeface="Arial" panose="020B0604020202020204"/>
                <a:cs typeface="Arial" panose="020B0604020202020204"/>
                <a:sym typeface="+mn-ea"/>
              </a:rPr>
              <a:t>   </a:t>
            </a:r>
            <a:r>
              <a:rPr b="1" kern="0" spc="-40" dirty="0">
                <a:solidFill>
                  <a:srgbClr val="000000">
                    <a:alpha val="100000"/>
                  </a:srgbClr>
                </a:solidFill>
                <a:latin typeface="Tw Cen MT" panose="020B0602020104020603"/>
                <a:ea typeface="Tw Cen MT" panose="020B0602020104020603"/>
                <a:cs typeface="Tw Cen MT" panose="020B0602020104020603"/>
                <a:sym typeface="+mn-ea"/>
              </a:rPr>
              <a:t>Nyeri</a:t>
            </a:r>
            <a:endParaRPr dirty="0">
              <a:latin typeface="Tw Cen MT" panose="020B0602020104020603"/>
              <a:ea typeface="Tw Cen MT" panose="020B0602020104020603"/>
              <a:cs typeface="Tw Cen MT" panose="020B0602020104020603"/>
            </a:endParaRPr>
          </a:p>
          <a:p>
            <a:pPr marL="0" indent="0" algn="l" rtl="0" eaLnBrk="0">
              <a:lnSpc>
                <a:spcPts val="1500"/>
              </a:lnSpc>
              <a:spcBef>
                <a:spcPts val="35"/>
              </a:spcBef>
              <a:buNone/>
            </a:pPr>
            <a:r>
              <a:rPr kern="0" spc="-40" dirty="0">
                <a:solidFill>
                  <a:srgbClr val="000000">
                    <a:alpha val="100000"/>
                  </a:srgbClr>
                </a:solidFill>
                <a:latin typeface="Arial" panose="020B0604020202020204"/>
                <a:ea typeface="Arial" panose="020B0604020202020204"/>
                <a:cs typeface="Arial" panose="020B0604020202020204"/>
                <a:sym typeface="+mn-ea"/>
              </a:rPr>
              <a:t>•   </a:t>
            </a:r>
            <a:r>
              <a:rPr b="1" kern="0" spc="-40" dirty="0">
                <a:solidFill>
                  <a:srgbClr val="000000">
                    <a:alpha val="100000"/>
                  </a:srgbClr>
                </a:solidFill>
                <a:latin typeface="Tw Cen MT" panose="020B0602020104020603"/>
                <a:ea typeface="Tw Cen MT" panose="020B0602020104020603"/>
                <a:cs typeface="Tw Cen MT" panose="020B0602020104020603"/>
                <a:sym typeface="+mn-ea"/>
              </a:rPr>
              <a:t>Tes</a:t>
            </a:r>
            <a:r>
              <a:rPr b="1" kern="0" spc="30" dirty="0">
                <a:solidFill>
                  <a:srgbClr val="000000">
                    <a:alpha val="100000"/>
                  </a:srgbClr>
                </a:solidFill>
                <a:latin typeface="Tw Cen MT" panose="020B0602020104020603"/>
                <a:ea typeface="Tw Cen MT" panose="020B0602020104020603"/>
                <a:cs typeface="Tw Cen MT" panose="020B0602020104020603"/>
                <a:sym typeface="+mn-ea"/>
              </a:rPr>
              <a:t> </a:t>
            </a:r>
            <a:r>
              <a:rPr b="1" kern="0" spc="-40" dirty="0">
                <a:solidFill>
                  <a:srgbClr val="000000">
                    <a:alpha val="100000"/>
                  </a:srgbClr>
                </a:solidFill>
                <a:latin typeface="Tw Cen MT" panose="020B0602020104020603"/>
                <a:ea typeface="Tw Cen MT" panose="020B0602020104020603"/>
                <a:cs typeface="Tw Cen MT" panose="020B0602020104020603"/>
                <a:sym typeface="+mn-ea"/>
              </a:rPr>
              <a:t>tourniquet</a:t>
            </a:r>
            <a:r>
              <a:rPr b="1" kern="0" spc="90" dirty="0">
                <a:solidFill>
                  <a:srgbClr val="000000">
                    <a:alpha val="100000"/>
                  </a:srgbClr>
                </a:solidFill>
                <a:latin typeface="Tw Cen MT" panose="020B0602020104020603"/>
                <a:ea typeface="Tw Cen MT" panose="020B0602020104020603"/>
                <a:cs typeface="Tw Cen MT" panose="020B0602020104020603"/>
                <a:sym typeface="+mn-ea"/>
              </a:rPr>
              <a:t> </a:t>
            </a:r>
            <a:r>
              <a:rPr b="1" kern="0" spc="-40" dirty="0">
                <a:solidFill>
                  <a:srgbClr val="000000">
                    <a:alpha val="100000"/>
                  </a:srgbClr>
                </a:solidFill>
                <a:latin typeface="Tw Cen MT" panose="020B0602020104020603"/>
                <a:ea typeface="Tw Cen MT" panose="020B0602020104020603"/>
                <a:cs typeface="Tw Cen MT" panose="020B0602020104020603"/>
                <a:sym typeface="+mn-ea"/>
              </a:rPr>
              <a:t>positif</a:t>
            </a:r>
            <a:endParaRPr dirty="0">
              <a:latin typeface="Tw Cen MT" panose="020B0602020104020603"/>
              <a:ea typeface="Tw Cen MT" panose="020B0602020104020603"/>
              <a:cs typeface="Tw Cen MT" panose="020B0602020104020603"/>
            </a:endParaRPr>
          </a:p>
          <a:p>
            <a:pPr marL="0" indent="0" algn="l" rtl="0" eaLnBrk="0">
              <a:lnSpc>
                <a:spcPct val="72000"/>
              </a:lnSpc>
              <a:spcBef>
                <a:spcPts val="345"/>
              </a:spcBef>
              <a:buNone/>
            </a:pPr>
            <a:r>
              <a:rPr kern="0" spc="-50" dirty="0">
                <a:solidFill>
                  <a:srgbClr val="000000">
                    <a:alpha val="100000"/>
                  </a:srgbClr>
                </a:solidFill>
                <a:latin typeface="Arial" panose="020B0604020202020204"/>
                <a:ea typeface="Arial" panose="020B0604020202020204"/>
                <a:cs typeface="Arial" panose="020B0604020202020204"/>
                <a:sym typeface="+mn-ea"/>
              </a:rPr>
              <a:t>•</a:t>
            </a:r>
            <a:r>
              <a:rPr kern="0" spc="30" dirty="0">
                <a:solidFill>
                  <a:srgbClr val="000000">
                    <a:alpha val="100000"/>
                  </a:srgbClr>
                </a:solidFill>
                <a:latin typeface="Arial" panose="020B0604020202020204"/>
                <a:ea typeface="Arial" panose="020B0604020202020204"/>
                <a:cs typeface="Arial" panose="020B0604020202020204"/>
                <a:sym typeface="+mn-ea"/>
              </a:rPr>
              <a:t>   </a:t>
            </a:r>
            <a:r>
              <a:rPr b="1" kern="0" spc="-50" dirty="0">
                <a:solidFill>
                  <a:srgbClr val="000000">
                    <a:alpha val="100000"/>
                  </a:srgbClr>
                </a:solidFill>
                <a:latin typeface="Tw Cen MT" panose="020B0602020104020603"/>
                <a:ea typeface="Tw Cen MT" panose="020B0602020104020603"/>
                <a:cs typeface="Tw Cen MT" panose="020B0602020104020603"/>
                <a:sym typeface="+mn-ea"/>
              </a:rPr>
              <a:t>Leukopenia</a:t>
            </a:r>
            <a:endParaRPr dirty="0">
              <a:latin typeface="Tw Cen MT" panose="020B0602020104020603"/>
              <a:ea typeface="Tw Cen MT" panose="020B0602020104020603"/>
              <a:cs typeface="Tw Cen MT" panose="020B0602020104020603"/>
            </a:endParaRPr>
          </a:p>
          <a:p>
            <a:pPr marL="0" indent="0" algn="l" rtl="0" eaLnBrk="0">
              <a:lnSpc>
                <a:spcPts val="1500"/>
              </a:lnSpc>
              <a:spcBef>
                <a:spcPts val="20"/>
              </a:spcBef>
              <a:buNone/>
            </a:pPr>
            <a:r>
              <a:rPr kern="0" spc="-20" dirty="0">
                <a:solidFill>
                  <a:srgbClr val="000000">
                    <a:alpha val="100000"/>
                  </a:srgbClr>
                </a:solidFill>
                <a:latin typeface="Arial" panose="020B0604020202020204"/>
                <a:ea typeface="Arial" panose="020B0604020202020204"/>
                <a:cs typeface="Arial" panose="020B0604020202020204"/>
                <a:sym typeface="+mn-ea"/>
              </a:rPr>
              <a:t>•   </a:t>
            </a:r>
            <a:r>
              <a:rPr b="1" kern="0" spc="-20" dirty="0">
                <a:solidFill>
                  <a:srgbClr val="000000">
                    <a:alpha val="100000"/>
                  </a:srgbClr>
                </a:solidFill>
                <a:latin typeface="Tw Cen MT" panose="020B0602020104020603"/>
                <a:ea typeface="Tw Cen MT" panose="020B0602020104020603"/>
                <a:cs typeface="Tw Cen MT" panose="020B0602020104020603"/>
                <a:sym typeface="+mn-ea"/>
              </a:rPr>
              <a:t>Warning sign</a:t>
            </a:r>
            <a:r>
              <a:rPr b="1" kern="0" spc="60" dirty="0">
                <a:solidFill>
                  <a:srgbClr val="000000">
                    <a:alpha val="100000"/>
                  </a:srgbClr>
                </a:solidFill>
                <a:latin typeface="Tw Cen MT" panose="020B0602020104020603"/>
                <a:ea typeface="Tw Cen MT" panose="020B0602020104020603"/>
                <a:cs typeface="Tw Cen MT" panose="020B0602020104020603"/>
                <a:sym typeface="+mn-ea"/>
              </a:rPr>
              <a:t> </a:t>
            </a:r>
            <a:r>
              <a:rPr b="1" kern="0" spc="-20" dirty="0">
                <a:solidFill>
                  <a:srgbClr val="000000">
                    <a:alpha val="100000"/>
                  </a:srgbClr>
                </a:solidFill>
                <a:latin typeface="Tw Cen MT" panose="020B0602020104020603"/>
                <a:ea typeface="Tw Cen MT" panose="020B0602020104020603"/>
                <a:cs typeface="Tw Cen MT" panose="020B0602020104020603"/>
                <a:sym typeface="+mn-ea"/>
              </a:rPr>
              <a:t>apapu</a:t>
            </a:r>
            <a:r>
              <a:rPr b="1" kern="0" spc="-30" dirty="0">
                <a:solidFill>
                  <a:srgbClr val="000000">
                    <a:alpha val="100000"/>
                  </a:srgbClr>
                </a:solidFill>
                <a:latin typeface="Tw Cen MT" panose="020B0602020104020603"/>
                <a:ea typeface="Tw Cen MT" panose="020B0602020104020603"/>
                <a:cs typeface="Tw Cen MT" panose="020B0602020104020603"/>
                <a:sym typeface="+mn-ea"/>
              </a:rPr>
              <a:t>n</a:t>
            </a:r>
            <a:endParaRPr dirty="0">
              <a:latin typeface="Tw Cen MT" panose="020B0602020104020603"/>
              <a:ea typeface="Tw Cen MT" panose="020B0602020104020603"/>
              <a:cs typeface="Tw Cen MT" panose="020B0602020104020603"/>
            </a:endParaRPr>
          </a:p>
          <a:p>
            <a:pPr marL="18415" indent="0" algn="l" rtl="0" eaLnBrk="0">
              <a:lnSpc>
                <a:spcPct val="98000"/>
              </a:lnSpc>
              <a:spcBef>
                <a:spcPts val="1410"/>
              </a:spcBef>
              <a:buNone/>
            </a:pPr>
            <a:r>
              <a:rPr b="1" kern="0" dirty="0">
                <a:solidFill>
                  <a:srgbClr val="000000">
                    <a:alpha val="100000"/>
                  </a:srgbClr>
                </a:solidFill>
                <a:latin typeface="Tw Cen MT" panose="020B0602020104020603"/>
                <a:ea typeface="Tw Cen MT" panose="020B0602020104020603"/>
                <a:cs typeface="Tw Cen MT" panose="020B0602020104020603"/>
                <a:sym typeface="+mn-ea"/>
              </a:rPr>
              <a:t>Konfirmasi laboratoriu</a:t>
            </a:r>
            <a:r>
              <a:rPr b="1" kern="0" spc="-10" dirty="0">
                <a:solidFill>
                  <a:srgbClr val="000000">
                    <a:alpha val="100000"/>
                  </a:srgbClr>
                </a:solidFill>
                <a:latin typeface="Tw Cen MT" panose="020B0602020104020603"/>
                <a:ea typeface="Tw Cen MT" panose="020B0602020104020603"/>
                <a:cs typeface="Tw Cen MT" panose="020B0602020104020603"/>
                <a:sym typeface="+mn-ea"/>
              </a:rPr>
              <a:t>m dengue  </a:t>
            </a:r>
            <a:r>
              <a:rPr b="1" kern="0" spc="-20" dirty="0">
                <a:solidFill>
                  <a:srgbClr val="000000">
                    <a:alpha val="100000"/>
                  </a:srgbClr>
                </a:solidFill>
                <a:latin typeface="Tw Cen MT" panose="020B0602020104020603"/>
                <a:ea typeface="Tw Cen MT" panose="020B0602020104020603"/>
                <a:cs typeface="Tw Cen MT" panose="020B0602020104020603"/>
                <a:sym typeface="+mn-ea"/>
              </a:rPr>
              <a:t>Penting ketika tidak</a:t>
            </a:r>
            <a:r>
              <a:rPr b="1" kern="0" spc="60" dirty="0">
                <a:solidFill>
                  <a:srgbClr val="000000">
                    <a:alpha val="100000"/>
                  </a:srgbClr>
                </a:solidFill>
                <a:latin typeface="Tw Cen MT" panose="020B0602020104020603"/>
                <a:ea typeface="Tw Cen MT" panose="020B0602020104020603"/>
                <a:cs typeface="Tw Cen MT" panose="020B0602020104020603"/>
                <a:sym typeface="+mn-ea"/>
              </a:rPr>
              <a:t> </a:t>
            </a:r>
            <a:r>
              <a:rPr b="1" kern="0" spc="-20" dirty="0">
                <a:solidFill>
                  <a:srgbClr val="000000">
                    <a:alpha val="100000"/>
                  </a:srgbClr>
                </a:solidFill>
                <a:latin typeface="Tw Cen MT" panose="020B0602020104020603"/>
                <a:ea typeface="Tw Cen MT" panose="020B0602020104020603"/>
                <a:cs typeface="Tw Cen MT" panose="020B0602020104020603"/>
                <a:sym typeface="+mn-ea"/>
              </a:rPr>
              <a:t>ad</a:t>
            </a:r>
            <a:r>
              <a:rPr b="1" kern="0" spc="-30" dirty="0">
                <a:solidFill>
                  <a:srgbClr val="000000">
                    <a:alpha val="100000"/>
                  </a:srgbClr>
                </a:solidFill>
                <a:latin typeface="Tw Cen MT" panose="020B0602020104020603"/>
                <a:ea typeface="Tw Cen MT" panose="020B0602020104020603"/>
                <a:cs typeface="Tw Cen MT" panose="020B0602020104020603"/>
                <a:sym typeface="+mn-ea"/>
              </a:rPr>
              <a:t>a</a:t>
            </a:r>
            <a:r>
              <a:rPr b="1" kern="0" spc="20" dirty="0">
                <a:solidFill>
                  <a:srgbClr val="000000">
                    <a:alpha val="100000"/>
                  </a:srgbClr>
                </a:solidFill>
                <a:latin typeface="Tw Cen MT" panose="020B0602020104020603"/>
                <a:ea typeface="Tw Cen MT" panose="020B0602020104020603"/>
                <a:cs typeface="Tw Cen MT" panose="020B0602020104020603"/>
                <a:sym typeface="+mn-ea"/>
              </a:rPr>
              <a:t> </a:t>
            </a:r>
            <a:r>
              <a:rPr b="1" kern="0" spc="-30" dirty="0">
                <a:solidFill>
                  <a:srgbClr val="000000">
                    <a:alpha val="100000"/>
                  </a:srgbClr>
                </a:solidFill>
                <a:latin typeface="Tw Cen MT" panose="020B0602020104020603"/>
                <a:ea typeface="Tw Cen MT" panose="020B0602020104020603"/>
                <a:cs typeface="Tw Cen MT" panose="020B0602020104020603"/>
                <a:sym typeface="+mn-ea"/>
              </a:rPr>
              <a:t>tanda</a:t>
            </a:r>
            <a:endParaRPr dirty="0">
              <a:latin typeface="Tw Cen MT" panose="020B0602020104020603"/>
              <a:ea typeface="Tw Cen MT" panose="020B0602020104020603"/>
              <a:cs typeface="Tw Cen MT" panose="020B0602020104020603"/>
            </a:endParaRPr>
          </a:p>
          <a:p>
            <a:pPr marL="0" indent="0" algn="l" rtl="0" eaLnBrk="0">
              <a:lnSpc>
                <a:spcPts val="1500"/>
              </a:lnSpc>
              <a:spcBef>
                <a:spcPts val="80"/>
              </a:spcBef>
              <a:buNone/>
            </a:pPr>
            <a:r>
              <a:rPr b="1" kern="0" spc="-40" dirty="0">
                <a:solidFill>
                  <a:srgbClr val="000000">
                    <a:alpha val="100000"/>
                  </a:srgbClr>
                </a:solidFill>
                <a:latin typeface="Tw Cen MT" panose="020B0602020104020603"/>
                <a:ea typeface="Tw Cen MT" panose="020B0602020104020603"/>
                <a:cs typeface="Tw Cen MT" panose="020B0602020104020603"/>
                <a:sym typeface="+mn-ea"/>
              </a:rPr>
              <a:t>kebocoran</a:t>
            </a:r>
            <a:r>
              <a:rPr b="1" kern="0" spc="80" dirty="0">
                <a:solidFill>
                  <a:srgbClr val="000000">
                    <a:alpha val="100000"/>
                  </a:srgbClr>
                </a:solidFill>
                <a:latin typeface="Tw Cen MT" panose="020B0602020104020603"/>
                <a:ea typeface="Tw Cen MT" panose="020B0602020104020603"/>
                <a:cs typeface="Tw Cen MT" panose="020B0602020104020603"/>
                <a:sym typeface="+mn-ea"/>
              </a:rPr>
              <a:t> </a:t>
            </a:r>
            <a:r>
              <a:rPr b="1" kern="0" spc="-40" dirty="0">
                <a:solidFill>
                  <a:srgbClr val="000000">
                    <a:alpha val="100000"/>
                  </a:srgbClr>
                </a:solidFill>
                <a:latin typeface="Tw Cen MT" panose="020B0602020104020603"/>
                <a:ea typeface="Tw Cen MT" panose="020B0602020104020603"/>
                <a:cs typeface="Tw Cen MT" panose="020B0602020104020603"/>
                <a:sym typeface="+mn-ea"/>
              </a:rPr>
              <a:t>plas</a:t>
            </a:r>
            <a:r>
              <a:rPr b="1" kern="0" spc="-50" dirty="0">
                <a:solidFill>
                  <a:srgbClr val="000000">
                    <a:alpha val="100000"/>
                  </a:srgbClr>
                </a:solidFill>
                <a:latin typeface="Tw Cen MT" panose="020B0602020104020603"/>
                <a:ea typeface="Tw Cen MT" panose="020B0602020104020603"/>
                <a:cs typeface="Tw Cen MT" panose="020B0602020104020603"/>
                <a:sym typeface="+mn-ea"/>
              </a:rPr>
              <a:t>ma</a:t>
            </a:r>
            <a:endParaRPr dirty="0">
              <a:latin typeface="Tw Cen MT" panose="020B0602020104020603"/>
              <a:ea typeface="Tw Cen MT" panose="020B0602020104020603"/>
              <a:cs typeface="Tw Cen MT" panose="020B0602020104020603"/>
            </a:endParaRPr>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Warning signs*</a:t>
            </a:r>
            <a:endParaRPr lang="en-US"/>
          </a:p>
        </p:txBody>
      </p:sp>
      <p:sp>
        <p:nvSpPr>
          <p:cNvPr id="3" name="Content Placeholder 2"/>
          <p:cNvSpPr>
            <a:spLocks noGrp="1"/>
          </p:cNvSpPr>
          <p:nvPr>
            <p:ph idx="1"/>
          </p:nvPr>
        </p:nvSpPr>
        <p:spPr/>
        <p:txBody>
          <a:bodyPr>
            <a:normAutofit fontScale="25000"/>
          </a:bodyPr>
          <a:p>
            <a:pPr marL="0" indent="0">
              <a:buNone/>
            </a:pPr>
            <a:r>
              <a:rPr lang="en-US" altLang="en-US" sz="5600"/>
              <a:t>• Nyeri perut dan nyeri tekan perut</a:t>
            </a:r>
            <a:endParaRPr lang="en-US" altLang="en-US" sz="5600"/>
          </a:p>
          <a:p>
            <a:pPr marL="0" indent="0">
              <a:buNone/>
            </a:pPr>
            <a:r>
              <a:rPr lang="en-US" altLang="en-US" sz="5600"/>
              <a:t>• Muntah presisten</a:t>
            </a:r>
            <a:endParaRPr lang="en-US" altLang="en-US" sz="5600"/>
          </a:p>
          <a:p>
            <a:pPr marL="0" indent="0">
              <a:buNone/>
            </a:pPr>
            <a:r>
              <a:rPr lang="en-US" altLang="en-US" sz="5600"/>
              <a:t>• Klinis akumulasi cairan</a:t>
            </a:r>
            <a:endParaRPr lang="en-US" altLang="en-US" sz="5600"/>
          </a:p>
          <a:p>
            <a:pPr marL="0" indent="0">
              <a:buNone/>
            </a:pPr>
            <a:r>
              <a:rPr lang="en-US" altLang="en-US" sz="5600"/>
              <a:t>• Perdarahan mukosa</a:t>
            </a:r>
            <a:endParaRPr lang="en-US" altLang="en-US" sz="5600"/>
          </a:p>
          <a:p>
            <a:pPr marL="0" indent="0">
              <a:buNone/>
            </a:pPr>
            <a:r>
              <a:rPr lang="en-US" altLang="en-US" sz="5600"/>
              <a:t>• Letargi, gelisah</a:t>
            </a:r>
            <a:endParaRPr lang="en-US" altLang="en-US" sz="5600"/>
          </a:p>
          <a:p>
            <a:pPr marL="0" indent="0">
              <a:buNone/>
            </a:pPr>
            <a:r>
              <a:rPr lang="en-US" altLang="en-US" sz="5600"/>
              <a:t>• Pembesaran hepar &gt;2 cm</a:t>
            </a:r>
            <a:endParaRPr lang="en-US" altLang="en-US" sz="5600"/>
          </a:p>
          <a:p>
            <a:pPr marL="0" indent="0">
              <a:buNone/>
            </a:pPr>
            <a:r>
              <a:rPr lang="en-US" altLang="en-US" sz="5600"/>
              <a:t>• Laboratorium: peningkatan Ht </a:t>
            </a:r>
            <a:endParaRPr lang="en-US" altLang="en-US" sz="5600"/>
          </a:p>
          <a:p>
            <a:pPr marL="0" indent="0">
              <a:buNone/>
            </a:pPr>
            <a:r>
              <a:rPr lang="en-US" altLang="en-US" sz="5600"/>
              <a:t>dengan penurunan trombosit yang </a:t>
            </a:r>
            <a:endParaRPr lang="en-US" altLang="en-US" sz="5600"/>
          </a:p>
          <a:p>
            <a:pPr marL="0" indent="0">
              <a:buNone/>
            </a:pPr>
            <a:r>
              <a:rPr lang="en-US" altLang="en-US" sz="5600"/>
              <a:t>cepat</a:t>
            </a:r>
            <a:endParaRPr lang="en-US" altLang="en-US" sz="5600"/>
          </a:p>
          <a:p>
            <a:pPr marL="0" indent="0">
              <a:buNone/>
            </a:pPr>
            <a:r>
              <a:rPr lang="en-US" altLang="en-US" sz="5600" b="1"/>
              <a:t>(memerlukan observasi ketat dan </a:t>
            </a:r>
            <a:endParaRPr lang="en-US" altLang="en-US" sz="5600" b="1"/>
          </a:p>
          <a:p>
            <a:pPr marL="0" indent="0">
              <a:buNone/>
            </a:pPr>
            <a:r>
              <a:rPr lang="en-US" altLang="en-US" sz="5600" b="1"/>
              <a:t>intervensi medis)</a:t>
            </a:r>
            <a:endParaRPr lang="en-US" altLang="en-US" sz="5600"/>
          </a:p>
          <a:p>
            <a:pPr marL="0" indent="0">
              <a:buNone/>
            </a:pP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43355" y="804545"/>
            <a:ext cx="6571615" cy="559435"/>
          </a:xfrm>
        </p:spPr>
        <p:txBody>
          <a:bodyPr>
            <a:normAutofit fontScale="90000"/>
          </a:bodyPr>
          <a:p>
            <a:r>
              <a:rPr lang="en-US" altLang="en-US"/>
              <a:t>KRITERIA UNTUK SEVERE DENGUE</a:t>
            </a:r>
            <a:endParaRPr lang="en-US" altLang="en-US"/>
          </a:p>
        </p:txBody>
      </p:sp>
      <p:sp>
        <p:nvSpPr>
          <p:cNvPr id="3" name="Content Placeholder 2"/>
          <p:cNvSpPr>
            <a:spLocks noGrp="1"/>
          </p:cNvSpPr>
          <p:nvPr>
            <p:ph idx="1"/>
          </p:nvPr>
        </p:nvSpPr>
        <p:spPr>
          <a:xfrm>
            <a:off x="1443355" y="1265555"/>
            <a:ext cx="6571615" cy="4318000"/>
          </a:xfrm>
        </p:spPr>
        <p:txBody>
          <a:bodyPr>
            <a:noAutofit/>
          </a:bodyPr>
          <a:p>
            <a:pPr marL="0" indent="0">
              <a:buNone/>
            </a:pPr>
            <a:r>
              <a:rPr lang="en-US" altLang="en-US" sz="1200"/>
              <a:t>kebocoran plasma berat</a:t>
            </a:r>
            <a:endParaRPr lang="en-US" altLang="en-US" sz="1200"/>
          </a:p>
          <a:p>
            <a:pPr marL="0" indent="0">
              <a:buNone/>
            </a:pPr>
            <a:r>
              <a:rPr lang="en-US" altLang="en-US" sz="1200"/>
              <a:t>menyebabkan:</a:t>
            </a:r>
            <a:endParaRPr lang="en-US" altLang="en-US" sz="1200"/>
          </a:p>
          <a:p>
            <a:pPr marL="0" indent="0">
              <a:buNone/>
            </a:pPr>
            <a:r>
              <a:rPr lang="en-US" altLang="en-US" sz="1200"/>
              <a:t>• Syok (DSS)</a:t>
            </a:r>
            <a:endParaRPr lang="en-US" altLang="en-US" sz="1200"/>
          </a:p>
          <a:p>
            <a:pPr marL="0" indent="0">
              <a:buNone/>
            </a:pPr>
            <a:r>
              <a:rPr lang="en-US" altLang="en-US" sz="1200"/>
              <a:t>• Akumulasi cairan dengan distres </a:t>
            </a:r>
            <a:endParaRPr lang="en-US" altLang="en-US" sz="1200"/>
          </a:p>
          <a:p>
            <a:pPr marL="0" indent="0">
              <a:buNone/>
            </a:pPr>
            <a:r>
              <a:rPr lang="en-US" altLang="en-US" sz="1200"/>
              <a:t>pernapasan</a:t>
            </a:r>
            <a:endParaRPr lang="en-US" altLang="en-US" sz="1200"/>
          </a:p>
          <a:p>
            <a:pPr marL="0" indent="0">
              <a:buNone/>
            </a:pPr>
            <a:r>
              <a:rPr lang="en-US" altLang="en-US" sz="1200"/>
              <a:t>Perdarahan hebat</a:t>
            </a:r>
            <a:endParaRPr lang="en-US" altLang="en-US" sz="1200"/>
          </a:p>
          <a:p>
            <a:pPr marL="0" indent="0">
              <a:buNone/>
            </a:pPr>
            <a:r>
              <a:rPr lang="en-US" altLang="en-US" sz="1200"/>
              <a:t>Dievaluasi oleh klinisi</a:t>
            </a:r>
            <a:endParaRPr lang="en-US" altLang="en-US" sz="1200"/>
          </a:p>
          <a:p>
            <a:pPr marL="0" indent="0">
              <a:buNone/>
            </a:pPr>
            <a:r>
              <a:rPr lang="en-US" altLang="en-US" sz="1200"/>
              <a:t>Kerusakan organ berat</a:t>
            </a:r>
            <a:endParaRPr lang="en-US" altLang="en-US" sz="1200"/>
          </a:p>
          <a:p>
            <a:pPr marL="0" indent="0">
              <a:buNone/>
            </a:pPr>
            <a:r>
              <a:rPr lang="en-US" altLang="en-US" sz="1200"/>
              <a:t>• Hati: AST atau ALT &gt;= 1000</a:t>
            </a:r>
            <a:endParaRPr lang="en-US" altLang="en-US" sz="1200"/>
          </a:p>
          <a:p>
            <a:pPr marL="0" indent="0">
              <a:buNone/>
            </a:pPr>
            <a:r>
              <a:rPr lang="en-US" altLang="en-US" sz="1200"/>
              <a:t>• SSP: penurnan kesadaran</a:t>
            </a:r>
            <a:endParaRPr lang="en-US" altLang="en-US" sz="1200"/>
          </a:p>
          <a:p>
            <a:pPr marL="0" indent="0">
              <a:buNone/>
            </a:pPr>
            <a:r>
              <a:rPr lang="en-US" altLang="en-US" sz="1200"/>
              <a:t>• Jantung dan organ lainnya</a:t>
            </a:r>
            <a:endParaRPr lang="en-US" alt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7924800" cy="2590801"/>
          </a:xfrm>
        </p:spPr>
        <p:txBody>
          <a:bodyPr>
            <a:noAutofit/>
          </a:bodyPr>
          <a:lstStyle/>
          <a:p>
            <a:pPr algn="ctr"/>
            <a:r>
              <a:rPr lang="en-US" sz="3000" dirty="0"/>
              <a:t>STUDI KASUS</a:t>
            </a:r>
            <a:br>
              <a:rPr lang="en-US" sz="3000" dirty="0"/>
            </a:br>
            <a:br>
              <a:rPr lang="en-US" sz="3000" dirty="0"/>
            </a:br>
            <a:endParaRPr lang="en-US" sz="3000" dirty="0"/>
          </a:p>
        </p:txBody>
      </p:sp>
      <p:sp>
        <p:nvSpPr>
          <p:cNvPr id="3" name="Subtitle 2"/>
          <p:cNvSpPr>
            <a:spLocks noGrp="1"/>
          </p:cNvSpPr>
          <p:nvPr>
            <p:ph type="subTitle" idx="1"/>
          </p:nvPr>
        </p:nvSpPr>
        <p:spPr>
          <a:xfrm>
            <a:off x="1371600" y="2971800"/>
            <a:ext cx="6400800" cy="1143000"/>
          </a:xfrm>
        </p:spPr>
        <p:txBody>
          <a:bodyPr>
            <a:noAutofit/>
          </a:bodyPr>
          <a:lstStyle/>
          <a:p>
            <a:pPr algn="ctr"/>
            <a:r>
              <a:rPr lang="id-ID" sz="2400" dirty="0"/>
              <a:t>An. </a:t>
            </a:r>
            <a:r>
              <a:rPr lang="en-US" sz="2400" dirty="0"/>
              <a:t>A</a:t>
            </a:r>
            <a:r>
              <a:rPr lang="id-ID" sz="2400" dirty="0"/>
              <a:t>/ Perempuan/ 12 tahun </a:t>
            </a:r>
            <a:r>
              <a:rPr lang="en-US" sz="2400" dirty="0"/>
              <a:t> 7 bl 2 </a:t>
            </a:r>
            <a:r>
              <a:rPr lang="en-US" sz="2400" dirty="0" err="1"/>
              <a:t>hr</a:t>
            </a:r>
            <a:r>
              <a:rPr lang="en-US" sz="2400" dirty="0"/>
              <a:t> </a:t>
            </a:r>
            <a:r>
              <a:rPr lang="id-ID" sz="2400" dirty="0"/>
              <a:t>/ </a:t>
            </a:r>
            <a:r>
              <a:rPr lang="en-US" sz="2400" dirty="0"/>
              <a:t>63</a:t>
            </a:r>
            <a:r>
              <a:rPr lang="id-ID" sz="2400" dirty="0"/>
              <a:t> kg</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err="1"/>
              <a:t>Identitas</a:t>
            </a:r>
            <a:r>
              <a:rPr lang="en-US" dirty="0"/>
              <a:t> </a:t>
            </a:r>
            <a:r>
              <a:rPr lang="en-US" dirty="0" err="1"/>
              <a:t>Pasien</a:t>
            </a:r>
            <a:endParaRPr lang="en-US" dirty="0"/>
          </a:p>
        </p:txBody>
      </p:sp>
      <p:sp>
        <p:nvSpPr>
          <p:cNvPr id="3" name="Content Placeholder 2"/>
          <p:cNvSpPr>
            <a:spLocks noGrp="1"/>
          </p:cNvSpPr>
          <p:nvPr>
            <p:ph idx="1"/>
          </p:nvPr>
        </p:nvSpPr>
        <p:spPr/>
        <p:txBody>
          <a:bodyPr>
            <a:normAutofit fontScale="92500"/>
          </a:bodyPr>
          <a:lstStyle/>
          <a:p>
            <a:pPr marL="0" indent="0" algn="just">
              <a:buNone/>
            </a:pPr>
            <a:r>
              <a:rPr lang="en-US" dirty="0"/>
              <a:t>Nama 		: An. A</a:t>
            </a:r>
            <a:endParaRPr lang="en-US" dirty="0"/>
          </a:p>
          <a:p>
            <a:pPr marL="0" indent="0" algn="just">
              <a:buNone/>
            </a:pPr>
            <a:r>
              <a:rPr lang="en-US" dirty="0"/>
              <a:t>No. RM	: 117331</a:t>
            </a:r>
            <a:endParaRPr lang="en-US" dirty="0"/>
          </a:p>
          <a:p>
            <a:pPr marL="0" indent="0" algn="just">
              <a:buNone/>
            </a:pPr>
            <a:r>
              <a:rPr lang="en-US" dirty="0" err="1"/>
              <a:t>Tanggal</a:t>
            </a:r>
            <a:r>
              <a:rPr lang="en-US" dirty="0"/>
              <a:t> </a:t>
            </a:r>
            <a:r>
              <a:rPr lang="en-US" dirty="0" err="1"/>
              <a:t>lahir</a:t>
            </a:r>
            <a:r>
              <a:rPr lang="en-US" dirty="0"/>
              <a:t>	: 14 </a:t>
            </a:r>
            <a:r>
              <a:rPr lang="id-ID" dirty="0"/>
              <a:t> </a:t>
            </a:r>
            <a:r>
              <a:rPr lang="en-US" dirty="0"/>
              <a:t>November</a:t>
            </a:r>
            <a:r>
              <a:rPr lang="id-ID" dirty="0"/>
              <a:t> 201</a:t>
            </a:r>
            <a:r>
              <a:rPr lang="en-US" dirty="0"/>
              <a:t>2</a:t>
            </a:r>
            <a:endParaRPr lang="en-US" dirty="0"/>
          </a:p>
          <a:p>
            <a:pPr marL="0" indent="0" algn="just">
              <a:buNone/>
            </a:pPr>
            <a:r>
              <a:rPr lang="en-US" dirty="0" err="1"/>
              <a:t>Usia</a:t>
            </a:r>
            <a:r>
              <a:rPr lang="en-US" dirty="0"/>
              <a:t>		: </a:t>
            </a:r>
            <a:r>
              <a:rPr lang="id-ID" dirty="0"/>
              <a:t>12 tahun </a:t>
            </a:r>
            <a:r>
              <a:rPr lang="en-US" dirty="0"/>
              <a:t> 7 bl 2 </a:t>
            </a:r>
            <a:r>
              <a:rPr lang="en-US" dirty="0" err="1"/>
              <a:t>hr</a:t>
            </a:r>
            <a:endParaRPr lang="en-US" dirty="0"/>
          </a:p>
          <a:p>
            <a:pPr marL="2965450" indent="-2965450" algn="just">
              <a:buNone/>
            </a:pPr>
            <a:r>
              <a:rPr lang="en-US" dirty="0"/>
              <a:t>Alamat          : </a:t>
            </a:r>
            <a:r>
              <a:rPr lang="en-US" dirty="0" err="1"/>
              <a:t>Sumbersari</a:t>
            </a:r>
            <a:r>
              <a:rPr lang="en-US" dirty="0"/>
              <a:t>, 072/011 </a:t>
            </a:r>
            <a:r>
              <a:rPr lang="en-US" dirty="0" err="1"/>
              <a:t>Giripurno</a:t>
            </a:r>
            <a:r>
              <a:rPr lang="en-US" dirty="0"/>
              <a:t>, </a:t>
            </a:r>
            <a:r>
              <a:rPr lang="en-US" dirty="0" err="1"/>
              <a:t>Bumiaji</a:t>
            </a:r>
            <a:r>
              <a:rPr lang="en-US" dirty="0"/>
              <a:t>, Kota Batu</a:t>
            </a:r>
            <a:endParaRPr lang="en-US" dirty="0"/>
          </a:p>
          <a:p>
            <a:pPr marL="2965450" indent="-2965450" algn="just">
              <a:buNone/>
            </a:pPr>
            <a:r>
              <a:rPr lang="en-US" dirty="0"/>
              <a:t>MRS              : </a:t>
            </a:r>
            <a:r>
              <a:rPr lang="id-ID" dirty="0"/>
              <a:t>1</a:t>
            </a:r>
            <a:r>
              <a:rPr lang="en-US" dirty="0"/>
              <a:t>6</a:t>
            </a:r>
            <a:r>
              <a:rPr lang="id-ID" dirty="0"/>
              <a:t> Juni 20</a:t>
            </a:r>
            <a:r>
              <a:rPr lang="en-US" dirty="0"/>
              <a:t>25</a:t>
            </a:r>
            <a:endParaRPr lang="en-US" dirty="0"/>
          </a:p>
          <a:p>
            <a:pPr marL="2965450" indent="-2965450" algn="just">
              <a:buNone/>
            </a:pPr>
            <a:r>
              <a:rPr lang="en-US" dirty="0"/>
              <a:t>Lama </a:t>
            </a:r>
            <a:r>
              <a:rPr lang="en-US" dirty="0" err="1"/>
              <a:t>Perawatan</a:t>
            </a:r>
            <a:r>
              <a:rPr lang="en-US" dirty="0"/>
              <a:t> :  4 </a:t>
            </a:r>
            <a:r>
              <a:rPr lang="id-ID" dirty="0"/>
              <a:t>hari</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sz="2600" b="1" i="1" dirty="0" err="1"/>
              <a:t>Keluhan</a:t>
            </a:r>
            <a:r>
              <a:rPr lang="en-US" sz="2600" b="1" i="1" dirty="0"/>
              <a:t> </a:t>
            </a:r>
            <a:r>
              <a:rPr lang="en-US" sz="2600" b="1" i="1" dirty="0" err="1"/>
              <a:t>utama</a:t>
            </a:r>
            <a:r>
              <a:rPr lang="en-US" sz="2600" b="1" i="1" dirty="0"/>
              <a:t> saat masuk RS</a:t>
            </a:r>
            <a:r>
              <a:rPr lang="en-US" dirty="0"/>
              <a:t>:</a:t>
            </a:r>
            <a:endParaRPr lang="en-US" dirty="0"/>
          </a:p>
          <a:p>
            <a:pPr marL="0" indent="0">
              <a:buNone/>
            </a:pPr>
            <a:r>
              <a:rPr lang="en-US" dirty="0"/>
              <a:t>    </a:t>
            </a:r>
            <a:r>
              <a:rPr lang="en-US" dirty="0" err="1"/>
              <a:t>Lemas</a:t>
            </a:r>
            <a:r>
              <a:rPr lang="en-US" dirty="0"/>
              <a:t>, </a:t>
            </a:r>
            <a:r>
              <a:rPr lang="en-US" dirty="0" err="1"/>
              <a:t>Demam</a:t>
            </a:r>
            <a:r>
              <a:rPr lang="en-US" dirty="0"/>
              <a:t> 3 </a:t>
            </a:r>
            <a:r>
              <a:rPr lang="en-US" dirty="0" err="1"/>
              <a:t>hari</a:t>
            </a:r>
            <a:r>
              <a:rPr lang="en-US" dirty="0"/>
              <a:t>, Nyeri ulu </a:t>
            </a:r>
            <a:r>
              <a:rPr lang="en-US" dirty="0" err="1"/>
              <a:t>hati</a:t>
            </a:r>
            <a:r>
              <a:rPr lang="en-US" dirty="0"/>
              <a:t> (+), </a:t>
            </a:r>
            <a:r>
              <a:rPr lang="en-US" dirty="0" err="1"/>
              <a:t>mual</a:t>
            </a:r>
            <a:r>
              <a:rPr lang="en-US" dirty="0"/>
              <a:t> (+), </a:t>
            </a:r>
            <a:r>
              <a:rPr lang="en-US" dirty="0" err="1"/>
              <a:t>muntah</a:t>
            </a:r>
            <a:r>
              <a:rPr lang="en-US" dirty="0"/>
              <a:t> (+), </a:t>
            </a:r>
            <a:r>
              <a:rPr lang="en-US" dirty="0" err="1"/>
              <a:t>mimisan</a:t>
            </a:r>
            <a:r>
              <a:rPr lang="en-US" dirty="0"/>
              <a:t> (-), </a:t>
            </a:r>
            <a:r>
              <a:rPr lang="en-US" dirty="0" err="1"/>
              <a:t>gusi</a:t>
            </a:r>
            <a:r>
              <a:rPr lang="en-US" dirty="0"/>
              <a:t> </a:t>
            </a:r>
            <a:r>
              <a:rPr lang="en-US" dirty="0" err="1"/>
              <a:t>berdarah</a:t>
            </a:r>
            <a:r>
              <a:rPr lang="en-US" dirty="0"/>
              <a:t> (-)</a:t>
            </a:r>
            <a:endParaRPr lang="en-US" sz="2600" dirty="0"/>
          </a:p>
          <a:p>
            <a:r>
              <a:rPr lang="en-US" sz="2600" b="1" i="1" dirty="0"/>
              <a:t>Riwayat </a:t>
            </a:r>
            <a:r>
              <a:rPr lang="en-US" sz="2600" b="1" i="1" dirty="0" err="1"/>
              <a:t>penyakit</a:t>
            </a:r>
            <a:r>
              <a:rPr lang="en-US" sz="2600" b="1" i="1" dirty="0"/>
              <a:t> </a:t>
            </a:r>
            <a:r>
              <a:rPr lang="en-US" sz="2600" b="1" i="1" dirty="0" err="1"/>
              <a:t>sekarang</a:t>
            </a:r>
            <a:endParaRPr lang="en-US" sz="2600" b="1" i="1" dirty="0"/>
          </a:p>
          <a:p>
            <a:pPr marL="0" indent="0" algn="just">
              <a:buNone/>
            </a:pPr>
            <a:r>
              <a:rPr lang="en-US" sz="2600" dirty="0" err="1"/>
              <a:t>saat dikaji sebelumnya Pasien</a:t>
            </a:r>
            <a:r>
              <a:rPr lang="en-US" sz="2600" dirty="0"/>
              <a:t> d</a:t>
            </a:r>
            <a:r>
              <a:rPr lang="id-ID" sz="2600" dirty="0"/>
              <a:t>emam</a:t>
            </a:r>
            <a:r>
              <a:rPr lang="en-US" sz="2600" dirty="0"/>
              <a:t> 7</a:t>
            </a:r>
            <a:r>
              <a:rPr lang="id-ID" sz="2600" dirty="0"/>
              <a:t> hari</a:t>
            </a:r>
            <a:r>
              <a:rPr lang="en-US" sz="2600" dirty="0"/>
              <a:t>, tidak nafsu makan </a:t>
            </a:r>
            <a:r>
              <a:rPr lang="en-US" sz="2600" dirty="0" err="1"/>
              <a:t>dibawa</a:t>
            </a:r>
            <a:r>
              <a:rPr lang="en-US" sz="2600" dirty="0"/>
              <a:t> orang </a:t>
            </a:r>
            <a:r>
              <a:rPr lang="en-US" sz="2600" dirty="0" err="1"/>
              <a:t>tua</a:t>
            </a:r>
            <a:r>
              <a:rPr lang="en-US" sz="2600" dirty="0"/>
              <a:t> </a:t>
            </a:r>
            <a:r>
              <a:rPr lang="en-US" sz="2600" dirty="0" err="1"/>
              <a:t>berobat</a:t>
            </a:r>
            <a:r>
              <a:rPr lang="en-US" sz="2600" dirty="0"/>
              <a:t> </a:t>
            </a:r>
            <a:r>
              <a:rPr lang="en-US" sz="2600" dirty="0" err="1"/>
              <a:t>ke</a:t>
            </a:r>
            <a:r>
              <a:rPr lang="en-US" sz="2600" dirty="0"/>
              <a:t> </a:t>
            </a:r>
            <a:r>
              <a:rPr lang="en-US" sz="2600" dirty="0" err="1"/>
              <a:t>praktik</a:t>
            </a:r>
            <a:r>
              <a:rPr lang="en-US" sz="2600" dirty="0"/>
              <a:t> </a:t>
            </a:r>
            <a:r>
              <a:rPr lang="en-US" sz="2600" dirty="0" err="1"/>
              <a:t>dokter</a:t>
            </a:r>
            <a:r>
              <a:rPr lang="en-US" sz="2600" dirty="0"/>
              <a:t> </a:t>
            </a:r>
            <a:r>
              <a:rPr lang="en-US" sz="2600" dirty="0" err="1"/>
              <a:t>umum</a:t>
            </a:r>
            <a:r>
              <a:rPr lang="en-US" sz="2600" dirty="0"/>
              <a:t>, </a:t>
            </a:r>
            <a:r>
              <a:rPr lang="en-US" sz="2600" dirty="0" err="1"/>
              <a:t>kemudian</a:t>
            </a:r>
            <a:r>
              <a:rPr lang="en-US" sz="2600" dirty="0"/>
              <a:t> </a:t>
            </a:r>
            <a:r>
              <a:rPr lang="en-US" sz="2600" dirty="0" err="1"/>
              <a:t>demam</a:t>
            </a:r>
            <a:r>
              <a:rPr lang="en-US" sz="2600" dirty="0"/>
              <a:t> </a:t>
            </a:r>
            <a:r>
              <a:rPr lang="en-US" sz="2600" dirty="0" err="1"/>
              <a:t>turun</a:t>
            </a:r>
            <a:r>
              <a:rPr lang="en-US" sz="2600" dirty="0"/>
              <a:t>. D</a:t>
            </a:r>
            <a:r>
              <a:rPr lang="id-ID" sz="2600" dirty="0"/>
              <a:t>emam </a:t>
            </a:r>
            <a:r>
              <a:rPr lang="en-US" sz="2600" dirty="0" err="1"/>
              <a:t>mendadak</a:t>
            </a:r>
            <a:r>
              <a:rPr lang="en-US" sz="2600" dirty="0"/>
              <a:t> </a:t>
            </a:r>
            <a:r>
              <a:rPr lang="en-US" sz="2600" dirty="0" err="1"/>
              <a:t>tinggi</a:t>
            </a:r>
            <a:r>
              <a:rPr lang="en-US" sz="2600" dirty="0"/>
              <a:t> </a:t>
            </a:r>
            <a:r>
              <a:rPr lang="en-US" sz="2600" dirty="0" err="1"/>
              <a:t>lagi</a:t>
            </a:r>
            <a:r>
              <a:rPr lang="en-US" sz="2600" dirty="0"/>
              <a:t> </a:t>
            </a:r>
            <a:r>
              <a:rPr lang="en-US" sz="2600" dirty="0" err="1"/>
              <a:t>selama</a:t>
            </a:r>
            <a:r>
              <a:rPr lang="en-US" sz="2600" dirty="0"/>
              <a:t> 3 </a:t>
            </a:r>
            <a:r>
              <a:rPr lang="en-US" sz="2600" dirty="0" err="1"/>
              <a:t>hari</a:t>
            </a:r>
            <a:r>
              <a:rPr lang="id-ID" sz="2600" dirty="0"/>
              <a:t>, turun sebe</a:t>
            </a:r>
            <a:r>
              <a:rPr lang="en-US" sz="2600" dirty="0"/>
              <a:t>n</a:t>
            </a:r>
            <a:r>
              <a:rPr lang="id-ID" sz="2600" dirty="0"/>
              <a:t>tar dengan obat tetapi naik lagi, </a:t>
            </a:r>
            <a:r>
              <a:rPr lang="en-US" sz="2600" dirty="0" err="1"/>
              <a:t>kemudian</a:t>
            </a:r>
            <a:r>
              <a:rPr lang="en-US" sz="2600" dirty="0"/>
              <a:t> </a:t>
            </a:r>
            <a:r>
              <a:rPr lang="en-US" sz="2600" dirty="0" err="1"/>
              <a:t>dibawa</a:t>
            </a:r>
            <a:r>
              <a:rPr lang="en-US" sz="2600" dirty="0"/>
              <a:t> </a:t>
            </a:r>
            <a:r>
              <a:rPr lang="en-US" sz="2600" dirty="0" err="1"/>
              <a:t>ke</a:t>
            </a:r>
            <a:r>
              <a:rPr lang="en-US" sz="2600" dirty="0"/>
              <a:t> </a:t>
            </a:r>
            <a:r>
              <a:rPr lang="en-US" sz="2600" dirty="0" err="1"/>
              <a:t>puskesmas</a:t>
            </a:r>
            <a:r>
              <a:rPr lang="en-US" sz="2600" dirty="0"/>
              <a:t> </a:t>
            </a:r>
            <a:r>
              <a:rPr lang="en-US" sz="2600" dirty="0" err="1"/>
              <a:t>Bumiaji</a:t>
            </a:r>
            <a:r>
              <a:rPr lang="en-US" sz="2600" dirty="0"/>
              <a:t>, dan </a:t>
            </a:r>
            <a:r>
              <a:rPr lang="en-US" sz="2600" dirty="0" err="1"/>
              <a:t>diperiksa</a:t>
            </a:r>
            <a:r>
              <a:rPr lang="en-US" sz="2600" dirty="0"/>
              <a:t> lab. </a:t>
            </a:r>
            <a:r>
              <a:rPr lang="en-US" sz="2600" dirty="0" err="1"/>
              <a:t>Kemudian</a:t>
            </a:r>
            <a:r>
              <a:rPr lang="en-US" sz="2600" dirty="0"/>
              <a:t> </a:t>
            </a:r>
            <a:r>
              <a:rPr lang="en-US" sz="2600" dirty="0" err="1"/>
              <a:t>pasien</a:t>
            </a:r>
            <a:r>
              <a:rPr lang="en-US" sz="2600" dirty="0"/>
              <a:t> </a:t>
            </a:r>
            <a:r>
              <a:rPr lang="en-US" sz="2600" dirty="0" err="1"/>
              <a:t>dirujuk</a:t>
            </a:r>
            <a:r>
              <a:rPr lang="en-US" sz="2600" dirty="0"/>
              <a:t> </a:t>
            </a:r>
            <a:r>
              <a:rPr lang="en-US" sz="2600" dirty="0" err="1"/>
              <a:t>ke</a:t>
            </a:r>
            <a:r>
              <a:rPr lang="en-US" sz="2600" dirty="0"/>
              <a:t> IGD RS Hasta </a:t>
            </a:r>
            <a:r>
              <a:rPr lang="en-US" sz="2600" dirty="0" err="1"/>
              <a:t>Brata</a:t>
            </a:r>
            <a:r>
              <a:rPr lang="en-US" sz="2600" dirty="0"/>
              <a:t>.</a:t>
            </a:r>
            <a:endParaRPr lang="en-US" sz="2600" dirty="0"/>
          </a:p>
          <a:p>
            <a:pPr marL="0" indent="0" algn="just">
              <a:buNone/>
            </a:pPr>
            <a:r>
              <a:rPr lang="en-US" sz="2600" dirty="0" err="1"/>
              <a:t>Saat</a:t>
            </a:r>
            <a:r>
              <a:rPr lang="en-US" sz="2600" dirty="0"/>
              <a:t> </a:t>
            </a:r>
            <a:r>
              <a:rPr lang="en-US" sz="2600" dirty="0" err="1"/>
              <a:t>tiba</a:t>
            </a:r>
            <a:r>
              <a:rPr lang="en-US" sz="2600" dirty="0"/>
              <a:t> di </a:t>
            </a:r>
            <a:r>
              <a:rPr lang="en-US" sz="2600" dirty="0" err="1"/>
              <a:t>Rumah</a:t>
            </a:r>
            <a:r>
              <a:rPr lang="en-US" sz="2600" dirty="0"/>
              <a:t> </a:t>
            </a:r>
            <a:r>
              <a:rPr lang="en-US" sz="2600" dirty="0" err="1"/>
              <a:t>Sakit</a:t>
            </a:r>
            <a:r>
              <a:rPr lang="en-US" sz="2600" dirty="0"/>
              <a:t>, </a:t>
            </a:r>
            <a:r>
              <a:rPr lang="en-US" sz="2600" dirty="0" err="1"/>
              <a:t>pasien</a:t>
            </a:r>
            <a:r>
              <a:rPr lang="en-US" sz="2600" dirty="0"/>
              <a:t> </a:t>
            </a:r>
            <a:r>
              <a:rPr lang="en-US" sz="2600" dirty="0" err="1"/>
              <a:t>keringat</a:t>
            </a:r>
            <a:r>
              <a:rPr lang="en-US" sz="2600" dirty="0"/>
              <a:t> </a:t>
            </a:r>
            <a:r>
              <a:rPr lang="en-US" sz="2600" dirty="0" err="1"/>
              <a:t>dingin</a:t>
            </a:r>
            <a:r>
              <a:rPr lang="en-US" sz="2600" dirty="0"/>
              <a:t>, </a:t>
            </a:r>
            <a:r>
              <a:rPr lang="en-US" sz="2600" dirty="0" err="1"/>
              <a:t>akral</a:t>
            </a:r>
            <a:r>
              <a:rPr lang="en-US" sz="2600" dirty="0"/>
              <a:t> </a:t>
            </a:r>
            <a:r>
              <a:rPr lang="en-US" sz="2600" dirty="0" err="1"/>
              <a:t>dingin</a:t>
            </a:r>
            <a:r>
              <a:rPr lang="en-US" sz="2600" dirty="0"/>
              <a:t>, </a:t>
            </a:r>
            <a:r>
              <a:rPr lang="en-US" sz="2600" dirty="0" err="1"/>
              <a:t>sesak</a:t>
            </a:r>
            <a:r>
              <a:rPr lang="en-US" sz="2600" dirty="0"/>
              <a:t> </a:t>
            </a:r>
            <a:r>
              <a:rPr lang="en-US" sz="2600" dirty="0" err="1"/>
              <a:t>nafas</a:t>
            </a:r>
            <a:r>
              <a:rPr lang="en-US" sz="2600" dirty="0"/>
              <a:t>, </a:t>
            </a:r>
            <a:r>
              <a:rPr lang="en-US" sz="2600" dirty="0" err="1"/>
              <a:t>pusing</a:t>
            </a:r>
            <a:r>
              <a:rPr lang="en-US" sz="2600" dirty="0"/>
              <a:t>. </a:t>
            </a:r>
            <a:r>
              <a:rPr lang="en-US" sz="2600" dirty="0" err="1"/>
              <a:t>Lemas</a:t>
            </a:r>
            <a:r>
              <a:rPr lang="en-US" sz="2600" dirty="0"/>
              <a:t>, Nyeri ulu </a:t>
            </a:r>
            <a:r>
              <a:rPr lang="en-US" sz="2600" dirty="0" err="1"/>
              <a:t>hati</a:t>
            </a:r>
            <a:r>
              <a:rPr lang="en-US" sz="2600" dirty="0"/>
              <a:t> (+), </a:t>
            </a:r>
            <a:r>
              <a:rPr lang="en-US" sz="2600" dirty="0" err="1"/>
              <a:t>mual</a:t>
            </a:r>
            <a:r>
              <a:rPr lang="en-US" sz="2600" dirty="0"/>
              <a:t> (+), </a:t>
            </a:r>
            <a:r>
              <a:rPr lang="en-US" sz="2600" dirty="0" err="1"/>
              <a:t>muntah</a:t>
            </a:r>
            <a:r>
              <a:rPr lang="en-US" sz="2600" dirty="0"/>
              <a:t> (+), </a:t>
            </a:r>
            <a:r>
              <a:rPr lang="en-US" sz="2600" dirty="0" err="1"/>
              <a:t>mimisan</a:t>
            </a:r>
            <a:r>
              <a:rPr lang="en-US" sz="2600" dirty="0"/>
              <a:t> (-), </a:t>
            </a:r>
            <a:r>
              <a:rPr lang="en-US" sz="2600" dirty="0" err="1"/>
              <a:t>gusi</a:t>
            </a:r>
            <a:r>
              <a:rPr lang="en-US" sz="2600" dirty="0"/>
              <a:t> </a:t>
            </a:r>
            <a:r>
              <a:rPr lang="en-US" sz="2600" dirty="0" err="1"/>
              <a:t>berdarah</a:t>
            </a:r>
            <a:r>
              <a:rPr lang="en-US" sz="2600" dirty="0"/>
              <a:t> (-). </a:t>
            </a:r>
            <a:endParaRPr lang="en-US" sz="3200" dirty="0"/>
          </a:p>
          <a:p>
            <a:pPr marL="0" indent="0" algn="just">
              <a:buNone/>
            </a:pP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marL="0" lvl="0" indent="0">
              <a:buNone/>
            </a:pPr>
            <a:r>
              <a:rPr lang="id-ID" sz="2400" dirty="0">
                <a:solidFill>
                  <a:prstClr val="black"/>
                </a:solidFill>
              </a:rPr>
              <a:t>Riwayat penyakit dahulu: tidak didapatkan, pasien belum pernah masuk rumah sakit sebelumnya</a:t>
            </a:r>
            <a:endParaRPr lang="id-ID" sz="2400" dirty="0">
              <a:solidFill>
                <a:prstClr val="black"/>
              </a:solidFill>
            </a:endParaRPr>
          </a:p>
          <a:p>
            <a:pPr marL="0" lvl="0" indent="0">
              <a:buNone/>
            </a:pPr>
            <a:r>
              <a:rPr lang="id-ID" sz="2400" dirty="0">
                <a:solidFill>
                  <a:prstClr val="black"/>
                </a:solidFill>
              </a:rPr>
              <a:t>Riwayat terapi : </a:t>
            </a:r>
            <a:r>
              <a:rPr lang="en-US" sz="2400" dirty="0" err="1">
                <a:solidFill>
                  <a:prstClr val="black"/>
                </a:solidFill>
              </a:rPr>
              <a:t>keluarga</a:t>
            </a:r>
            <a:r>
              <a:rPr lang="en-US" sz="2400" dirty="0">
                <a:solidFill>
                  <a:prstClr val="black"/>
                </a:solidFill>
              </a:rPr>
              <a:t> </a:t>
            </a:r>
            <a:r>
              <a:rPr lang="en-US" sz="2400" dirty="0" err="1">
                <a:solidFill>
                  <a:prstClr val="black"/>
                </a:solidFill>
              </a:rPr>
              <a:t>tidak</a:t>
            </a:r>
            <a:r>
              <a:rPr lang="en-US" sz="2400" dirty="0">
                <a:solidFill>
                  <a:prstClr val="black"/>
                </a:solidFill>
              </a:rPr>
              <a:t> </a:t>
            </a:r>
            <a:r>
              <a:rPr lang="en-US" sz="2400" dirty="0" err="1">
                <a:solidFill>
                  <a:prstClr val="black"/>
                </a:solidFill>
              </a:rPr>
              <a:t>mengingat</a:t>
            </a:r>
            <a:r>
              <a:rPr lang="en-US" sz="2400" dirty="0">
                <a:solidFill>
                  <a:prstClr val="black"/>
                </a:solidFill>
              </a:rPr>
              <a:t> </a:t>
            </a:r>
            <a:r>
              <a:rPr lang="en-US" sz="2400" dirty="0" err="1">
                <a:solidFill>
                  <a:prstClr val="black"/>
                </a:solidFill>
              </a:rPr>
              <a:t>obat</a:t>
            </a:r>
            <a:r>
              <a:rPr lang="en-US" sz="2400" dirty="0">
                <a:solidFill>
                  <a:prstClr val="black"/>
                </a:solidFill>
              </a:rPr>
              <a:t> yang </a:t>
            </a:r>
            <a:r>
              <a:rPr lang="en-US" sz="2400" dirty="0" err="1">
                <a:solidFill>
                  <a:prstClr val="black"/>
                </a:solidFill>
              </a:rPr>
              <a:t>diberikan</a:t>
            </a:r>
            <a:r>
              <a:rPr lang="en-US" sz="2400" dirty="0">
                <a:solidFill>
                  <a:prstClr val="black"/>
                </a:solidFill>
              </a:rPr>
              <a:t> </a:t>
            </a:r>
            <a:r>
              <a:rPr lang="en-US" sz="2400" dirty="0" err="1">
                <a:solidFill>
                  <a:prstClr val="black"/>
                </a:solidFill>
              </a:rPr>
              <a:t>sebelumnya</a:t>
            </a:r>
            <a:r>
              <a:rPr lang="en-US" sz="2400" dirty="0">
                <a:solidFill>
                  <a:prstClr val="black"/>
                </a:solidFill>
              </a:rPr>
              <a:t>.</a:t>
            </a:r>
            <a:endParaRPr lang="id-ID" sz="2400" dirty="0">
              <a:solidFill>
                <a:prstClr val="black"/>
              </a:solidFill>
            </a:endParaRPr>
          </a:p>
          <a:p>
            <a:pPr marL="0" lvl="0" indent="0">
              <a:buNone/>
            </a:pPr>
            <a:r>
              <a:rPr lang="id-ID" sz="2400" dirty="0">
                <a:solidFill>
                  <a:prstClr val="black"/>
                </a:solidFill>
              </a:rPr>
              <a:t>Riwayat tetangga dengan demam berdarah tidak diketahui</a:t>
            </a:r>
            <a:endParaRPr lang="id-ID" sz="2400" dirty="0">
              <a:solidFill>
                <a:prstClr val="black"/>
              </a:solidFill>
            </a:endParaRPr>
          </a:p>
          <a:p>
            <a:pPr marL="0" lvl="0" indent="0">
              <a:buNone/>
            </a:pPr>
            <a:r>
              <a:rPr lang="id-ID" sz="2400" dirty="0">
                <a:solidFill>
                  <a:prstClr val="black"/>
                </a:solidFill>
              </a:rPr>
              <a:t>R.Alergi : -</a:t>
            </a:r>
            <a:endParaRPr lang="id-ID" sz="2400" dirty="0">
              <a:solidFill>
                <a:prstClr val="black"/>
              </a:solidFill>
            </a:endParaRPr>
          </a:p>
          <a:p>
            <a:pPr marL="0" lvl="0" indent="0">
              <a:buNone/>
            </a:pPr>
            <a:r>
              <a:rPr lang="id-ID" sz="2400" dirty="0">
                <a:solidFill>
                  <a:prstClr val="black"/>
                </a:solidFill>
              </a:rPr>
              <a:t>Riwayat intake : </a:t>
            </a:r>
            <a:r>
              <a:rPr lang="en-US" sz="2400" dirty="0">
                <a:solidFill>
                  <a:prstClr val="black"/>
                </a:solidFill>
              </a:rPr>
              <a:t> </a:t>
            </a:r>
            <a:r>
              <a:rPr lang="id-ID" sz="2400" dirty="0">
                <a:solidFill>
                  <a:prstClr val="black"/>
                </a:solidFill>
              </a:rPr>
              <a:t>ASI mulai lahir hingga 2 tahun, makan makanan kelurga umur 14 bulan, saat ini intake nasi dengan lauk pauk dan sayur tiga kali sehari</a:t>
            </a:r>
            <a:endParaRPr lang="id-ID" sz="2400" dirty="0">
              <a:solidFill>
                <a:prstClr val="black"/>
              </a:solidFill>
            </a:endParaRPr>
          </a:p>
          <a:p>
            <a:pPr marL="0" lvl="0" indent="0">
              <a:buNone/>
            </a:pPr>
            <a:endParaRPr lang="en-US" sz="2400" dirty="0">
              <a:solidFill>
                <a:prstClr val="black"/>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id-ID"/>
          </a:p>
        </p:txBody>
      </p:sp>
      <p:sp>
        <p:nvSpPr>
          <p:cNvPr id="3" name="Content Placeholder 2"/>
          <p:cNvSpPr>
            <a:spLocks noGrp="1"/>
          </p:cNvSpPr>
          <p:nvPr>
            <p:ph idx="1"/>
          </p:nvPr>
        </p:nvSpPr>
        <p:spPr/>
        <p:txBody>
          <a:bodyPr/>
          <a:lstStyle/>
          <a:p>
            <a:r>
              <a:rPr lang="id-ID" dirty="0"/>
              <a:t>Riwayat sosial : </a:t>
            </a:r>
            <a:r>
              <a:rPr lang="en-US" dirty="0" err="1"/>
              <a:t>Pasien</a:t>
            </a:r>
            <a:r>
              <a:rPr lang="en-US" dirty="0"/>
              <a:t> </a:t>
            </a:r>
            <a:r>
              <a:rPr lang="en-US" dirty="0" err="1"/>
              <a:t>dua</a:t>
            </a:r>
            <a:r>
              <a:rPr lang="en-US" dirty="0"/>
              <a:t> </a:t>
            </a:r>
            <a:r>
              <a:rPr lang="en-US" dirty="0" err="1"/>
              <a:t>bersaudara</a:t>
            </a:r>
            <a:r>
              <a:rPr lang="en-US" dirty="0"/>
              <a:t>, </a:t>
            </a:r>
            <a:r>
              <a:rPr lang="en-US" dirty="0" err="1"/>
              <a:t>adik</a:t>
            </a:r>
            <a:r>
              <a:rPr lang="en-US" dirty="0"/>
              <a:t> </a:t>
            </a:r>
            <a:r>
              <a:rPr lang="en-US" dirty="0" err="1"/>
              <a:t>pasien</a:t>
            </a:r>
            <a:r>
              <a:rPr lang="en-US" dirty="0"/>
              <a:t> </a:t>
            </a:r>
            <a:r>
              <a:rPr lang="en-US" dirty="0" err="1"/>
              <a:t>meninggal</a:t>
            </a:r>
            <a:r>
              <a:rPr lang="en-US" dirty="0"/>
              <a:t> </a:t>
            </a:r>
            <a:r>
              <a:rPr lang="en-US" dirty="0" err="1"/>
              <a:t>saat</a:t>
            </a:r>
            <a:r>
              <a:rPr lang="en-US" dirty="0"/>
              <a:t> </a:t>
            </a:r>
            <a:r>
              <a:rPr lang="en-US" dirty="0" err="1"/>
              <a:t>lahir</a:t>
            </a:r>
            <a:endParaRPr lang="en-US" dirty="0"/>
          </a:p>
          <a:p>
            <a:pPr marL="0" indent="0">
              <a:buNone/>
            </a:pPr>
            <a:r>
              <a:rPr lang="en-US" dirty="0"/>
              <a:t>    A</a:t>
            </a:r>
            <a:r>
              <a:rPr lang="id-ID" dirty="0"/>
              <a:t>yah </a:t>
            </a:r>
            <a:r>
              <a:rPr lang="en-US" dirty="0"/>
              <a:t>:</a:t>
            </a:r>
            <a:r>
              <a:rPr lang="id-ID" dirty="0"/>
              <a:t> </a:t>
            </a:r>
            <a:r>
              <a:rPr lang="en-US" sz="1600" dirty="0"/>
              <a:t>PBPU DAN BP PEMERINTAH DAERAH</a:t>
            </a:r>
            <a:endParaRPr lang="id-ID" dirty="0"/>
          </a:p>
          <a:p>
            <a:pPr marL="0" indent="0">
              <a:buNone/>
            </a:pPr>
            <a:r>
              <a:rPr lang="id-ID" dirty="0"/>
              <a:t>    </a:t>
            </a:r>
            <a:r>
              <a:rPr lang="en-US" dirty="0"/>
              <a:t>I</a:t>
            </a:r>
            <a:r>
              <a:rPr lang="id-ID" dirty="0"/>
              <a:t>bu, </a:t>
            </a:r>
            <a:r>
              <a:rPr lang="en-US" dirty="0"/>
              <a:t>SLTA</a:t>
            </a:r>
            <a:r>
              <a:rPr lang="id-ID" dirty="0"/>
              <a:t>, ibu rumah tangga( tidak bekerja)</a:t>
            </a:r>
            <a:endParaRPr lang="id-ID"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7258"/>
            <a:ext cx="8229600" cy="609600"/>
          </a:xfrm>
        </p:spPr>
        <p:txBody>
          <a:bodyPr>
            <a:normAutofit/>
          </a:bodyPr>
          <a:lstStyle/>
          <a:p>
            <a:r>
              <a:rPr lang="en-US">
                <a:solidFill>
                  <a:srgbClr val="FFC000"/>
                </a:solidFill>
              </a:rPr>
              <a:t>RIWAYAT PENYAKIT</a:t>
            </a:r>
            <a:endParaRPr lang="en-US">
              <a:solidFill>
                <a:srgbClr val="FFC000"/>
              </a:solidFill>
            </a:endParaRPr>
          </a:p>
        </p:txBody>
      </p:sp>
      <p:sp>
        <p:nvSpPr>
          <p:cNvPr id="4" name="Slide Number Placeholder 3"/>
          <p:cNvSpPr>
            <a:spLocks noGrp="1"/>
          </p:cNvSpPr>
          <p:nvPr>
            <p:ph type="sldNum" sz="quarter" idx="12"/>
          </p:nvPr>
        </p:nvSpPr>
        <p:spPr/>
        <p:txBody>
          <a:bodyPr/>
          <a:lstStyle/>
          <a:p>
            <a:fld id="{DA13877C-9873-4582-B830-C22B7FAF0E5F}" type="slidenum">
              <a:rPr lang="en-US" smtClean="0"/>
            </a:fld>
            <a:endParaRPr lang="en-US"/>
          </a:p>
        </p:txBody>
      </p:sp>
      <p:cxnSp>
        <p:nvCxnSpPr>
          <p:cNvPr id="6" name="Straight Connector 5"/>
          <p:cNvCxnSpPr/>
          <p:nvPr/>
        </p:nvCxnSpPr>
        <p:spPr>
          <a:xfrm>
            <a:off x="342900" y="5259388"/>
            <a:ext cx="8153400" cy="0"/>
          </a:xfrm>
          <a:prstGeom prst="line">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0" y="1362060"/>
            <a:ext cx="2819400" cy="400110"/>
          </a:xfrm>
          <a:prstGeom prst="rect">
            <a:avLst/>
          </a:prstGeom>
          <a:solidFill>
            <a:schemeClr val="bg1"/>
          </a:solidFill>
          <a:ln>
            <a:solidFill>
              <a:schemeClr val="tx1"/>
            </a:solidFill>
          </a:ln>
        </p:spPr>
        <p:txBody>
          <a:bodyPr wrap="square" rtlCol="0">
            <a:spAutoFit/>
          </a:bodyPr>
          <a:lstStyle/>
          <a:p>
            <a:endParaRPr lang="en-US" sz="2000">
              <a:solidFill>
                <a:schemeClr val="tx1">
                  <a:lumMod val="95000"/>
                </a:schemeClr>
              </a:solidFill>
            </a:endParaRPr>
          </a:p>
        </p:txBody>
      </p:sp>
      <p:sp>
        <p:nvSpPr>
          <p:cNvPr id="8" name="Down Arrow 7"/>
          <p:cNvSpPr/>
          <p:nvPr/>
        </p:nvSpPr>
        <p:spPr>
          <a:xfrm>
            <a:off x="731520" y="4089627"/>
            <a:ext cx="762000" cy="12192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flipV="1">
            <a:off x="457200" y="5333998"/>
            <a:ext cx="45719" cy="4571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962400" y="5181600"/>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p:cNvSpPr/>
          <p:nvPr/>
        </p:nvSpPr>
        <p:spPr>
          <a:xfrm>
            <a:off x="3438070" y="4077494"/>
            <a:ext cx="762000" cy="12192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6000545" y="312370"/>
            <a:ext cx="2232661" cy="2800767"/>
          </a:xfrm>
          <a:prstGeom prst="rect">
            <a:avLst/>
          </a:prstGeom>
          <a:solidFill>
            <a:schemeClr val="bg1"/>
          </a:solidFill>
          <a:ln>
            <a:solidFill>
              <a:schemeClr val="tx1"/>
            </a:solidFill>
          </a:ln>
        </p:spPr>
        <p:txBody>
          <a:bodyPr wrap="square" rtlCol="0">
            <a:spAutoFit/>
          </a:bodyPr>
          <a:lstStyle/>
          <a:p>
            <a:r>
              <a:rPr lang="en-US" sz="1600" dirty="0"/>
              <a:t>k/u </a:t>
            </a:r>
            <a:r>
              <a:rPr lang="en-US" sz="1600" dirty="0" err="1"/>
              <a:t>lemah</a:t>
            </a:r>
            <a:r>
              <a:rPr lang="en-US" sz="1600" dirty="0"/>
              <a:t>, </a:t>
            </a:r>
            <a:r>
              <a:rPr lang="id-ID" sz="1600" dirty="0"/>
              <a:t>Sesak,</a:t>
            </a:r>
            <a:r>
              <a:rPr lang="en-US" sz="1600" dirty="0"/>
              <a:t> </a:t>
            </a:r>
            <a:r>
              <a:rPr lang="en-US" sz="1600" dirty="0" err="1"/>
              <a:t>akral</a:t>
            </a:r>
            <a:r>
              <a:rPr lang="en-US" sz="1600" dirty="0"/>
              <a:t> </a:t>
            </a:r>
            <a:r>
              <a:rPr lang="en-US" sz="1600" dirty="0" err="1"/>
              <a:t>dingin</a:t>
            </a:r>
            <a:r>
              <a:rPr lang="id-ID" sz="1600" dirty="0"/>
              <a:t>,</a:t>
            </a:r>
            <a:r>
              <a:rPr lang="en-US" sz="1600" dirty="0"/>
              <a:t> </a:t>
            </a:r>
            <a:r>
              <a:rPr lang="en-US" sz="1600" dirty="0" err="1"/>
              <a:t>nadi</a:t>
            </a:r>
            <a:r>
              <a:rPr lang="en-US" sz="1600" dirty="0"/>
              <a:t> </a:t>
            </a:r>
            <a:r>
              <a:rPr lang="en-US" sz="1600" dirty="0" err="1"/>
              <a:t>tidak</a:t>
            </a:r>
            <a:r>
              <a:rPr lang="en-US" sz="1600" dirty="0"/>
              <a:t> </a:t>
            </a:r>
            <a:r>
              <a:rPr lang="en-US" sz="1600" dirty="0" err="1"/>
              <a:t>teraba</a:t>
            </a:r>
            <a:r>
              <a:rPr lang="en-US" sz="1600" dirty="0"/>
              <a:t>, </a:t>
            </a:r>
            <a:r>
              <a:rPr lang="en-US" sz="1600" dirty="0" err="1"/>
              <a:t>kerigat</a:t>
            </a:r>
            <a:r>
              <a:rPr lang="en-US" sz="1600" dirty="0"/>
              <a:t> </a:t>
            </a:r>
            <a:r>
              <a:rPr lang="en-US" sz="1600" dirty="0" err="1"/>
              <a:t>dingin</a:t>
            </a:r>
            <a:r>
              <a:rPr lang="en-US" sz="1600" dirty="0"/>
              <a:t>, </a:t>
            </a:r>
            <a:r>
              <a:rPr lang="en-US" sz="1600" dirty="0" err="1"/>
              <a:t>tensi</a:t>
            </a:r>
            <a:r>
              <a:rPr lang="en-US" sz="1600" dirty="0"/>
              <a:t> 100/80(</a:t>
            </a:r>
            <a:r>
              <a:rPr lang="en-US" sz="1600" dirty="0" err="1"/>
              <a:t>kadang</a:t>
            </a:r>
            <a:r>
              <a:rPr lang="en-US" sz="1600" dirty="0"/>
              <a:t> </a:t>
            </a:r>
            <a:r>
              <a:rPr lang="en-US" sz="1600" dirty="0" err="1"/>
              <a:t>terbaca</a:t>
            </a:r>
            <a:r>
              <a:rPr lang="en-US" sz="1600" dirty="0"/>
              <a:t>, </a:t>
            </a:r>
            <a:r>
              <a:rPr lang="en-US" sz="1600" dirty="0" err="1"/>
              <a:t>kadang</a:t>
            </a:r>
            <a:r>
              <a:rPr lang="en-US" sz="1600" dirty="0"/>
              <a:t> </a:t>
            </a:r>
            <a:r>
              <a:rPr lang="en-US" sz="1600" dirty="0" err="1"/>
              <a:t>tidak</a:t>
            </a:r>
            <a:r>
              <a:rPr lang="en-US" sz="1600" dirty="0"/>
              <a:t>),  Spo2 91%, RR36x/</a:t>
            </a:r>
            <a:r>
              <a:rPr lang="en-US" sz="1600" dirty="0" err="1"/>
              <a:t>mnt</a:t>
            </a:r>
            <a:r>
              <a:rPr lang="en-US" sz="1600" dirty="0"/>
              <a:t>, Rp +/+, </a:t>
            </a:r>
            <a:r>
              <a:rPr lang="en-US" sz="1600" dirty="0" err="1"/>
              <a:t>Rc</a:t>
            </a:r>
            <a:r>
              <a:rPr lang="en-US" sz="1600" dirty="0"/>
              <a:t> +/+, Pupil 3mm/3mm </a:t>
            </a:r>
            <a:r>
              <a:rPr lang="en-US" sz="1600" dirty="0" err="1"/>
              <a:t>isokor</a:t>
            </a:r>
            <a:r>
              <a:rPr lang="en-US" sz="1600" dirty="0"/>
              <a:t>, </a:t>
            </a:r>
            <a:r>
              <a:rPr lang="en-US" sz="1600" dirty="0" err="1"/>
              <a:t>retraksi</a:t>
            </a:r>
            <a:r>
              <a:rPr lang="en-US" sz="1600" dirty="0"/>
              <a:t> -, s1s2 </a:t>
            </a:r>
            <a:r>
              <a:rPr lang="en-US" sz="1600" dirty="0" err="1"/>
              <a:t>tysal</a:t>
            </a:r>
            <a:r>
              <a:rPr lang="en-US" sz="1600" dirty="0"/>
              <a:t> </a:t>
            </a:r>
            <a:r>
              <a:rPr lang="en-US" sz="1600" dirty="0" err="1"/>
              <a:t>vesikuler</a:t>
            </a:r>
            <a:r>
              <a:rPr lang="en-US" sz="1600" dirty="0"/>
              <a:t>, rh ---/--- </a:t>
            </a:r>
            <a:r>
              <a:rPr lang="en-US" sz="1600" dirty="0" err="1"/>
              <a:t>wh</a:t>
            </a:r>
            <a:r>
              <a:rPr lang="en-US" sz="1600" dirty="0"/>
              <a:t>---/---, abdomen </a:t>
            </a:r>
            <a:r>
              <a:rPr lang="en-US" sz="1600" dirty="0" err="1"/>
              <a:t>datar</a:t>
            </a:r>
            <a:r>
              <a:rPr lang="en-US" sz="1600" dirty="0"/>
              <a:t>, </a:t>
            </a:r>
            <a:r>
              <a:rPr lang="en-US" sz="1600" dirty="0" err="1"/>
              <a:t>nyeri</a:t>
            </a:r>
            <a:r>
              <a:rPr lang="en-US" sz="1600" dirty="0"/>
              <a:t> </a:t>
            </a:r>
            <a:r>
              <a:rPr lang="en-US" sz="1600" dirty="0" err="1"/>
              <a:t>tekan</a:t>
            </a:r>
            <a:r>
              <a:rPr lang="en-US" sz="1600" dirty="0"/>
              <a:t> epigastric +.</a:t>
            </a:r>
            <a:endParaRPr lang="en-US" sz="1600" dirty="0"/>
          </a:p>
        </p:txBody>
      </p:sp>
      <p:sp>
        <p:nvSpPr>
          <p:cNvPr id="17" name="Down Arrow 16"/>
          <p:cNvSpPr/>
          <p:nvPr/>
        </p:nvSpPr>
        <p:spPr>
          <a:xfrm>
            <a:off x="6654800" y="3796885"/>
            <a:ext cx="762000" cy="12192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6654165" y="5396865"/>
            <a:ext cx="1579245" cy="645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dirty="0">
                <a:solidFill>
                  <a:schemeClr val="bg1"/>
                </a:solidFill>
              </a:rPr>
              <a:t>RSB HASTA BRATA</a:t>
            </a:r>
            <a:endParaRPr lang="en-US" dirty="0">
              <a:solidFill>
                <a:schemeClr val="bg1"/>
              </a:solidFill>
            </a:endParaRPr>
          </a:p>
        </p:txBody>
      </p:sp>
      <p:sp>
        <p:nvSpPr>
          <p:cNvPr id="3" name="Rectangle 2"/>
          <p:cNvSpPr/>
          <p:nvPr/>
        </p:nvSpPr>
        <p:spPr>
          <a:xfrm>
            <a:off x="185055" y="3796885"/>
            <a:ext cx="1872343" cy="762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 </a:t>
            </a:r>
            <a:r>
              <a:rPr lang="id-ID" dirty="0">
                <a:solidFill>
                  <a:schemeClr val="bg1"/>
                </a:solidFill>
              </a:rPr>
              <a:t> hari sebelum masuk rumah sakit</a:t>
            </a:r>
            <a:endParaRPr lang="en-US" dirty="0">
              <a:solidFill>
                <a:schemeClr val="bg1"/>
              </a:solidFill>
            </a:endParaRPr>
          </a:p>
        </p:txBody>
      </p:sp>
      <p:sp>
        <p:nvSpPr>
          <p:cNvPr id="5" name="Rectangle 4"/>
          <p:cNvSpPr/>
          <p:nvPr/>
        </p:nvSpPr>
        <p:spPr>
          <a:xfrm>
            <a:off x="2819399" y="3192781"/>
            <a:ext cx="2232661" cy="8458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 </a:t>
            </a:r>
            <a:endParaRPr lang="en-US" dirty="0">
              <a:solidFill>
                <a:schemeClr val="bg1"/>
              </a:solidFill>
            </a:endParaRPr>
          </a:p>
          <a:p>
            <a:pPr algn="ctr"/>
            <a:r>
              <a:rPr lang="id-ID" dirty="0">
                <a:solidFill>
                  <a:schemeClr val="bg1"/>
                </a:solidFill>
              </a:rPr>
              <a:t>sebelum masuk rumah sakit</a:t>
            </a:r>
            <a:r>
              <a:rPr lang="en-US" dirty="0">
                <a:solidFill>
                  <a:schemeClr val="bg1"/>
                </a:solidFill>
              </a:rPr>
              <a:t> </a:t>
            </a:r>
            <a:r>
              <a:rPr lang="en-US" dirty="0" err="1">
                <a:solidFill>
                  <a:schemeClr val="bg1"/>
                </a:solidFill>
              </a:rPr>
              <a:t>periksa</a:t>
            </a:r>
            <a:r>
              <a:rPr lang="en-US" dirty="0">
                <a:solidFill>
                  <a:schemeClr val="bg1"/>
                </a:solidFill>
              </a:rPr>
              <a:t> di </a:t>
            </a:r>
            <a:r>
              <a:rPr lang="en-US" dirty="0" err="1">
                <a:solidFill>
                  <a:schemeClr val="bg1"/>
                </a:solidFill>
              </a:rPr>
              <a:t>pkm</a:t>
            </a:r>
            <a:r>
              <a:rPr lang="en-US" dirty="0">
                <a:solidFill>
                  <a:schemeClr val="bg1"/>
                </a:solidFill>
              </a:rPr>
              <a:t> </a:t>
            </a:r>
            <a:r>
              <a:rPr lang="en-US" dirty="0" err="1">
                <a:solidFill>
                  <a:schemeClr val="bg1"/>
                </a:solidFill>
              </a:rPr>
              <a:t>bumiaji</a:t>
            </a:r>
            <a:endParaRPr lang="id-ID" dirty="0">
              <a:solidFill>
                <a:schemeClr val="bg1"/>
              </a:solidFill>
            </a:endParaRPr>
          </a:p>
          <a:p>
            <a:pPr algn="ctr"/>
            <a:endParaRPr lang="en-US" dirty="0">
              <a:solidFill>
                <a:schemeClr val="bg1"/>
              </a:solidFill>
            </a:endParaRPr>
          </a:p>
        </p:txBody>
      </p:sp>
      <p:sp>
        <p:nvSpPr>
          <p:cNvPr id="9" name="Rectangle 8"/>
          <p:cNvSpPr/>
          <p:nvPr/>
        </p:nvSpPr>
        <p:spPr>
          <a:xfrm>
            <a:off x="6096000" y="3249303"/>
            <a:ext cx="1701800" cy="5475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a:solidFill>
                  <a:schemeClr val="bg1"/>
                </a:solidFill>
              </a:rPr>
              <a:t>Saat tiba di IGD</a:t>
            </a:r>
            <a:endParaRPr lang="en-US">
              <a:solidFill>
                <a:schemeClr val="bg1"/>
              </a:solidFill>
            </a:endParaRPr>
          </a:p>
        </p:txBody>
      </p:sp>
      <p:sp>
        <p:nvSpPr>
          <p:cNvPr id="20" name="Rectangle 19"/>
          <p:cNvSpPr/>
          <p:nvPr/>
        </p:nvSpPr>
        <p:spPr>
          <a:xfrm>
            <a:off x="342900" y="5379717"/>
            <a:ext cx="1714498" cy="9448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solidFill>
              </a:rPr>
              <a:t>Kontrol</a:t>
            </a:r>
            <a:r>
              <a:rPr lang="en-US" dirty="0">
                <a:solidFill>
                  <a:schemeClr val="bg1"/>
                </a:solidFill>
              </a:rPr>
              <a:t> </a:t>
            </a:r>
            <a:r>
              <a:rPr lang="en-US" dirty="0" err="1">
                <a:solidFill>
                  <a:schemeClr val="bg1"/>
                </a:solidFill>
              </a:rPr>
              <a:t>ke</a:t>
            </a:r>
            <a:r>
              <a:rPr lang="en-US" dirty="0">
                <a:solidFill>
                  <a:schemeClr val="bg1"/>
                </a:solidFill>
              </a:rPr>
              <a:t> </a:t>
            </a:r>
            <a:r>
              <a:rPr lang="en-US" dirty="0" err="1">
                <a:solidFill>
                  <a:schemeClr val="bg1"/>
                </a:solidFill>
              </a:rPr>
              <a:t>dr</a:t>
            </a:r>
            <a:r>
              <a:rPr lang="en-US" dirty="0">
                <a:solidFill>
                  <a:schemeClr val="bg1"/>
                </a:solidFill>
              </a:rPr>
              <a:t> </a:t>
            </a:r>
            <a:r>
              <a:rPr lang="en-US" dirty="0" err="1">
                <a:solidFill>
                  <a:schemeClr val="bg1"/>
                </a:solidFill>
              </a:rPr>
              <a:t>umum</a:t>
            </a:r>
            <a:r>
              <a:rPr lang="en-US" dirty="0">
                <a:solidFill>
                  <a:schemeClr val="bg1"/>
                </a:solidFill>
              </a:rPr>
              <a:t> </a:t>
            </a:r>
            <a:endParaRPr lang="id-ID" dirty="0">
              <a:solidFill>
                <a:schemeClr val="bg1"/>
              </a:solidFill>
            </a:endParaRPr>
          </a:p>
          <a:p>
            <a:pPr algn="ctr"/>
            <a:endParaRPr lang="en-US" dirty="0">
              <a:solidFill>
                <a:schemeClr val="bg1"/>
              </a:solidFill>
            </a:endParaRPr>
          </a:p>
        </p:txBody>
      </p:sp>
      <p:sp>
        <p:nvSpPr>
          <p:cNvPr id="25" name="Rectangle 24"/>
          <p:cNvSpPr/>
          <p:nvPr/>
        </p:nvSpPr>
        <p:spPr>
          <a:xfrm>
            <a:off x="2819399" y="5379717"/>
            <a:ext cx="1999343" cy="11734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bg1"/>
                </a:solidFill>
              </a:rPr>
              <a:t>Periksa</a:t>
            </a:r>
            <a:r>
              <a:rPr lang="en-US" sz="1400" dirty="0">
                <a:solidFill>
                  <a:schemeClr val="bg1"/>
                </a:solidFill>
              </a:rPr>
              <a:t> lab </a:t>
            </a:r>
            <a:r>
              <a:rPr lang="en-US" sz="1400" dirty="0" err="1">
                <a:solidFill>
                  <a:schemeClr val="bg1"/>
                </a:solidFill>
              </a:rPr>
              <a:t>DL,Rujuk</a:t>
            </a:r>
            <a:r>
              <a:rPr lang="en-US" sz="1400" dirty="0">
                <a:solidFill>
                  <a:schemeClr val="bg1"/>
                </a:solidFill>
              </a:rPr>
              <a:t> RS Hasta </a:t>
            </a:r>
            <a:r>
              <a:rPr lang="en-US" sz="1400" dirty="0" err="1">
                <a:solidFill>
                  <a:schemeClr val="bg1"/>
                </a:solidFill>
              </a:rPr>
              <a:t>Brata</a:t>
            </a:r>
            <a:endParaRPr lang="en-US" sz="1400" dirty="0">
              <a:solidFill>
                <a:schemeClr val="bg1"/>
              </a:solidFill>
            </a:endParaRPr>
          </a:p>
        </p:txBody>
      </p:sp>
      <p:sp>
        <p:nvSpPr>
          <p:cNvPr id="26" name="TextBox 25"/>
          <p:cNvSpPr txBox="1"/>
          <p:nvPr/>
        </p:nvSpPr>
        <p:spPr>
          <a:xfrm>
            <a:off x="2989943" y="609600"/>
            <a:ext cx="1828800" cy="1569660"/>
          </a:xfrm>
          <a:prstGeom prst="rect">
            <a:avLst/>
          </a:prstGeom>
          <a:solidFill>
            <a:schemeClr val="bg1"/>
          </a:solidFill>
          <a:ln>
            <a:solidFill>
              <a:schemeClr val="tx1"/>
            </a:solidFill>
          </a:ln>
        </p:spPr>
        <p:txBody>
          <a:bodyPr wrap="square" rtlCol="0">
            <a:spAutoFit/>
          </a:bodyPr>
          <a:lstStyle/>
          <a:p>
            <a:r>
              <a:rPr lang="en-US" sz="1600" dirty="0" err="1">
                <a:solidFill>
                  <a:schemeClr val="tx1">
                    <a:lumMod val="95000"/>
                  </a:schemeClr>
                </a:solidFill>
              </a:rPr>
              <a:t>Keluhan</a:t>
            </a:r>
            <a:r>
              <a:rPr lang="en-US" sz="1600" dirty="0">
                <a:solidFill>
                  <a:schemeClr val="tx1">
                    <a:lumMod val="95000"/>
                  </a:schemeClr>
                </a:solidFill>
              </a:rPr>
              <a:t> &gt;&gt;</a:t>
            </a:r>
            <a:endParaRPr lang="en-US" sz="1600" dirty="0">
              <a:solidFill>
                <a:schemeClr val="tx1">
                  <a:lumMod val="95000"/>
                </a:schemeClr>
              </a:solidFill>
            </a:endParaRPr>
          </a:p>
          <a:p>
            <a:r>
              <a:rPr lang="en-US" sz="1600" dirty="0" err="1">
                <a:solidFill>
                  <a:schemeClr val="tx1">
                    <a:lumMod val="95000"/>
                  </a:schemeClr>
                </a:solidFill>
              </a:rPr>
              <a:t>Demam</a:t>
            </a:r>
            <a:r>
              <a:rPr lang="en-US" sz="1600" dirty="0">
                <a:solidFill>
                  <a:schemeClr val="tx1">
                    <a:lumMod val="95000"/>
                  </a:schemeClr>
                </a:solidFill>
              </a:rPr>
              <a:t> 37,5, </a:t>
            </a:r>
            <a:r>
              <a:rPr lang="en-US" sz="1600" dirty="0"/>
              <a:t>Nyeri ulu </a:t>
            </a:r>
            <a:r>
              <a:rPr lang="en-US" sz="1600" dirty="0" err="1"/>
              <a:t>hati</a:t>
            </a:r>
            <a:r>
              <a:rPr lang="en-US" sz="1600" dirty="0"/>
              <a:t> (+), </a:t>
            </a:r>
            <a:r>
              <a:rPr lang="en-US" sz="1600" dirty="0" err="1"/>
              <a:t>mual</a:t>
            </a:r>
            <a:r>
              <a:rPr lang="en-US" sz="1600" dirty="0"/>
              <a:t> (+), </a:t>
            </a:r>
            <a:r>
              <a:rPr lang="en-US" sz="1600" dirty="0" err="1"/>
              <a:t>muntah</a:t>
            </a:r>
            <a:r>
              <a:rPr lang="en-US" sz="1600" dirty="0"/>
              <a:t> (+), </a:t>
            </a:r>
            <a:endParaRPr lang="en-US" sz="1400" dirty="0">
              <a:solidFill>
                <a:schemeClr val="tx1">
                  <a:lumMod val="95000"/>
                </a:schemeClr>
              </a:solidFill>
            </a:endParaRPr>
          </a:p>
          <a:p>
            <a:r>
              <a:rPr lang="id-ID" sz="1600" dirty="0">
                <a:solidFill>
                  <a:schemeClr val="tx1">
                    <a:lumMod val="95000"/>
                  </a:schemeClr>
                </a:solidFill>
              </a:rPr>
              <a:t>Sesak</a:t>
            </a:r>
            <a:r>
              <a:rPr lang="en-US" sz="1600" dirty="0">
                <a:solidFill>
                  <a:schemeClr val="tx1">
                    <a:lumMod val="95000"/>
                  </a:schemeClr>
                </a:solidFill>
              </a:rPr>
              <a:t>, BAK </a:t>
            </a:r>
            <a:r>
              <a:rPr lang="en-US" sz="1600" dirty="0" err="1">
                <a:solidFill>
                  <a:schemeClr val="tx1">
                    <a:lumMod val="95000"/>
                  </a:schemeClr>
                </a:solidFill>
              </a:rPr>
              <a:t>terakhir</a:t>
            </a:r>
            <a:r>
              <a:rPr lang="en-US" sz="1600" dirty="0">
                <a:solidFill>
                  <a:schemeClr val="tx1">
                    <a:lumMod val="95000"/>
                  </a:schemeClr>
                </a:solidFill>
              </a:rPr>
              <a:t> </a:t>
            </a:r>
            <a:r>
              <a:rPr lang="en-US" sz="1600" dirty="0" err="1">
                <a:solidFill>
                  <a:schemeClr val="tx1">
                    <a:lumMod val="95000"/>
                  </a:schemeClr>
                </a:solidFill>
              </a:rPr>
              <a:t>pukul</a:t>
            </a:r>
            <a:r>
              <a:rPr lang="en-US" sz="1600" dirty="0">
                <a:solidFill>
                  <a:schemeClr val="tx1">
                    <a:lumMod val="95000"/>
                  </a:schemeClr>
                </a:solidFill>
              </a:rPr>
              <a:t> 09.30 </a:t>
            </a:r>
            <a:r>
              <a:rPr lang="en-US" sz="1600" dirty="0" err="1">
                <a:solidFill>
                  <a:schemeClr val="tx1">
                    <a:lumMod val="95000"/>
                  </a:schemeClr>
                </a:solidFill>
              </a:rPr>
              <a:t>sedikit</a:t>
            </a:r>
            <a:endParaRPr lang="en-US" sz="1600" dirty="0">
              <a:solidFill>
                <a:schemeClr val="tx1">
                  <a:lumMod val="95000"/>
                </a:schemeClr>
              </a:solidFill>
            </a:endParaRPr>
          </a:p>
        </p:txBody>
      </p:sp>
      <p:sp>
        <p:nvSpPr>
          <p:cNvPr id="27" name="Oval 26"/>
          <p:cNvSpPr/>
          <p:nvPr/>
        </p:nvSpPr>
        <p:spPr>
          <a:xfrm>
            <a:off x="6096000" y="5181600"/>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762000" y="5257800"/>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85055" y="1068570"/>
            <a:ext cx="2405745" cy="2934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dirty="0"/>
              <a:t>1</a:t>
            </a:r>
            <a:r>
              <a:rPr lang="en-US" dirty="0"/>
              <a:t>6</a:t>
            </a:r>
            <a:r>
              <a:rPr lang="id-ID" dirty="0"/>
              <a:t>- 6- 20</a:t>
            </a:r>
            <a:r>
              <a:rPr lang="en-US" dirty="0"/>
              <a:t>25</a:t>
            </a:r>
            <a:endParaRPr lang="id-ID"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85800"/>
          </a:xfrm>
        </p:spPr>
        <p:txBody>
          <a:bodyPr/>
          <a:lstStyle/>
          <a:p>
            <a:r>
              <a:rPr lang="en-US" sz="2800">
                <a:solidFill>
                  <a:srgbClr val="FFC000"/>
                </a:solidFill>
              </a:rPr>
              <a:t>PEMERIKSAAN FISIK</a:t>
            </a:r>
            <a:endParaRPr lang="en-US" sz="2800">
              <a:solidFill>
                <a:srgbClr val="FFC000"/>
              </a:solidFill>
            </a:endParaRPr>
          </a:p>
        </p:txBody>
      </p:sp>
      <p:sp>
        <p:nvSpPr>
          <p:cNvPr id="3" name="Content Placeholder 2"/>
          <p:cNvSpPr>
            <a:spLocks noGrp="1"/>
          </p:cNvSpPr>
          <p:nvPr>
            <p:ph idx="1"/>
          </p:nvPr>
        </p:nvSpPr>
        <p:spPr>
          <a:xfrm>
            <a:off x="1143000" y="1950720"/>
            <a:ext cx="7543800" cy="4831080"/>
          </a:xfrm>
        </p:spPr>
        <p:txBody>
          <a:bodyPr>
            <a:noAutofit/>
          </a:bodyPr>
          <a:lstStyle/>
          <a:p>
            <a:r>
              <a:rPr lang="en-US" sz="1800" dirty="0" err="1"/>
              <a:t>Keadaan</a:t>
            </a:r>
            <a:r>
              <a:rPr lang="en-US" sz="1800" dirty="0"/>
              <a:t> </a:t>
            </a:r>
            <a:r>
              <a:rPr lang="en-US" sz="1800" dirty="0" err="1"/>
              <a:t>umum</a:t>
            </a:r>
            <a:endParaRPr lang="en-US" sz="1800" dirty="0"/>
          </a:p>
          <a:p>
            <a:pPr lvl="1"/>
            <a:r>
              <a:rPr lang="en-US" sz="1800" dirty="0" err="1"/>
              <a:t>Lemah</a:t>
            </a:r>
            <a:r>
              <a:rPr lang="en-US" sz="1800" dirty="0"/>
              <a:t>, </a:t>
            </a:r>
            <a:r>
              <a:rPr lang="id-ID" sz="1800" dirty="0"/>
              <a:t>sesak </a:t>
            </a:r>
            <a:endParaRPr lang="en-US" sz="1800" dirty="0"/>
          </a:p>
          <a:p>
            <a:r>
              <a:rPr lang="en-US" sz="1800" dirty="0"/>
              <a:t>Tanda-</a:t>
            </a:r>
            <a:r>
              <a:rPr lang="en-US" sz="1800" dirty="0" err="1"/>
              <a:t>tanda</a:t>
            </a:r>
            <a:r>
              <a:rPr lang="en-US" sz="1800" dirty="0"/>
              <a:t> vital :</a:t>
            </a:r>
            <a:endParaRPr lang="en-US" sz="1800" dirty="0"/>
          </a:p>
          <a:p>
            <a:pPr lvl="1"/>
            <a:r>
              <a:rPr lang="en-US" sz="1800" dirty="0" err="1"/>
              <a:t>Nadi</a:t>
            </a:r>
            <a:r>
              <a:rPr lang="en-US" sz="1800" dirty="0"/>
              <a:t> :  </a:t>
            </a:r>
            <a:r>
              <a:rPr lang="en-US" sz="1800" dirty="0" err="1"/>
              <a:t>Tidak</a:t>
            </a:r>
            <a:r>
              <a:rPr lang="en-US" sz="1800" dirty="0"/>
              <a:t> </a:t>
            </a:r>
            <a:r>
              <a:rPr lang="en-US" sz="1800" dirty="0" err="1"/>
              <a:t>teraba</a:t>
            </a:r>
            <a:endParaRPr lang="en-US" sz="1800" dirty="0"/>
          </a:p>
          <a:p>
            <a:pPr lvl="1"/>
            <a:r>
              <a:rPr lang="en-US" sz="1800" dirty="0"/>
              <a:t>RR   : 36x/</a:t>
            </a:r>
            <a:r>
              <a:rPr lang="en-US" sz="1800" dirty="0" err="1"/>
              <a:t>menit</a:t>
            </a:r>
            <a:endParaRPr lang="en-US" sz="1800" dirty="0"/>
          </a:p>
          <a:p>
            <a:pPr lvl="1"/>
            <a:r>
              <a:rPr lang="en-US" sz="1800" dirty="0" err="1"/>
              <a:t>Suhu</a:t>
            </a:r>
            <a:r>
              <a:rPr lang="en-US" sz="1800" dirty="0"/>
              <a:t> </a:t>
            </a:r>
            <a:r>
              <a:rPr lang="en-US" sz="1800" dirty="0" err="1"/>
              <a:t>aksila</a:t>
            </a:r>
            <a:r>
              <a:rPr lang="en-US" sz="1800" dirty="0"/>
              <a:t> : 37.5°C</a:t>
            </a:r>
            <a:r>
              <a:rPr lang="id-ID" sz="1800" dirty="0"/>
              <a:t>, akral dingin, crt 3 detik</a:t>
            </a:r>
            <a:endParaRPr lang="en-US" sz="1800" dirty="0"/>
          </a:p>
          <a:p>
            <a:pPr lvl="1"/>
            <a:r>
              <a:rPr lang="en-US" sz="1800" dirty="0" err="1"/>
              <a:t>Tensi</a:t>
            </a:r>
            <a:r>
              <a:rPr lang="en-US" sz="1800" dirty="0"/>
              <a:t> : 100/80</a:t>
            </a:r>
            <a:endParaRPr lang="id-ID" sz="1800" dirty="0"/>
          </a:p>
          <a:p>
            <a:pPr lvl="1"/>
            <a:r>
              <a:rPr lang="id-ID" sz="1800" dirty="0"/>
              <a:t>Saturasi 9</a:t>
            </a:r>
            <a:r>
              <a:rPr lang="en-US" sz="1800" dirty="0"/>
              <a:t>1</a:t>
            </a:r>
            <a:r>
              <a:rPr lang="id-ID" sz="1800" dirty="0"/>
              <a:t>%</a:t>
            </a:r>
            <a:endParaRPr lang="id-ID" sz="1800" dirty="0"/>
          </a:p>
          <a:p>
            <a:pPr lvl="1"/>
            <a:r>
              <a:rPr lang="id-ID" sz="1800" dirty="0"/>
              <a:t>Gcs </a:t>
            </a:r>
            <a:r>
              <a:rPr lang="en-US" sz="1800" dirty="0"/>
              <a:t>456</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382000" cy="685800"/>
          </a:xfrm>
        </p:spPr>
        <p:txBody>
          <a:bodyPr>
            <a:normAutofit/>
          </a:bodyPr>
          <a:lstStyle/>
          <a:p>
            <a:pPr algn="r"/>
            <a:r>
              <a:rPr lang="en-US" sz="2400" err="1">
                <a:solidFill>
                  <a:srgbClr val="FFC000"/>
                </a:solidFill>
              </a:rPr>
              <a:t>pemeriksaan</a:t>
            </a:r>
            <a:r>
              <a:rPr lang="en-US" sz="2400">
                <a:solidFill>
                  <a:srgbClr val="FFC000"/>
                </a:solidFill>
              </a:rPr>
              <a:t> fisis..(2)</a:t>
            </a:r>
            <a:endParaRPr lang="en-US" sz="2400">
              <a:solidFill>
                <a:srgbClr val="FFC000"/>
              </a:solidFill>
            </a:endParaRPr>
          </a:p>
        </p:txBody>
      </p:sp>
      <p:sp>
        <p:nvSpPr>
          <p:cNvPr id="3" name="Content Placeholder 2"/>
          <p:cNvSpPr>
            <a:spLocks noGrp="1"/>
          </p:cNvSpPr>
          <p:nvPr>
            <p:ph idx="1"/>
          </p:nvPr>
        </p:nvSpPr>
        <p:spPr>
          <a:xfrm>
            <a:off x="266178" y="990600"/>
            <a:ext cx="8610600" cy="5486400"/>
          </a:xfrm>
        </p:spPr>
        <p:txBody>
          <a:bodyPr>
            <a:noAutofit/>
          </a:bodyPr>
          <a:lstStyle/>
          <a:p>
            <a:r>
              <a:rPr lang="en-US" sz="2800" dirty="0" err="1"/>
              <a:t>Kepala</a:t>
            </a:r>
            <a:r>
              <a:rPr lang="en-US" sz="2800" dirty="0"/>
              <a:t> :</a:t>
            </a:r>
            <a:endParaRPr lang="en-US" sz="2800" dirty="0"/>
          </a:p>
          <a:p>
            <a:pPr lvl="1"/>
            <a:r>
              <a:rPr lang="en-US" sz="2800" dirty="0" err="1"/>
              <a:t>Bentuk</a:t>
            </a:r>
            <a:r>
              <a:rPr lang="en-US" sz="2800" dirty="0"/>
              <a:t> &amp; </a:t>
            </a:r>
            <a:r>
              <a:rPr lang="en-US" sz="2800" dirty="0" err="1"/>
              <a:t>ukuran</a:t>
            </a:r>
            <a:r>
              <a:rPr lang="en-US" sz="2800" dirty="0"/>
              <a:t> </a:t>
            </a:r>
            <a:r>
              <a:rPr lang="en-US" sz="2800" dirty="0" err="1"/>
              <a:t>kesan</a:t>
            </a:r>
            <a:r>
              <a:rPr lang="en-US" sz="2800" dirty="0"/>
              <a:t> normal</a:t>
            </a:r>
            <a:endParaRPr lang="en-US" sz="2800" dirty="0"/>
          </a:p>
          <a:p>
            <a:pPr lvl="1"/>
            <a:r>
              <a:rPr lang="en-US" sz="2800" dirty="0" err="1"/>
              <a:t>Rambut</a:t>
            </a:r>
            <a:r>
              <a:rPr lang="en-US" sz="2800" dirty="0"/>
              <a:t> </a:t>
            </a:r>
            <a:r>
              <a:rPr lang="en-US" sz="2800" dirty="0" err="1"/>
              <a:t>tebal</a:t>
            </a:r>
            <a:r>
              <a:rPr lang="en-US" sz="2800" dirty="0"/>
              <a:t>, </a:t>
            </a:r>
            <a:r>
              <a:rPr lang="en-US" sz="2800" dirty="0" err="1"/>
              <a:t>warna</a:t>
            </a:r>
            <a:r>
              <a:rPr lang="en-US" sz="2800" dirty="0"/>
              <a:t> </a:t>
            </a:r>
            <a:r>
              <a:rPr lang="en-US" sz="2800" dirty="0" err="1"/>
              <a:t>hitam</a:t>
            </a:r>
            <a:endParaRPr lang="en-US" sz="2800" dirty="0"/>
          </a:p>
          <a:p>
            <a:pPr lvl="1"/>
            <a:r>
              <a:rPr lang="en-US" sz="2800" dirty="0" err="1"/>
              <a:t>Telinga</a:t>
            </a:r>
            <a:r>
              <a:rPr lang="en-US" sz="2800" dirty="0"/>
              <a:t> : </a:t>
            </a:r>
            <a:r>
              <a:rPr lang="en-US" sz="2800" dirty="0" err="1"/>
              <a:t>bentuk</a:t>
            </a:r>
            <a:r>
              <a:rPr lang="en-US" sz="2800" dirty="0"/>
              <a:t>, </a:t>
            </a:r>
            <a:r>
              <a:rPr lang="en-US" sz="2800" dirty="0" err="1"/>
              <a:t>ukuran</a:t>
            </a:r>
            <a:r>
              <a:rPr lang="en-US" sz="2800" dirty="0"/>
              <a:t>, </a:t>
            </a:r>
            <a:r>
              <a:rPr lang="en-US" sz="2800" dirty="0" err="1"/>
              <a:t>posisi</a:t>
            </a:r>
            <a:r>
              <a:rPr lang="en-US" sz="2800" dirty="0"/>
              <a:t> normal</a:t>
            </a:r>
            <a:endParaRPr lang="en-US" sz="2800" dirty="0"/>
          </a:p>
          <a:p>
            <a:pPr lvl="1"/>
            <a:r>
              <a:rPr lang="en-US" sz="2800" dirty="0" err="1"/>
              <a:t>Warna</a:t>
            </a:r>
            <a:r>
              <a:rPr lang="en-US" sz="2800" dirty="0"/>
              <a:t> </a:t>
            </a:r>
            <a:r>
              <a:rPr lang="en-US" sz="2800" dirty="0" err="1"/>
              <a:t>kulit</a:t>
            </a:r>
            <a:r>
              <a:rPr lang="en-US" sz="2800" dirty="0"/>
              <a:t> : </a:t>
            </a:r>
            <a:r>
              <a:rPr lang="en-US" sz="2800" dirty="0" err="1"/>
              <a:t>coklat</a:t>
            </a:r>
            <a:endParaRPr lang="en-US" sz="2800" dirty="0"/>
          </a:p>
          <a:p>
            <a:pPr lvl="1"/>
            <a:r>
              <a:rPr lang="en-US" sz="2800" dirty="0"/>
              <a:t>Turgor </a:t>
            </a:r>
            <a:r>
              <a:rPr lang="en-US" sz="2800" dirty="0" err="1"/>
              <a:t>dahi</a:t>
            </a:r>
            <a:r>
              <a:rPr lang="en-US" sz="2800" dirty="0"/>
              <a:t> : normal</a:t>
            </a:r>
            <a:endParaRPr lang="en-US" sz="2800" dirty="0"/>
          </a:p>
          <a:p>
            <a:pPr lvl="1"/>
            <a:r>
              <a:rPr lang="en-US" sz="2800" dirty="0"/>
              <a:t>mulut : kering</a:t>
            </a:r>
            <a:endParaRPr lang="en-US" sz="2800" dirty="0"/>
          </a:p>
          <a:p>
            <a:r>
              <a:rPr lang="en-US" sz="2800" dirty="0" err="1"/>
              <a:t>Wajah</a:t>
            </a:r>
            <a:r>
              <a:rPr lang="en-US" sz="2800" dirty="0"/>
              <a:t> :</a:t>
            </a:r>
            <a:endParaRPr lang="en-US" sz="2800" i="1" dirty="0"/>
          </a:p>
          <a:p>
            <a:pPr lvl="1"/>
            <a:r>
              <a:rPr lang="en-US" sz="2800" dirty="0"/>
              <a:t>Palpebrae </a:t>
            </a:r>
            <a:r>
              <a:rPr lang="en-US" sz="2800" dirty="0" err="1"/>
              <a:t>edem</a:t>
            </a:r>
            <a:r>
              <a:rPr lang="en-US" sz="2800" dirty="0"/>
              <a:t> (-), Napas </a:t>
            </a:r>
            <a:r>
              <a:rPr lang="en-US" sz="2800" dirty="0" err="1"/>
              <a:t>cuping</a:t>
            </a:r>
            <a:r>
              <a:rPr lang="en-US" sz="2800" dirty="0"/>
              <a:t> </a:t>
            </a:r>
            <a:r>
              <a:rPr lang="en-US" sz="2800" dirty="0" err="1"/>
              <a:t>hidung</a:t>
            </a:r>
            <a:r>
              <a:rPr lang="en-US" sz="2800" dirty="0"/>
              <a:t> (+), </a:t>
            </a:r>
            <a:r>
              <a:rPr lang="id-ID" sz="2800" dirty="0"/>
              <a:t>pucat</a:t>
            </a:r>
            <a:r>
              <a:rPr lang="en-US" sz="2800" dirty="0"/>
              <a:t>+</a:t>
            </a:r>
            <a:r>
              <a:rPr lang="id-ID" sz="2800" dirty="0"/>
              <a:t>,epistaksis -</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533400"/>
          </a:xfrm>
        </p:spPr>
        <p:txBody>
          <a:bodyPr>
            <a:normAutofit/>
          </a:bodyPr>
          <a:lstStyle/>
          <a:p>
            <a:pPr algn="r"/>
            <a:r>
              <a:rPr lang="en-US" sz="2400">
                <a:solidFill>
                  <a:srgbClr val="FFC000"/>
                </a:solidFill>
              </a:rPr>
              <a:t>pemeriksaan fisis..(3)</a:t>
            </a:r>
            <a:endParaRPr lang="en-US" sz="2400"/>
          </a:p>
        </p:txBody>
      </p:sp>
      <p:sp>
        <p:nvSpPr>
          <p:cNvPr id="3" name="Content Placeholder 2"/>
          <p:cNvSpPr>
            <a:spLocks noGrp="1"/>
          </p:cNvSpPr>
          <p:nvPr>
            <p:ph idx="1"/>
          </p:nvPr>
        </p:nvSpPr>
        <p:spPr>
          <a:xfrm>
            <a:off x="266178" y="1219200"/>
            <a:ext cx="8610600" cy="5257800"/>
          </a:xfrm>
        </p:spPr>
        <p:txBody>
          <a:bodyPr>
            <a:noAutofit/>
          </a:bodyPr>
          <a:lstStyle/>
          <a:p>
            <a:r>
              <a:rPr lang="en-US" sz="2400" dirty="0" err="1"/>
              <a:t>Leher</a:t>
            </a:r>
            <a:r>
              <a:rPr lang="en-US" sz="2400" dirty="0"/>
              <a:t> :</a:t>
            </a:r>
            <a:endParaRPr lang="en-US" sz="2400" dirty="0"/>
          </a:p>
          <a:p>
            <a:pPr lvl="1"/>
            <a:r>
              <a:rPr lang="id-ID" sz="2400" dirty="0"/>
              <a:t>Tidak didapatkan p</a:t>
            </a:r>
            <a:r>
              <a:rPr lang="en-US" sz="2400" dirty="0" err="1"/>
              <a:t>embesaran</a:t>
            </a:r>
            <a:r>
              <a:rPr lang="en-US" sz="2400" dirty="0"/>
              <a:t> </a:t>
            </a:r>
            <a:r>
              <a:rPr lang="en-US" sz="2400" dirty="0" err="1"/>
              <a:t>kelenjar</a:t>
            </a:r>
            <a:r>
              <a:rPr lang="en-US" sz="2400" dirty="0"/>
              <a:t> </a:t>
            </a:r>
            <a:r>
              <a:rPr lang="en-US" sz="2400" dirty="0" err="1"/>
              <a:t>getah</a:t>
            </a:r>
            <a:r>
              <a:rPr lang="en-US" sz="2400" dirty="0"/>
              <a:t> </a:t>
            </a:r>
            <a:r>
              <a:rPr lang="en-US" sz="2400" dirty="0" err="1"/>
              <a:t>bening</a:t>
            </a:r>
            <a:r>
              <a:rPr lang="en-US" sz="2400" dirty="0"/>
              <a:t>  </a:t>
            </a:r>
            <a:endParaRPr lang="en-US" sz="2400" dirty="0"/>
          </a:p>
          <a:p>
            <a:r>
              <a:rPr lang="en-US" sz="2400" dirty="0"/>
              <a:t>Thorax:</a:t>
            </a:r>
            <a:endParaRPr lang="en-US" sz="2400" dirty="0"/>
          </a:p>
          <a:p>
            <a:pPr lvl="1"/>
            <a:r>
              <a:rPr lang="en-US" sz="2400" dirty="0" err="1"/>
              <a:t>Bentuk</a:t>
            </a:r>
            <a:r>
              <a:rPr lang="en-US" sz="2400" dirty="0"/>
              <a:t> normal, sesak, </a:t>
            </a:r>
            <a:r>
              <a:rPr lang="en-US" sz="2400" dirty="0" err="1"/>
              <a:t>retraksi</a:t>
            </a:r>
            <a:r>
              <a:rPr lang="en-US" sz="2400" dirty="0"/>
              <a:t> </a:t>
            </a:r>
            <a:r>
              <a:rPr lang="en-US" sz="2400" dirty="0" err="1"/>
              <a:t>dinding</a:t>
            </a:r>
            <a:r>
              <a:rPr lang="en-US" sz="2400" dirty="0"/>
              <a:t> dada</a:t>
            </a:r>
            <a:r>
              <a:rPr lang="id-ID" sz="2400" dirty="0"/>
              <a:t> </a:t>
            </a:r>
            <a:r>
              <a:rPr lang="en-US" sz="2400" dirty="0"/>
              <a:t>-</a:t>
            </a:r>
            <a:r>
              <a:rPr lang="id-ID" sz="2400" dirty="0"/>
              <a:t> ronkhi terdengar di basal paru</a:t>
            </a:r>
            <a:endParaRPr lang="en-US" sz="2400" dirty="0">
              <a:solidFill>
                <a:srgbClr val="FFC000"/>
              </a:solidFill>
            </a:endParaRPr>
          </a:p>
          <a:p>
            <a:pPr marL="0" indent="0">
              <a:buNone/>
            </a:pPr>
            <a:r>
              <a:rPr lang="id-ID" sz="2400" dirty="0"/>
              <a:t>	</a:t>
            </a:r>
            <a:r>
              <a:rPr lang="en-US" sz="2400" dirty="0" err="1"/>
              <a:t>Jantung</a:t>
            </a:r>
            <a:r>
              <a:rPr lang="en-US" sz="2400" dirty="0"/>
              <a:t> : s1s2 </a:t>
            </a:r>
            <a:r>
              <a:rPr lang="en-US" sz="2400" dirty="0" err="1"/>
              <a:t>tunggal</a:t>
            </a:r>
            <a:r>
              <a:rPr lang="en-US" sz="2400" dirty="0"/>
              <a:t> </a:t>
            </a:r>
            <a:r>
              <a:rPr lang="en-US" sz="2400" dirty="0" err="1"/>
              <a:t>vesikuler</a:t>
            </a:r>
            <a:r>
              <a:rPr lang="en-US" sz="2400" dirty="0"/>
              <a:t>, </a:t>
            </a:r>
            <a:r>
              <a:rPr lang="en-US" sz="2400" dirty="0" err="1"/>
              <a:t>mur-mur</a:t>
            </a:r>
            <a:r>
              <a:rPr lang="en-US" sz="2400" dirty="0"/>
              <a:t> (-), gallop (-)</a:t>
            </a:r>
            <a:endParaRPr lang="en-US" sz="2400" dirty="0"/>
          </a:p>
          <a:p>
            <a:pPr marL="0" indent="0">
              <a:buNone/>
            </a:pPr>
            <a:r>
              <a:rPr lang="id-ID" sz="2400" dirty="0"/>
              <a:t>	</a:t>
            </a:r>
            <a:r>
              <a:rPr lang="en-US" sz="2400" dirty="0" err="1"/>
              <a:t>Paru</a:t>
            </a:r>
            <a:r>
              <a:rPr lang="en-US" sz="2400" dirty="0"/>
              <a:t> :</a:t>
            </a:r>
            <a:endParaRPr lang="en-US" sz="2400" dirty="0"/>
          </a:p>
          <a:p>
            <a:pPr lvl="1"/>
            <a:r>
              <a:rPr lang="en-US" sz="2400" dirty="0" err="1"/>
              <a:t>Suara</a:t>
            </a:r>
            <a:r>
              <a:rPr lang="en-US" sz="2400" dirty="0"/>
              <a:t> napas </a:t>
            </a:r>
            <a:r>
              <a:rPr lang="en-US" sz="2400" dirty="0" err="1"/>
              <a:t>vesikuler</a:t>
            </a:r>
            <a:r>
              <a:rPr lang="id-ID" sz="2400" dirty="0"/>
              <a:t> </a:t>
            </a:r>
            <a:r>
              <a:rPr lang="en-US" sz="2400" dirty="0"/>
              <a:t> </a:t>
            </a:r>
            <a:r>
              <a:rPr lang="en-US" sz="2400" dirty="0" err="1"/>
              <a:t>ronchi</a:t>
            </a:r>
            <a:r>
              <a:rPr lang="en-US" sz="2400" dirty="0"/>
              <a:t> -</a:t>
            </a:r>
            <a:r>
              <a:rPr lang="id-ID" sz="2400" dirty="0"/>
              <a:t>/</a:t>
            </a:r>
            <a:r>
              <a:rPr lang="en-US" sz="2400" dirty="0"/>
              <a:t>-</a:t>
            </a:r>
            <a:r>
              <a:rPr lang="id-ID" sz="2400" dirty="0"/>
              <a:t>, wheezing-/-</a:t>
            </a:r>
            <a:endParaRPr lang="id-ID" sz="2400" dirty="0"/>
          </a:p>
          <a:p>
            <a:pPr marL="457200" lvl="1" indent="0">
              <a:buNone/>
            </a:pPr>
            <a:r>
              <a:rPr lang="id-ID" sz="2400" dirty="0"/>
              <a:t>                                                                                              </a:t>
            </a:r>
            <a:endParaRPr lang="id-ID"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533400"/>
          </a:xfrm>
        </p:spPr>
        <p:txBody>
          <a:bodyPr>
            <a:normAutofit/>
          </a:bodyPr>
          <a:lstStyle/>
          <a:p>
            <a:pPr algn="r"/>
            <a:r>
              <a:rPr lang="en-US" sz="2400" dirty="0" err="1">
                <a:solidFill>
                  <a:srgbClr val="FFC000"/>
                </a:solidFill>
              </a:rPr>
              <a:t>pemeriksaan</a:t>
            </a:r>
            <a:r>
              <a:rPr lang="en-US" sz="2400" dirty="0">
                <a:solidFill>
                  <a:srgbClr val="FFC000"/>
                </a:solidFill>
              </a:rPr>
              <a:t> </a:t>
            </a:r>
            <a:r>
              <a:rPr lang="en-US" sz="2400" dirty="0" err="1">
                <a:solidFill>
                  <a:srgbClr val="FFC000"/>
                </a:solidFill>
              </a:rPr>
              <a:t>fisis</a:t>
            </a:r>
            <a:r>
              <a:rPr lang="en-US" sz="2400" dirty="0">
                <a:solidFill>
                  <a:srgbClr val="FFC000"/>
                </a:solidFill>
              </a:rPr>
              <a:t>..(4)</a:t>
            </a:r>
            <a:endParaRPr lang="en-US" sz="2400" dirty="0">
              <a:solidFill>
                <a:srgbClr val="FFC000"/>
              </a:solidFill>
            </a:endParaRPr>
          </a:p>
        </p:txBody>
      </p:sp>
      <p:sp>
        <p:nvSpPr>
          <p:cNvPr id="3" name="Content Placeholder 2"/>
          <p:cNvSpPr>
            <a:spLocks noGrp="1"/>
          </p:cNvSpPr>
          <p:nvPr>
            <p:ph idx="1"/>
          </p:nvPr>
        </p:nvSpPr>
        <p:spPr>
          <a:xfrm>
            <a:off x="533400" y="770964"/>
            <a:ext cx="8610600" cy="5562600"/>
          </a:xfrm>
        </p:spPr>
        <p:txBody>
          <a:bodyPr>
            <a:normAutofit/>
          </a:bodyPr>
          <a:lstStyle/>
          <a:p>
            <a:r>
              <a:rPr lang="en-US" sz="2600" dirty="0"/>
              <a:t>Abdomen :</a:t>
            </a:r>
            <a:endParaRPr lang="en-US" sz="2600" dirty="0"/>
          </a:p>
          <a:p>
            <a:pPr lvl="1"/>
            <a:r>
              <a:rPr lang="en-US" sz="2600" dirty="0" err="1"/>
              <a:t>nyeri</a:t>
            </a:r>
            <a:r>
              <a:rPr lang="en-US" sz="2600" dirty="0"/>
              <a:t> </a:t>
            </a:r>
            <a:r>
              <a:rPr lang="en-US" sz="2600" dirty="0" err="1"/>
              <a:t>tekan</a:t>
            </a:r>
            <a:r>
              <a:rPr lang="en-US" sz="2600" dirty="0"/>
              <a:t> epigastric,</a:t>
            </a:r>
            <a:endParaRPr lang="en-US" sz="2600" dirty="0"/>
          </a:p>
          <a:p>
            <a:pPr lvl="1"/>
            <a:r>
              <a:rPr lang="en-US" sz="2600" dirty="0" err="1"/>
              <a:t>Bising</a:t>
            </a:r>
            <a:r>
              <a:rPr lang="en-US" sz="2600" dirty="0"/>
              <a:t> usus normal</a:t>
            </a:r>
            <a:r>
              <a:rPr lang="id-ID" sz="2600" dirty="0"/>
              <a:t>, ascites </a:t>
            </a:r>
            <a:r>
              <a:rPr lang="en-US" sz="2600" dirty="0"/>
              <a:t>-</a:t>
            </a:r>
            <a:endParaRPr lang="en-US" sz="2600" dirty="0"/>
          </a:p>
          <a:p>
            <a:r>
              <a:rPr lang="en-US" sz="2600" dirty="0" err="1"/>
              <a:t>Ekstremitas</a:t>
            </a:r>
            <a:r>
              <a:rPr lang="en-US" sz="2600" dirty="0"/>
              <a:t> :</a:t>
            </a:r>
            <a:endParaRPr lang="en-US" sz="2600" dirty="0"/>
          </a:p>
          <a:p>
            <a:pPr lvl="1"/>
            <a:r>
              <a:rPr lang="en-US" sz="2600" dirty="0" err="1"/>
              <a:t>Akral</a:t>
            </a:r>
            <a:r>
              <a:rPr lang="en-US" sz="2600" dirty="0"/>
              <a:t> </a:t>
            </a:r>
            <a:r>
              <a:rPr lang="en-US" sz="2600" dirty="0" err="1"/>
              <a:t>dingin</a:t>
            </a:r>
            <a:r>
              <a:rPr lang="en-US" sz="2600" dirty="0"/>
              <a:t>, </a:t>
            </a:r>
            <a:r>
              <a:rPr lang="en-US" sz="2600" i="1" dirty="0"/>
              <a:t>capillary refill time</a:t>
            </a:r>
            <a:r>
              <a:rPr lang="en-US" sz="2600" dirty="0"/>
              <a:t> </a:t>
            </a:r>
            <a:r>
              <a:rPr lang="id-ID" sz="2600" dirty="0"/>
              <a:t>3 </a:t>
            </a:r>
            <a:r>
              <a:rPr lang="en-US" sz="2600" dirty="0" err="1"/>
              <a:t>detik</a:t>
            </a:r>
            <a:endParaRPr lang="en-US" sz="2600" dirty="0"/>
          </a:p>
          <a:p>
            <a:pPr lvl="1"/>
            <a:r>
              <a:rPr lang="en-US" sz="2600" dirty="0"/>
              <a:t>Edema </a:t>
            </a:r>
            <a:r>
              <a:rPr lang="en-US" sz="2600" dirty="0" err="1"/>
              <a:t>tungkai</a:t>
            </a:r>
            <a:r>
              <a:rPr lang="en-US" sz="2600" dirty="0"/>
              <a:t> -, </a:t>
            </a:r>
            <a:r>
              <a:rPr lang="en-US" sz="2600" dirty="0" err="1"/>
              <a:t>anemis</a:t>
            </a:r>
            <a:r>
              <a:rPr lang="en-US" sz="2600" dirty="0"/>
              <a:t> -</a:t>
            </a:r>
            <a:endParaRPr lang="en-US" sz="2600" dirty="0"/>
          </a:p>
          <a:p>
            <a:pPr lvl="1"/>
            <a:r>
              <a:rPr lang="en-US" sz="2600" dirty="0" err="1"/>
              <a:t>Sianosis</a:t>
            </a:r>
            <a:r>
              <a:rPr lang="en-US" sz="2600" dirty="0"/>
              <a:t> –</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229600" cy="533400"/>
          </a:xfrm>
        </p:spPr>
        <p:txBody>
          <a:bodyPr>
            <a:normAutofit/>
          </a:bodyPr>
          <a:lstStyle/>
          <a:p>
            <a:r>
              <a:rPr lang="id-ID" sz="2800">
                <a:solidFill>
                  <a:srgbClr val="FFC000"/>
                </a:solidFill>
              </a:rPr>
              <a:t>PEMERIKSAAN</a:t>
            </a:r>
            <a:r>
              <a:rPr lang="en-US" sz="2800">
                <a:solidFill>
                  <a:srgbClr val="FFC000"/>
                </a:solidFill>
              </a:rPr>
              <a:t> NEUROLOGIS</a:t>
            </a:r>
            <a:endParaRPr lang="en-US" sz="2800">
              <a:solidFill>
                <a:srgbClr val="FFC000"/>
              </a:solidFill>
            </a:endParaRPr>
          </a:p>
        </p:txBody>
      </p:sp>
      <p:sp>
        <p:nvSpPr>
          <p:cNvPr id="3" name="Content Placeholder 2"/>
          <p:cNvSpPr>
            <a:spLocks noGrp="1"/>
          </p:cNvSpPr>
          <p:nvPr>
            <p:ph idx="1"/>
          </p:nvPr>
        </p:nvSpPr>
        <p:spPr>
          <a:xfrm>
            <a:off x="1866900" y="1859280"/>
            <a:ext cx="7040880" cy="3802380"/>
          </a:xfrm>
        </p:spPr>
        <p:txBody>
          <a:bodyPr>
            <a:normAutofit/>
          </a:bodyPr>
          <a:lstStyle/>
          <a:p>
            <a:r>
              <a:rPr lang="en-US" sz="2600" dirty="0" err="1"/>
              <a:t>Kepala</a:t>
            </a:r>
            <a:r>
              <a:rPr lang="en-US" sz="2600" dirty="0"/>
              <a:t>: </a:t>
            </a:r>
            <a:r>
              <a:rPr lang="id-ID" sz="2600" dirty="0"/>
              <a:t>normo</a:t>
            </a:r>
            <a:r>
              <a:rPr lang="en-US" sz="2600" dirty="0" err="1"/>
              <a:t>sefali</a:t>
            </a:r>
            <a:r>
              <a:rPr lang="en-US" sz="2600" dirty="0"/>
              <a:t>, </a:t>
            </a:r>
            <a:r>
              <a:rPr lang="en-US" sz="2600" dirty="0" err="1"/>
              <a:t>ubun</a:t>
            </a:r>
            <a:r>
              <a:rPr lang="en-US" sz="2600" dirty="0"/>
              <a:t>- </a:t>
            </a:r>
            <a:r>
              <a:rPr lang="en-US" sz="2600" dirty="0" err="1"/>
              <a:t>ubun</a:t>
            </a:r>
            <a:r>
              <a:rPr lang="en-US" sz="2600" dirty="0"/>
              <a:t> </a:t>
            </a:r>
            <a:r>
              <a:rPr lang="en-US" sz="2600" dirty="0" err="1"/>
              <a:t>cembung</a:t>
            </a:r>
            <a:endParaRPr lang="en-US" sz="2600" dirty="0"/>
          </a:p>
          <a:p>
            <a:r>
              <a:rPr lang="en-US" sz="2600" dirty="0" err="1"/>
              <a:t>Kesadaran</a:t>
            </a:r>
            <a:r>
              <a:rPr lang="en-US" sz="2600" dirty="0"/>
              <a:t>: GCS 456</a:t>
            </a:r>
            <a:endParaRPr lang="en-US" sz="2600" dirty="0"/>
          </a:p>
          <a:p>
            <a:r>
              <a:rPr lang="en-US" sz="2600" dirty="0"/>
              <a:t>Meningeal sign: </a:t>
            </a:r>
            <a:r>
              <a:rPr lang="en-US" sz="2600" dirty="0" err="1"/>
              <a:t>kaku</a:t>
            </a:r>
            <a:r>
              <a:rPr lang="en-US" sz="2600" dirty="0"/>
              <a:t> </a:t>
            </a:r>
            <a:r>
              <a:rPr lang="en-US" sz="2600" dirty="0" err="1"/>
              <a:t>kuduk</a:t>
            </a:r>
            <a:r>
              <a:rPr lang="en-US" sz="2600" dirty="0"/>
              <a:t> (-), Brudzinski I, II (-), Kernig (-)</a:t>
            </a:r>
            <a:endParaRPr lang="en-US" sz="2600" dirty="0"/>
          </a:p>
          <a:p>
            <a:r>
              <a:rPr lang="en-US" sz="2600" dirty="0" err="1"/>
              <a:t>Syaraf</a:t>
            </a:r>
            <a:r>
              <a:rPr lang="en-US" sz="2600" dirty="0"/>
              <a:t> </a:t>
            </a:r>
            <a:r>
              <a:rPr lang="en-US" sz="2600" dirty="0" err="1"/>
              <a:t>kranialis</a:t>
            </a:r>
            <a:r>
              <a:rPr lang="en-US" sz="2600" dirty="0"/>
              <a:t>: pupil </a:t>
            </a:r>
            <a:r>
              <a:rPr lang="en-US" sz="2600" dirty="0" err="1"/>
              <a:t>bulat</a:t>
            </a:r>
            <a:r>
              <a:rPr lang="en-US" sz="2600" dirty="0"/>
              <a:t> </a:t>
            </a:r>
            <a:r>
              <a:rPr lang="en-US" sz="2600" dirty="0" err="1"/>
              <a:t>isokor</a:t>
            </a:r>
            <a:r>
              <a:rPr lang="en-US" sz="2600" dirty="0"/>
              <a:t>, pupil 3 mm</a:t>
            </a:r>
            <a:r>
              <a:rPr lang="id-ID" sz="2600" dirty="0"/>
              <a:t>/</a:t>
            </a:r>
            <a:r>
              <a:rPr lang="en-US" sz="2600" dirty="0"/>
              <a:t>3</a:t>
            </a:r>
            <a:r>
              <a:rPr lang="id-ID" sz="2600" dirty="0"/>
              <a:t> mm</a:t>
            </a:r>
            <a:r>
              <a:rPr lang="en-US" sz="2600" dirty="0"/>
              <a:t>, </a:t>
            </a:r>
            <a:r>
              <a:rPr lang="en-US" sz="2600" dirty="0" err="1"/>
              <a:t>refleks</a:t>
            </a:r>
            <a:r>
              <a:rPr lang="en-US" sz="2600" dirty="0"/>
              <a:t> </a:t>
            </a:r>
            <a:r>
              <a:rPr lang="en-US" sz="2600" dirty="0" err="1"/>
              <a:t>cahaya</a:t>
            </a:r>
            <a:r>
              <a:rPr lang="en-US" sz="2600" dirty="0"/>
              <a:t> (+), </a:t>
            </a:r>
            <a:r>
              <a:rPr lang="en-US" sz="2600" dirty="0" err="1"/>
              <a:t>refleks</a:t>
            </a:r>
            <a:r>
              <a:rPr lang="en-US" sz="2600" dirty="0"/>
              <a:t> </a:t>
            </a:r>
            <a:r>
              <a:rPr lang="en-US" sz="2600" dirty="0" err="1"/>
              <a:t>kornea</a:t>
            </a:r>
            <a:r>
              <a:rPr lang="en-US" sz="2600" dirty="0"/>
              <a:t> (+), </a:t>
            </a:r>
            <a:endParaRPr lang="en-US" sz="2600" dirty="0"/>
          </a:p>
          <a:p>
            <a:pPr marL="0" indent="0">
              <a:buNone/>
            </a:pPr>
            <a:endParaRPr lang="en-US" sz="2600" dirty="0"/>
          </a:p>
          <a:p>
            <a:pPr marL="0" indent="0">
              <a:buNone/>
            </a:pPr>
            <a:endParaRPr lang="en-US" sz="2600" dirty="0">
              <a:solidFill>
                <a:srgbClr val="FFC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id-ID"/>
              <a:t>STATUS ANTROPOMETRI</a:t>
            </a:r>
            <a:endParaRPr lang="id-ID"/>
          </a:p>
        </p:txBody>
      </p:sp>
      <p:sp>
        <p:nvSpPr>
          <p:cNvPr id="3" name="Content Placeholder 2"/>
          <p:cNvSpPr>
            <a:spLocks noGrp="1"/>
          </p:cNvSpPr>
          <p:nvPr>
            <p:ph idx="1"/>
          </p:nvPr>
        </p:nvSpPr>
        <p:spPr/>
        <p:txBody>
          <a:bodyPr/>
          <a:lstStyle/>
          <a:p>
            <a:pPr marL="457200" lvl="0" indent="-457200" fontAlgn="base">
              <a:spcAft>
                <a:spcPct val="0"/>
              </a:spcAft>
              <a:buNone/>
              <a:tabLst>
                <a:tab pos="1699895" algn="l"/>
              </a:tabLst>
            </a:pPr>
            <a:r>
              <a:rPr lang="id-ID" b="1" dirty="0">
                <a:cs typeface="Arial" panose="020B0604020202020204" pitchFamily="34" charset="0"/>
              </a:rPr>
              <a:t>Berat Badan	:  </a:t>
            </a:r>
            <a:r>
              <a:rPr lang="en-US" b="1" dirty="0">
                <a:cs typeface="Arial" panose="020B0604020202020204" pitchFamily="34" charset="0"/>
              </a:rPr>
              <a:t>63</a:t>
            </a:r>
            <a:r>
              <a:rPr lang="id-ID" b="1" dirty="0">
                <a:cs typeface="Arial" panose="020B0604020202020204" pitchFamily="34" charset="0"/>
              </a:rPr>
              <a:t> kg </a:t>
            </a:r>
            <a:endParaRPr lang="en-US" b="1" dirty="0">
              <a:cs typeface="Arial" panose="020B0604020202020204" pitchFamily="34" charset="0"/>
            </a:endParaRPr>
          </a:p>
          <a:p>
            <a:pPr marL="457200" lvl="0" indent="-457200" fontAlgn="base">
              <a:spcAft>
                <a:spcPct val="0"/>
              </a:spcAft>
              <a:buNone/>
              <a:tabLst>
                <a:tab pos="1699895" algn="l"/>
              </a:tabLst>
            </a:pPr>
            <a:r>
              <a:rPr lang="en-US" b="1" dirty="0">
                <a:cs typeface="Arial" panose="020B0604020202020204" pitchFamily="34" charset="0"/>
              </a:rPr>
              <a:t>Tinggi</a:t>
            </a:r>
            <a:r>
              <a:rPr lang="id-ID" b="1" dirty="0">
                <a:cs typeface="Arial" panose="020B0604020202020204" pitchFamily="34" charset="0"/>
              </a:rPr>
              <a:t> Badan	:</a:t>
            </a:r>
            <a:r>
              <a:rPr lang="en-US" b="1" dirty="0">
                <a:cs typeface="Arial" panose="020B0604020202020204" pitchFamily="34" charset="0"/>
              </a:rPr>
              <a:t>  </a:t>
            </a:r>
            <a:r>
              <a:rPr lang="id-ID" b="1" dirty="0">
                <a:cs typeface="Arial" panose="020B0604020202020204" pitchFamily="34" charset="0"/>
              </a:rPr>
              <a:t>1</a:t>
            </a:r>
            <a:r>
              <a:rPr lang="en-US" b="1" dirty="0">
                <a:cs typeface="Arial" panose="020B0604020202020204" pitchFamily="34" charset="0"/>
              </a:rPr>
              <a:t>52 </a:t>
            </a:r>
            <a:r>
              <a:rPr lang="id-ID" b="1" dirty="0">
                <a:cs typeface="Arial" panose="020B0604020202020204" pitchFamily="34" charset="0"/>
              </a:rPr>
              <a:t>cm</a:t>
            </a:r>
            <a:r>
              <a:rPr lang="en-US" b="1" dirty="0">
                <a:cs typeface="Arial" panose="020B0604020202020204" pitchFamily="34" charset="0"/>
              </a:rPr>
              <a:t> </a:t>
            </a:r>
            <a:endParaRPr lang="en-US" b="1" dirty="0">
              <a:cs typeface="Arial" panose="020B0604020202020204" pitchFamily="34" charset="0"/>
            </a:endParaRPr>
          </a:p>
          <a:p>
            <a:pPr marL="457200" lvl="0" indent="-457200" fontAlgn="base">
              <a:spcAft>
                <a:spcPct val="0"/>
              </a:spcAft>
              <a:buNone/>
              <a:tabLst>
                <a:tab pos="1699895" algn="l"/>
              </a:tabLst>
            </a:pPr>
            <a:r>
              <a:rPr lang="en-US" b="1" dirty="0" err="1">
                <a:cs typeface="Arial" panose="020B0604020202020204" pitchFamily="34" charset="0"/>
              </a:rPr>
              <a:t>Usia</a:t>
            </a:r>
            <a:r>
              <a:rPr lang="en-US" b="1" dirty="0">
                <a:cs typeface="Arial" panose="020B0604020202020204" pitchFamily="34" charset="0"/>
              </a:rPr>
              <a:t> 	: </a:t>
            </a:r>
            <a:r>
              <a:rPr lang="id-ID" b="1" dirty="0">
                <a:cs typeface="Arial" panose="020B0604020202020204" pitchFamily="34" charset="0"/>
              </a:rPr>
              <a:t>1</a:t>
            </a:r>
            <a:r>
              <a:rPr lang="en-US" b="1" dirty="0">
                <a:cs typeface="Arial" panose="020B0604020202020204" pitchFamily="34" charset="0"/>
              </a:rPr>
              <a:t>2 </a:t>
            </a:r>
            <a:r>
              <a:rPr lang="id-ID" b="1" dirty="0">
                <a:cs typeface="Arial" panose="020B0604020202020204" pitchFamily="34" charset="0"/>
              </a:rPr>
              <a:t>thn </a:t>
            </a:r>
            <a:r>
              <a:rPr lang="en-US" b="1" dirty="0">
                <a:cs typeface="Arial" panose="020B0604020202020204" pitchFamily="34" charset="0"/>
              </a:rPr>
              <a:t>7</a:t>
            </a:r>
            <a:r>
              <a:rPr lang="id-ID" b="1" dirty="0">
                <a:cs typeface="Arial" panose="020B0604020202020204" pitchFamily="34" charset="0"/>
              </a:rPr>
              <a:t> bulan</a:t>
            </a:r>
            <a:r>
              <a:rPr lang="en-US" b="1" dirty="0">
                <a:cs typeface="Arial" panose="020B0604020202020204" pitchFamily="34" charset="0"/>
              </a:rPr>
              <a:t> 2 </a:t>
            </a:r>
            <a:r>
              <a:rPr lang="en-US" b="1" dirty="0" err="1">
                <a:cs typeface="Arial" panose="020B0604020202020204" pitchFamily="34" charset="0"/>
              </a:rPr>
              <a:t>hari</a:t>
            </a:r>
            <a:endParaRPr lang="id-ID" b="1" dirty="0">
              <a:cs typeface="Arial" panose="020B0604020202020204" pitchFamily="34" charset="0"/>
            </a:endParaRPr>
          </a:p>
          <a:p>
            <a:pPr marL="457200" lvl="0" indent="-457200" fontAlgn="base">
              <a:spcAft>
                <a:spcPct val="0"/>
              </a:spcAft>
              <a:buNone/>
              <a:tabLst>
                <a:tab pos="2286000" algn="l"/>
              </a:tabLst>
              <a:defRPr/>
            </a:pPr>
            <a:r>
              <a:rPr lang="en-US" b="1" dirty="0">
                <a:cs typeface="Arial" panose="020B0604020202020204" pitchFamily="34" charset="0"/>
              </a:rPr>
              <a:t>BMI : 27,27 (</a:t>
            </a:r>
            <a:r>
              <a:rPr lang="en-US" b="1" dirty="0" err="1">
                <a:cs typeface="Arial" panose="020B0604020202020204" pitchFamily="34" charset="0"/>
              </a:rPr>
              <a:t>Overweigth</a:t>
            </a:r>
            <a:r>
              <a:rPr lang="en-US" b="1" dirty="0">
                <a:cs typeface="Arial" panose="020B0604020202020204" pitchFamily="34" charset="0"/>
              </a:rPr>
              <a:t>)</a:t>
            </a:r>
            <a:endParaRPr lang="id-ID" b="1" dirty="0">
              <a:cs typeface="Arial" panose="020B0604020202020204" pitchFamily="34" charset="0"/>
            </a:endParaRPr>
          </a:p>
          <a:p>
            <a:pPr marL="0" indent="0">
              <a:buNone/>
            </a:pPr>
            <a:endParaRPr lang="id-ID"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err="1"/>
              <a:t>Diagonosis</a:t>
            </a:r>
            <a:r>
              <a:rPr lang="en-US"/>
              <a:t> </a:t>
            </a:r>
            <a:r>
              <a:rPr lang="en-US" err="1"/>
              <a:t>awal</a:t>
            </a:r>
            <a:endParaRPr lang="en-US"/>
          </a:p>
        </p:txBody>
      </p:sp>
      <p:sp>
        <p:nvSpPr>
          <p:cNvPr id="5" name="Content Placeholder 4"/>
          <p:cNvSpPr>
            <a:spLocks noGrp="1"/>
          </p:cNvSpPr>
          <p:nvPr>
            <p:ph idx="1"/>
          </p:nvPr>
        </p:nvSpPr>
        <p:spPr/>
        <p:txBody>
          <a:bodyPr/>
          <a:lstStyle/>
          <a:p>
            <a:pPr marL="457200" lvl="0" indent="-457200" fontAlgn="base">
              <a:spcAft>
                <a:spcPct val="0"/>
              </a:spcAft>
              <a:buFont typeface="+mj-lt"/>
              <a:buAutoNum type="arabicPeriod"/>
              <a:tabLst>
                <a:tab pos="531495" algn="l"/>
              </a:tabLst>
            </a:pPr>
            <a:r>
              <a:rPr lang="en-US" sz="2000" b="1" i="1" dirty="0">
                <a:effectLst/>
                <a:latin typeface="Arial" panose="020B0604020202020204" pitchFamily="34" charset="0"/>
                <a:ea typeface="DengXian" panose="02010600030101010101" pitchFamily="2" charset="-122"/>
              </a:rPr>
              <a:t>DSS + </a:t>
            </a:r>
            <a:r>
              <a:rPr lang="en-US" sz="2000" b="1" i="1" dirty="0">
                <a:latin typeface="Arial" panose="020B0604020202020204" pitchFamily="34" charset="0"/>
                <a:ea typeface="DengXian" panose="02010600030101010101" pitchFamily="2" charset="-122"/>
              </a:rPr>
              <a:t>Overweight</a:t>
            </a:r>
            <a:r>
              <a:rPr lang="en-US" sz="2000" b="1" i="1" dirty="0">
                <a:effectLst/>
                <a:latin typeface="Arial" panose="020B0604020202020204" pitchFamily="34" charset="0"/>
                <a:ea typeface="DengXian" panose="02010600030101010101" pitchFamily="2" charset="-122"/>
              </a:rPr>
              <a:t> + Enteritis </a:t>
            </a:r>
            <a:r>
              <a:rPr lang="en-US" sz="2000" b="1" i="1" dirty="0">
                <a:latin typeface="Arial" panose="020B0604020202020204" pitchFamily="34" charset="0"/>
                <a:ea typeface="DengXian" panose="02010600030101010101" pitchFamily="2" charset="-122"/>
              </a:rPr>
              <a:t>+</a:t>
            </a:r>
            <a:r>
              <a:rPr lang="en-US" sz="2000" b="1" i="1" dirty="0">
                <a:effectLst/>
                <a:latin typeface="Arial" panose="020B0604020202020204" pitchFamily="34" charset="0"/>
                <a:ea typeface="DengXian" panose="02010600030101010101" pitchFamily="2" charset="-122"/>
              </a:rPr>
              <a:t> transaminitis + Azotemia</a:t>
            </a:r>
            <a:endParaRPr lang="en-US" b="1" dirty="0"/>
          </a:p>
          <a:p>
            <a:pPr marL="0" indent="0">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id-ID"/>
          </a:p>
        </p:txBody>
      </p:sp>
      <p:graphicFrame>
        <p:nvGraphicFramePr>
          <p:cNvPr id="4" name="Content Placeholder 3"/>
          <p:cNvGraphicFramePr>
            <a:graphicFrameLocks noGrp="1"/>
          </p:cNvGraphicFramePr>
          <p:nvPr>
            <p:ph idx="1"/>
          </p:nvPr>
        </p:nvGraphicFramePr>
        <p:xfrm>
          <a:off x="556260" y="457201"/>
          <a:ext cx="7978141" cy="5900432"/>
        </p:xfrm>
        <a:graphic>
          <a:graphicData uri="http://schemas.openxmlformats.org/drawingml/2006/table">
            <a:tbl>
              <a:tblPr firstRow="1" firstCol="1" bandRow="1">
                <a:tableStyleId>{5C22544A-7EE6-4342-B048-85BDC9FD1C3A}</a:tableStyleId>
              </a:tblPr>
              <a:tblGrid>
                <a:gridCol w="1242060"/>
                <a:gridCol w="1417320"/>
                <a:gridCol w="1595628"/>
                <a:gridCol w="2135928"/>
                <a:gridCol w="1587205"/>
              </a:tblGrid>
              <a:tr h="352031">
                <a:tc>
                  <a:txBody>
                    <a:bodyPr/>
                    <a:lstStyle/>
                    <a:p>
                      <a:pPr>
                        <a:lnSpc>
                          <a:spcPct val="115000"/>
                        </a:lnSpc>
                        <a:spcAft>
                          <a:spcPts val="0"/>
                        </a:spcAft>
                      </a:pPr>
                      <a:r>
                        <a:rPr lang="id-ID" sz="1100">
                          <a:effectLst/>
                        </a:rPr>
                        <a:t> </a:t>
                      </a:r>
                      <a:endParaRPr lang="id-ID" sz="1100">
                        <a:effectLst/>
                        <a:latin typeface="Calibri" panose="020F0502020204030204"/>
                        <a:ea typeface="Calibri" panose="020F0502020204030204"/>
                        <a:cs typeface="Times New Roman" panose="02020603050405020304"/>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defRPr/>
                      </a:pPr>
                      <a:r>
                        <a:rPr lang="id-ID" sz="1100" dirty="0">
                          <a:effectLst/>
                        </a:rPr>
                        <a:t>1</a:t>
                      </a:r>
                      <a:r>
                        <a:rPr lang="en-US" sz="1100" dirty="0">
                          <a:effectLst/>
                        </a:rPr>
                        <a:t>6/</a:t>
                      </a:r>
                      <a:r>
                        <a:rPr lang="id-ID" sz="1100" dirty="0">
                          <a:effectLst/>
                        </a:rPr>
                        <a:t>6/20</a:t>
                      </a:r>
                      <a:r>
                        <a:rPr lang="en-US" sz="1100" dirty="0">
                          <a:effectLst/>
                        </a:rPr>
                        <a:t>25</a:t>
                      </a:r>
                      <a:endParaRPr lang="id-ID" sz="1100" dirty="0">
                        <a:effectLst/>
                        <a:latin typeface="+mn-lt"/>
                        <a:ea typeface="Calibri" panose="020F0502020204030204"/>
                        <a:cs typeface="Times New Roman" panose="02020603050405020304"/>
                      </a:endParaRPr>
                    </a:p>
                    <a:p>
                      <a:pPr>
                        <a:lnSpc>
                          <a:spcPct val="115000"/>
                        </a:lnSpc>
                        <a:spcAft>
                          <a:spcPts val="0"/>
                        </a:spcAft>
                      </a:pP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1</a:t>
                      </a:r>
                      <a:r>
                        <a:rPr lang="en-US" sz="1100" dirty="0">
                          <a:effectLst/>
                        </a:rPr>
                        <a:t>7</a:t>
                      </a:r>
                      <a:r>
                        <a:rPr lang="id-ID" sz="1100" dirty="0">
                          <a:effectLst/>
                        </a:rPr>
                        <a:t>/6/20</a:t>
                      </a:r>
                      <a:r>
                        <a:rPr lang="en-US" sz="1100" dirty="0">
                          <a:effectLst/>
                        </a:rPr>
                        <a:t>25</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1</a:t>
                      </a:r>
                      <a:r>
                        <a:rPr lang="en-US" sz="1100" dirty="0">
                          <a:effectLst/>
                        </a:rPr>
                        <a:t>8</a:t>
                      </a:r>
                      <a:r>
                        <a:rPr lang="id-ID" sz="1100" dirty="0">
                          <a:effectLst/>
                        </a:rPr>
                        <a:t>/6/20</a:t>
                      </a:r>
                      <a:r>
                        <a:rPr lang="en-US" sz="1100" dirty="0">
                          <a:effectLst/>
                        </a:rPr>
                        <a:t>25</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1</a:t>
                      </a:r>
                      <a:r>
                        <a:rPr lang="en-US" sz="1100" dirty="0">
                          <a:effectLst/>
                        </a:rPr>
                        <a:t>9</a:t>
                      </a:r>
                      <a:r>
                        <a:rPr lang="id-ID" sz="1100" dirty="0">
                          <a:effectLst/>
                        </a:rPr>
                        <a:t>/6/20</a:t>
                      </a:r>
                      <a:r>
                        <a:rPr lang="en-US" sz="1100" dirty="0">
                          <a:effectLst/>
                        </a:rPr>
                        <a:t>25</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id-ID" sz="1100">
                          <a:effectLst/>
                        </a:rPr>
                        <a:t>Hemoglobin</a:t>
                      </a:r>
                      <a:endParaRPr lang="id-ID" sz="110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19,9/ 17,6</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 </a:t>
                      </a:r>
                      <a:r>
                        <a:rPr lang="en-US" sz="1100" dirty="0">
                          <a:effectLst/>
                        </a:rPr>
                        <a:t>14,4</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 </a:t>
                      </a:r>
                      <a:r>
                        <a:rPr lang="en-US" sz="1100" dirty="0">
                          <a:effectLst/>
                        </a:rPr>
                        <a:t>10,1</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id-ID" sz="1100">
                          <a:effectLst/>
                        </a:rPr>
                        <a:t>Lekosit</a:t>
                      </a:r>
                      <a:endParaRPr lang="id-ID" sz="110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12,.900 / 14.640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 15.830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 </a:t>
                      </a:r>
                      <a:r>
                        <a:rPr lang="en-US" sz="1100" dirty="0">
                          <a:effectLst/>
                        </a:rPr>
                        <a:t>12.920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id-ID" sz="1100" dirty="0">
                          <a:effectLst/>
                        </a:rPr>
                        <a:t>Trombosit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30.000 / 32.000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mn-lt"/>
                          <a:ea typeface="+mn-ea"/>
                          <a:cs typeface="+mn-cs"/>
                        </a:rPr>
                        <a:t>41.000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 </a:t>
                      </a:r>
                      <a:r>
                        <a:rPr lang="en-US" sz="1100" dirty="0">
                          <a:effectLst/>
                        </a:rPr>
                        <a:t>57.000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id-ID" sz="1100">
                          <a:effectLst/>
                        </a:rPr>
                        <a:t>Hematokrit</a:t>
                      </a:r>
                      <a:endParaRPr lang="id-ID" sz="110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56,5%/ 50,7%</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rPr>
                        <a:t>41,2%</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 </a:t>
                      </a:r>
                      <a:r>
                        <a:rPr lang="en-US" sz="1100" dirty="0">
                          <a:effectLst/>
                        </a:rPr>
                        <a:t>29,1%</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351315">
                <a:tc>
                  <a:txBody>
                    <a:bodyPr/>
                    <a:lstStyle/>
                    <a:p>
                      <a:pPr>
                        <a:lnSpc>
                          <a:spcPct val="115000"/>
                        </a:lnSpc>
                        <a:spcAft>
                          <a:spcPts val="0"/>
                        </a:spcAft>
                      </a:pPr>
                      <a:r>
                        <a:rPr lang="id-ID" sz="1100">
                          <a:effectLst/>
                        </a:rPr>
                        <a:t>Mcv/mch/mchc</a:t>
                      </a:r>
                      <a:endParaRPr lang="id-ID" sz="110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82,80/34,7/34,7</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 </a:t>
                      </a:r>
                      <a:r>
                        <a:rPr lang="en-US" sz="1100" dirty="0">
                          <a:effectLst/>
                        </a:rPr>
                        <a:t>82,80/28.3/35,0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 </a:t>
                      </a:r>
                      <a:r>
                        <a:rPr lang="en-US" sz="1100" dirty="0">
                          <a:effectLst/>
                        </a:rPr>
                        <a:t>81,7/28,3/34,7</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6690">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EOS%/EOS#</a:t>
                      </a:r>
                      <a:endParaRPr lang="en-US"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0/0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 </a:t>
                      </a:r>
                      <a:r>
                        <a:rPr lang="en-US" sz="1100" dirty="0">
                          <a:effectLst/>
                        </a:rPr>
                        <a:t>0/0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 </a:t>
                      </a:r>
                      <a:r>
                        <a:rPr lang="en-US" sz="1100" dirty="0">
                          <a:effectLst/>
                        </a:rPr>
                        <a:t>0/0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BASO%/BASO#</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0/0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0,60/0,09</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0/0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NEUT% / NEUT#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69,4/10,16</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75,2/11,9</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86,9/11,23</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LYMP%/LYMP#</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defRPr/>
                      </a:pPr>
                      <a:r>
                        <a:rPr lang="en-US" sz="1100" dirty="0">
                          <a:effectLst/>
                          <a:latin typeface="+mn-lt"/>
                          <a:ea typeface="Calibri" panose="020F0502020204030204"/>
                          <a:cs typeface="Times New Roman" panose="02020603050405020304"/>
                        </a:rPr>
                        <a:t>18,4/2,70</a:t>
                      </a:r>
                      <a:endParaRPr lang="id-ID" sz="1100" dirty="0">
                        <a:effectLst/>
                        <a:latin typeface="+mn-lt"/>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15,70/2,49</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7,7/0,99</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MONO%/MONO#</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defRPr/>
                      </a:pPr>
                      <a:r>
                        <a:rPr lang="en-US" sz="1100" dirty="0">
                          <a:effectLst/>
                          <a:latin typeface="+mn-lt"/>
                          <a:ea typeface="Calibri" panose="020F0502020204030204"/>
                          <a:cs typeface="Times New Roman" panose="02020603050405020304"/>
                        </a:rPr>
                        <a:t>12,20/1,78</a:t>
                      </a:r>
                      <a:endParaRPr lang="id-ID" sz="1100" dirty="0">
                        <a:effectLst/>
                        <a:latin typeface="+mn-lt"/>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8,50/1,35</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5,40/0,70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MPV/PDW/PCT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defRPr/>
                      </a:pPr>
                      <a:r>
                        <a:rPr lang="en-US" sz="1100" dirty="0">
                          <a:effectLst/>
                          <a:latin typeface="+mn-lt"/>
                          <a:ea typeface="Calibri" panose="020F0502020204030204"/>
                          <a:cs typeface="Times New Roman" panose="02020603050405020304"/>
                        </a:rPr>
                        <a:t>11,9/18,1/0,038</a:t>
                      </a:r>
                      <a:endParaRPr lang="id-ID" sz="1100" dirty="0">
                        <a:effectLst/>
                        <a:latin typeface="+mn-lt"/>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9,9/16,5/0,04</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10,9/16,8/0,062</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id-ID" sz="1100" dirty="0">
                          <a:effectLst/>
                        </a:rPr>
                        <a:t>Sgot/sgpt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508/157</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 </a:t>
                      </a:r>
                      <a:r>
                        <a:rPr lang="en-US" sz="1100" dirty="0">
                          <a:effectLst/>
                        </a:rPr>
                        <a: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id-ID" sz="1100" dirty="0">
                          <a:effectLst/>
                        </a:rPr>
                        <a:t> </a:t>
                      </a:r>
                      <a:r>
                        <a:rPr lang="en-US" sz="1100" dirty="0">
                          <a:effectLst/>
                        </a:rPr>
                        <a: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348687">
                <a:tc>
                  <a:txBody>
                    <a:bodyPr/>
                    <a:lstStyle/>
                    <a:p>
                      <a:pPr>
                        <a:lnSpc>
                          <a:spcPct val="115000"/>
                        </a:lnSpc>
                        <a:spcAft>
                          <a:spcPts val="0"/>
                        </a:spcAft>
                      </a:pPr>
                      <a:r>
                        <a:rPr lang="id-ID" sz="1100" dirty="0">
                          <a:effectLst/>
                        </a:rPr>
                        <a:t>Na/k/ CL</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112/3,2/83</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en-US" sz="1100" dirty="0">
                          <a:effectLst/>
                        </a:rPr>
                        <a:t>NS1</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defRPr/>
                      </a:pPr>
                      <a:r>
                        <a:rPr lang="en-US" sz="1100" dirty="0">
                          <a:effectLst/>
                          <a:latin typeface="+mn-lt"/>
                          <a:ea typeface="Calibri" panose="020F0502020204030204"/>
                          <a:cs typeface="Times New Roman" panose="02020603050405020304"/>
                        </a:rPr>
                        <a:t>NEGATIF</a:t>
                      </a:r>
                      <a:endParaRPr lang="id-ID" sz="1100" dirty="0">
                        <a:effectLst/>
                        <a:latin typeface="+mn-lt"/>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IgG/IgM Dengue</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marL="0" marR="0" lvl="0" indent="0" algn="l" defTabSz="914400" rtl="0" eaLnBrk="1" fontAlgn="auto" latinLnBrk="0" hangingPunct="1">
                        <a:lnSpc>
                          <a:spcPct val="115000"/>
                        </a:lnSpc>
                        <a:spcBef>
                          <a:spcPts val="0"/>
                        </a:spcBef>
                        <a:spcAft>
                          <a:spcPts val="0"/>
                        </a:spcAft>
                        <a:buClrTx/>
                        <a:buSzTx/>
                        <a:buFontTx/>
                        <a:buNone/>
                        <a:defRPr/>
                      </a:pPr>
                      <a:r>
                        <a:rPr lang="en-US" sz="1100" dirty="0">
                          <a:effectLst/>
                          <a:latin typeface="+mn-lt"/>
                          <a:ea typeface="Calibri" panose="020F0502020204030204"/>
                          <a:cs typeface="Times New Roman" panose="02020603050405020304"/>
                        </a:rPr>
                        <a:t>NEGATIF</a:t>
                      </a:r>
                      <a:endParaRPr lang="id-ID" sz="1100" dirty="0">
                        <a:effectLst/>
                        <a:latin typeface="+mn-lt"/>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en-US" sz="1100" dirty="0" err="1">
                          <a:effectLst/>
                          <a:latin typeface="Calibri" panose="020F0502020204030204"/>
                          <a:ea typeface="Calibri" panose="020F0502020204030204"/>
                          <a:cs typeface="Times New Roman" panose="02020603050405020304"/>
                        </a:rPr>
                        <a:t>Thypi</a:t>
                      </a:r>
                      <a:r>
                        <a:rPr lang="en-US" sz="1100" dirty="0">
                          <a:effectLst/>
                          <a:latin typeface="Calibri" panose="020F0502020204030204"/>
                          <a:ea typeface="Calibri" panose="020F0502020204030204"/>
                          <a:cs typeface="Times New Roman" panose="02020603050405020304"/>
                        </a:rPr>
                        <a:t> O/</a:t>
                      </a:r>
                      <a:r>
                        <a:rPr lang="en-US" sz="1100" dirty="0" err="1">
                          <a:effectLst/>
                          <a:latin typeface="Calibri" panose="020F0502020204030204"/>
                          <a:ea typeface="Calibri" panose="020F0502020204030204"/>
                          <a:cs typeface="Times New Roman" panose="02020603050405020304"/>
                        </a:rPr>
                        <a:t>Thyp</a:t>
                      </a:r>
                      <a:r>
                        <a:rPr lang="en-US" sz="1100" dirty="0">
                          <a:effectLst/>
                          <a:latin typeface="Calibri" panose="020F0502020204030204"/>
                          <a:ea typeface="Calibri" panose="020F0502020204030204"/>
                          <a:cs typeface="Times New Roman" panose="02020603050405020304"/>
                        </a:rPr>
                        <a:t> H/ </a:t>
                      </a:r>
                      <a:r>
                        <a:rPr lang="en-US" sz="1100" dirty="0" err="1">
                          <a:effectLst/>
                          <a:latin typeface="Calibri" panose="020F0502020204030204"/>
                          <a:ea typeface="Calibri" panose="020F0502020204030204"/>
                          <a:cs typeface="Times New Roman" panose="02020603050405020304"/>
                        </a:rPr>
                        <a:t>Parathypi</a:t>
                      </a:r>
                      <a:r>
                        <a:rPr lang="en-US" sz="1100" dirty="0">
                          <a:effectLst/>
                          <a:latin typeface="Calibri" panose="020F0502020204030204"/>
                          <a:ea typeface="Calibri" panose="020F0502020204030204"/>
                          <a:cs typeface="Times New Roman" panose="02020603050405020304"/>
                        </a:rPr>
                        <a:t> AO/ </a:t>
                      </a:r>
                      <a:r>
                        <a:rPr lang="en-US" sz="1100" dirty="0" err="1">
                          <a:effectLst/>
                          <a:latin typeface="Calibri" panose="020F0502020204030204"/>
                          <a:ea typeface="Calibri" panose="020F0502020204030204"/>
                          <a:cs typeface="Times New Roman" panose="02020603050405020304"/>
                        </a:rPr>
                        <a:t>Parathy</a:t>
                      </a:r>
                      <a:r>
                        <a:rPr lang="en-US" sz="1100" dirty="0">
                          <a:effectLst/>
                          <a:latin typeface="Calibri" panose="020F0502020204030204"/>
                          <a:ea typeface="Calibri" panose="020F0502020204030204"/>
                          <a:cs typeface="Times New Roman" panose="02020603050405020304"/>
                        </a:rPr>
                        <a:t>[I BO</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defRPr/>
                      </a:pPr>
                      <a:r>
                        <a:rPr lang="en-US" sz="1100" dirty="0">
                          <a:effectLst/>
                          <a:latin typeface="+mn-lt"/>
                          <a:ea typeface="Calibri" panose="020F0502020204030204"/>
                          <a:cs typeface="Times New Roman" panose="02020603050405020304"/>
                        </a:rPr>
                        <a:t>NEGATIF/NEGATIF/NEGATIF/NEGATIF</a:t>
                      </a:r>
                      <a:endParaRPr lang="id-ID" sz="1100" dirty="0">
                        <a:effectLst/>
                        <a:latin typeface="+mn-lt"/>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en-US" sz="1100">
                          <a:effectLst/>
                          <a:latin typeface="Calibri" panose="020F0502020204030204"/>
                          <a:ea typeface="Calibri" panose="020F0502020204030204"/>
                          <a:cs typeface="Times New Roman" panose="02020603050405020304"/>
                        </a:rPr>
                        <a:t>Ur/Cr</a:t>
                      </a:r>
                      <a:endParaRPr lang="id-ID" sz="110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98/1,25</a:t>
                      </a:r>
                      <a:endParaRPr lang="en-US"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r>
              <a:tr h="283744">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GDS</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144</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70</a:t>
                      </a:r>
                      <a:endParaRPr lang="id-ID" sz="1100" dirty="0">
                        <a:effectLst/>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100" dirty="0">
                          <a:effectLst/>
                          <a:latin typeface="Calibri" panose="020F0502020204030204"/>
                          <a:ea typeface="Calibri" panose="020F0502020204030204"/>
                          <a:cs typeface="Times New Roman" panose="02020603050405020304"/>
                        </a:rPr>
                        <a:t>150</a:t>
                      </a:r>
                      <a:endParaRPr lang="id-ID" sz="1100" dirty="0">
                        <a:effectLst/>
                        <a:latin typeface="Calibri" panose="020F0502020204030204"/>
                        <a:ea typeface="Calibri" panose="020F0502020204030204"/>
                        <a:cs typeface="Times New Roman" panose="02020603050405020304"/>
                      </a:endParaRPr>
                    </a:p>
                  </a:txBody>
                  <a:tcPr marL="68580" marR="68580" marT="0" marB="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364" name="AutoShape 2"/>
          <p:cNvCxnSpPr>
            <a:cxnSpLocks noChangeShapeType="1"/>
          </p:cNvCxnSpPr>
          <p:nvPr/>
        </p:nvCxnSpPr>
        <p:spPr bwMode="auto">
          <a:xfrm>
            <a:off x="-180330" y="1924934"/>
            <a:ext cx="8959850" cy="31750"/>
          </a:xfrm>
          <a:prstGeom prst="straightConnector1">
            <a:avLst/>
          </a:prstGeom>
          <a:noFill/>
          <a:ln w="50800">
            <a:solidFill>
              <a:srgbClr val="FFC000"/>
            </a:solidFill>
            <a:round/>
          </a:ln>
        </p:spPr>
      </p:cxnSp>
      <p:sp>
        <p:nvSpPr>
          <p:cNvPr id="11269" name="Text Box 3"/>
          <p:cNvSpPr txBox="1">
            <a:spLocks noChangeArrowheads="1"/>
          </p:cNvSpPr>
          <p:nvPr/>
        </p:nvSpPr>
        <p:spPr bwMode="auto">
          <a:xfrm>
            <a:off x="211595" y="733424"/>
            <a:ext cx="8720809" cy="935219"/>
          </a:xfrm>
          <a:prstGeom prst="rect">
            <a:avLst/>
          </a:prstGeom>
          <a:noFill/>
          <a:ln w="9525">
            <a:solidFill>
              <a:srgbClr val="FFC000"/>
            </a:solidFill>
            <a:miter lim="800000"/>
          </a:ln>
        </p:spPr>
        <p:txBody>
          <a:bodyPr/>
          <a:lstStyle/>
          <a:p>
            <a:pPr marL="85725" lvl="1" eaLnBrk="1" fontAlgn="auto" hangingPunct="1">
              <a:spcAft>
                <a:spcPts val="0"/>
              </a:spcAft>
              <a:buClr>
                <a:schemeClr val="accent2">
                  <a:shade val="75000"/>
                </a:schemeClr>
              </a:buClr>
              <a:defRPr/>
            </a:pPr>
            <a:r>
              <a:rPr lang="id-ID" sz="1400" dirty="0">
                <a:latin typeface="+mn-lt"/>
              </a:rPr>
              <a:t>Sesak (+) Demam (</a:t>
            </a:r>
            <a:r>
              <a:rPr lang="en-US" sz="1400" dirty="0">
                <a:latin typeface="+mn-lt"/>
              </a:rPr>
              <a:t>+</a:t>
            </a:r>
            <a:r>
              <a:rPr lang="id-ID" sz="1400" dirty="0">
                <a:latin typeface="+mn-lt"/>
              </a:rPr>
              <a:t>) Kuning (-)</a:t>
            </a:r>
            <a:r>
              <a:rPr lang="en-US" sz="1400" dirty="0">
                <a:latin typeface="+mn-lt"/>
              </a:rPr>
              <a:t> </a:t>
            </a:r>
            <a:r>
              <a:rPr lang="en-US" sz="1400" dirty="0" err="1">
                <a:latin typeface="+mn-lt"/>
              </a:rPr>
              <a:t>Pucat</a:t>
            </a:r>
            <a:r>
              <a:rPr lang="en-US" sz="1400" dirty="0">
                <a:latin typeface="+mn-lt"/>
              </a:rPr>
              <a:t> (+), </a:t>
            </a:r>
            <a:r>
              <a:rPr lang="en-US" sz="1400" dirty="0" err="1">
                <a:latin typeface="+mn-lt"/>
              </a:rPr>
              <a:t>Keringat</a:t>
            </a:r>
            <a:r>
              <a:rPr lang="en-US" sz="1400" dirty="0">
                <a:latin typeface="+mn-lt"/>
              </a:rPr>
              <a:t> </a:t>
            </a:r>
            <a:r>
              <a:rPr lang="en-US" sz="1400" dirty="0" err="1">
                <a:latin typeface="+mn-lt"/>
              </a:rPr>
              <a:t>dingin</a:t>
            </a:r>
            <a:r>
              <a:rPr lang="en-US" sz="1400" dirty="0">
                <a:latin typeface="+mn-lt"/>
              </a:rPr>
              <a:t> (+), </a:t>
            </a:r>
            <a:r>
              <a:rPr lang="en-US" sz="1400" dirty="0" err="1">
                <a:latin typeface="+mn-lt"/>
              </a:rPr>
              <a:t>Lemas</a:t>
            </a:r>
            <a:r>
              <a:rPr lang="en-US" sz="1400" dirty="0">
                <a:latin typeface="+mn-lt"/>
              </a:rPr>
              <a:t> (+)</a:t>
            </a:r>
            <a:r>
              <a:rPr lang="en-US" sz="1400" dirty="0"/>
              <a:t>, Nyeri ulu </a:t>
            </a:r>
            <a:r>
              <a:rPr lang="en-US" sz="1400" dirty="0" err="1"/>
              <a:t>hati</a:t>
            </a:r>
            <a:r>
              <a:rPr lang="en-US" sz="1400" dirty="0"/>
              <a:t>(+), </a:t>
            </a:r>
            <a:r>
              <a:rPr lang="en-US" sz="1400" dirty="0" err="1"/>
              <a:t>Mual</a:t>
            </a:r>
            <a:r>
              <a:rPr lang="en-US" sz="1400" dirty="0"/>
              <a:t> (+), </a:t>
            </a:r>
            <a:r>
              <a:rPr lang="en-US" sz="1400" dirty="0" err="1"/>
              <a:t>muntah</a:t>
            </a:r>
            <a:r>
              <a:rPr lang="en-US" sz="1400" dirty="0"/>
              <a:t> (+), </a:t>
            </a:r>
            <a:r>
              <a:rPr lang="en-US" sz="1400" dirty="0" err="1"/>
              <a:t>mimisan</a:t>
            </a:r>
            <a:r>
              <a:rPr lang="en-US" sz="1400" dirty="0"/>
              <a:t> (-), </a:t>
            </a:r>
            <a:r>
              <a:rPr lang="en-US" sz="1400" dirty="0" err="1"/>
              <a:t>gusi</a:t>
            </a:r>
            <a:r>
              <a:rPr lang="en-US" sz="1400" dirty="0"/>
              <a:t> </a:t>
            </a:r>
            <a:r>
              <a:rPr lang="en-US" sz="1400" dirty="0" err="1"/>
              <a:t>berdarah</a:t>
            </a:r>
            <a:r>
              <a:rPr lang="en-US" sz="1400" dirty="0"/>
              <a:t> (-), BAK </a:t>
            </a:r>
            <a:r>
              <a:rPr lang="en-US" sz="1400" dirty="0" err="1"/>
              <a:t>terakhir</a:t>
            </a:r>
            <a:r>
              <a:rPr lang="en-US" sz="1400" dirty="0"/>
              <a:t> </a:t>
            </a:r>
            <a:r>
              <a:rPr lang="en-US" sz="1400" dirty="0" err="1"/>
              <a:t>pukul</a:t>
            </a:r>
            <a:r>
              <a:rPr lang="en-US" sz="1400" dirty="0"/>
              <a:t> 09.30 (</a:t>
            </a:r>
            <a:r>
              <a:rPr lang="en-US" sz="1400" dirty="0" err="1"/>
              <a:t>sedikit</a:t>
            </a:r>
            <a:r>
              <a:rPr lang="en-US" sz="1400" dirty="0"/>
              <a:t>)</a:t>
            </a:r>
            <a:endParaRPr lang="en-US" sz="1400" dirty="0"/>
          </a:p>
          <a:p>
            <a:pPr marL="85725" lvl="1" eaLnBrk="1" fontAlgn="auto" hangingPunct="1">
              <a:spcAft>
                <a:spcPts val="0"/>
              </a:spcAft>
              <a:buClr>
                <a:schemeClr val="accent2">
                  <a:shade val="75000"/>
                </a:schemeClr>
              </a:buClr>
              <a:defRPr/>
            </a:pPr>
            <a:r>
              <a:rPr lang="en-US" sz="1400" dirty="0">
                <a:cs typeface="Arial" panose="020B0604020202020204" pitchFamily="34" charset="0"/>
              </a:rPr>
              <a:t>N</a:t>
            </a:r>
            <a:r>
              <a:rPr lang="id-ID" sz="1400" dirty="0">
                <a:latin typeface="+mn-lt"/>
                <a:cs typeface="Arial" panose="020B0604020202020204" pitchFamily="34" charset="0"/>
              </a:rPr>
              <a:t>afas spontan (+)</a:t>
            </a:r>
            <a:r>
              <a:rPr lang="en-US" sz="1400" dirty="0">
                <a:latin typeface="+mn-lt"/>
                <a:cs typeface="Arial" panose="020B0604020202020204" pitchFamily="34" charset="0"/>
              </a:rPr>
              <a:t>, </a:t>
            </a:r>
            <a:r>
              <a:rPr lang="en-US" sz="1400" dirty="0" err="1"/>
              <a:t>Nadi</a:t>
            </a:r>
            <a:r>
              <a:rPr lang="en-US" sz="1400" dirty="0"/>
              <a:t> </a:t>
            </a:r>
            <a:r>
              <a:rPr lang="en-US" sz="1400" dirty="0" err="1"/>
              <a:t>tidak</a:t>
            </a:r>
            <a:r>
              <a:rPr lang="en-US" sz="1400" dirty="0"/>
              <a:t> </a:t>
            </a:r>
            <a:r>
              <a:rPr lang="en-US" sz="1400" dirty="0" err="1"/>
              <a:t>teraba</a:t>
            </a:r>
            <a:r>
              <a:rPr lang="en-US" sz="1400" dirty="0">
                <a:latin typeface="+mn-lt"/>
              </a:rPr>
              <a:t>  RR:</a:t>
            </a:r>
            <a:r>
              <a:rPr lang="id-ID" sz="1400" dirty="0">
                <a:latin typeface="+mn-lt"/>
              </a:rPr>
              <a:t> </a:t>
            </a:r>
            <a:r>
              <a:rPr lang="en-US" sz="1400" dirty="0"/>
              <a:t>36</a:t>
            </a:r>
            <a:r>
              <a:rPr lang="id-ID" sz="1400" dirty="0">
                <a:latin typeface="+mn-lt"/>
              </a:rPr>
              <a:t> </a:t>
            </a:r>
            <a:r>
              <a:rPr lang="en-US" sz="1400" dirty="0">
                <a:latin typeface="+mn-lt"/>
              </a:rPr>
              <a:t>x/m</a:t>
            </a:r>
            <a:r>
              <a:rPr lang="id-ID" sz="1400" dirty="0">
                <a:latin typeface="+mn-lt"/>
              </a:rPr>
              <a:t> </a:t>
            </a:r>
            <a:r>
              <a:rPr lang="en-US" sz="1400" dirty="0">
                <a:latin typeface="+mn-lt"/>
              </a:rPr>
              <a:t>tax:</a:t>
            </a:r>
            <a:r>
              <a:rPr lang="id-ID" sz="1400" dirty="0">
                <a:latin typeface="+mn-lt"/>
              </a:rPr>
              <a:t> </a:t>
            </a:r>
            <a:r>
              <a:rPr lang="en-US" sz="1400" dirty="0"/>
              <a:t>37.5</a:t>
            </a:r>
            <a:r>
              <a:rPr lang="id-ID" sz="1400" dirty="0">
                <a:latin typeface="+mn-lt"/>
              </a:rPr>
              <a:t> </a:t>
            </a:r>
            <a:r>
              <a:rPr lang="id-ID" sz="1400" dirty="0">
                <a:latin typeface="+mn-lt"/>
                <a:sym typeface="Symbol" panose="05050102010706020507"/>
              </a:rPr>
              <a:t></a:t>
            </a:r>
            <a:r>
              <a:rPr lang="en-US" sz="1400" dirty="0">
                <a:latin typeface="+mn-lt"/>
              </a:rPr>
              <a:t>C</a:t>
            </a:r>
            <a:r>
              <a:rPr lang="id-ID" sz="1400" dirty="0">
                <a:latin typeface="+mn-lt"/>
              </a:rPr>
              <a:t>, Sat O2 </a:t>
            </a:r>
            <a:r>
              <a:rPr lang="en-US" sz="1400" dirty="0">
                <a:latin typeface="+mn-lt"/>
              </a:rPr>
              <a:t>91</a:t>
            </a:r>
            <a:r>
              <a:rPr lang="id-ID" sz="1400" dirty="0">
                <a:latin typeface="+mn-lt"/>
              </a:rPr>
              <a:t> %</a:t>
            </a:r>
            <a:r>
              <a:rPr lang="en-US" sz="1400" dirty="0">
                <a:latin typeface="+mn-lt"/>
              </a:rPr>
              <a:t>, TD: 100/80</a:t>
            </a:r>
            <a:r>
              <a:rPr lang="id-ID" sz="1400" dirty="0">
                <a:latin typeface="+mn-lt"/>
              </a:rPr>
              <a:t> akral </a:t>
            </a:r>
            <a:r>
              <a:rPr lang="en-US" sz="1400" dirty="0" err="1">
                <a:latin typeface="+mn-lt"/>
              </a:rPr>
              <a:t>dingin</a:t>
            </a:r>
            <a:r>
              <a:rPr lang="id-ID" sz="1400" dirty="0">
                <a:latin typeface="+mn-lt"/>
              </a:rPr>
              <a:t> CRT </a:t>
            </a:r>
            <a:r>
              <a:rPr lang="en-US" sz="1400" dirty="0">
                <a:latin typeface="+mn-lt"/>
              </a:rPr>
              <a:t>3</a:t>
            </a:r>
            <a:r>
              <a:rPr lang="id-ID" sz="1400" dirty="0">
                <a:latin typeface="+mn-lt"/>
              </a:rPr>
              <a:t> det</a:t>
            </a:r>
            <a:r>
              <a:rPr lang="en-US" sz="1400" dirty="0">
                <a:latin typeface="+mn-lt"/>
              </a:rPr>
              <a:t>, BB: 63kg. TB : 152 cm,  GCS 456</a:t>
            </a:r>
            <a:endParaRPr lang="id-ID" sz="1400" dirty="0">
              <a:latin typeface="+mn-lt"/>
            </a:endParaRPr>
          </a:p>
        </p:txBody>
      </p:sp>
      <p:sp>
        <p:nvSpPr>
          <p:cNvPr id="11273" name="Text Box 6"/>
          <p:cNvSpPr txBox="1">
            <a:spLocks noChangeArrowheads="1"/>
          </p:cNvSpPr>
          <p:nvPr/>
        </p:nvSpPr>
        <p:spPr bwMode="auto">
          <a:xfrm>
            <a:off x="3873287" y="1668643"/>
            <a:ext cx="1328737" cy="301625"/>
          </a:xfrm>
          <a:prstGeom prst="rect">
            <a:avLst/>
          </a:prstGeom>
          <a:solidFill>
            <a:schemeClr val="bg1"/>
          </a:solidFill>
          <a:ln w="9525">
            <a:solidFill>
              <a:schemeClr val="tx1"/>
            </a:solidFill>
            <a:miter lim="800000"/>
          </a:ln>
        </p:spPr>
        <p:txBody>
          <a:bodyPr/>
          <a:lstStyle/>
          <a:p>
            <a:pPr algn="ctr">
              <a:spcAft>
                <a:spcPts val="1000"/>
              </a:spcAft>
              <a:buFont typeface="Wingdings 2" panose="05020102010507070707" pitchFamily="18" charset="2"/>
              <a:buNone/>
              <a:defRPr/>
            </a:pPr>
            <a:r>
              <a:rPr lang="en-US" sz="1400" dirty="0">
                <a:cs typeface="Arial" panose="020B0604020202020204" pitchFamily="34" charset="0"/>
              </a:rPr>
              <a:t>16</a:t>
            </a:r>
            <a:r>
              <a:rPr lang="id-ID" sz="1400" dirty="0">
                <a:cs typeface="Arial" panose="020B0604020202020204" pitchFamily="34" charset="0"/>
              </a:rPr>
              <a:t>/</a:t>
            </a:r>
            <a:r>
              <a:rPr lang="en-US" sz="1400" dirty="0">
                <a:cs typeface="Arial" panose="020B0604020202020204" pitchFamily="34" charset="0"/>
              </a:rPr>
              <a:t>6</a:t>
            </a:r>
            <a:r>
              <a:rPr lang="id-ID" sz="1400" dirty="0">
                <a:cs typeface="Arial" panose="020B0604020202020204" pitchFamily="34" charset="0"/>
              </a:rPr>
              <a:t>/</a:t>
            </a:r>
            <a:r>
              <a:rPr lang="en-US" sz="1400" dirty="0">
                <a:cs typeface="Arial" panose="020B0604020202020204" pitchFamily="34" charset="0"/>
              </a:rPr>
              <a:t>2025 (10.15)</a:t>
            </a:r>
            <a:r>
              <a:rPr lang="id-ID" sz="1400" dirty="0">
                <a:cs typeface="Arial" panose="020B0604020202020204" pitchFamily="34" charset="0"/>
              </a:rPr>
              <a:t> </a:t>
            </a:r>
            <a:endParaRPr lang="en-US" sz="1400" dirty="0">
              <a:cs typeface="Arial" panose="020B0604020202020204" pitchFamily="34" charset="0"/>
            </a:endParaRPr>
          </a:p>
          <a:p>
            <a:pPr algn="ctr">
              <a:spcAft>
                <a:spcPts val="1000"/>
              </a:spcAft>
              <a:buFont typeface="Arial" panose="020B0604020202020204" pitchFamily="34" charset="0"/>
              <a:buNone/>
              <a:defRPr/>
            </a:pPr>
            <a:endParaRPr lang="id-ID" altLang="en-US" sz="1400" b="1" dirty="0">
              <a:cs typeface="Arial" panose="020B0604020202020204" pitchFamily="34" charset="0"/>
            </a:endParaRPr>
          </a:p>
        </p:txBody>
      </p:sp>
      <p:sp>
        <p:nvSpPr>
          <p:cNvPr id="15367" name="Text Box 14"/>
          <p:cNvSpPr txBox="1">
            <a:spLocks noChangeArrowheads="1"/>
          </p:cNvSpPr>
          <p:nvPr/>
        </p:nvSpPr>
        <p:spPr bwMode="auto">
          <a:xfrm>
            <a:off x="3635935" y="381728"/>
            <a:ext cx="2091359" cy="270560"/>
          </a:xfrm>
          <a:prstGeom prst="rect">
            <a:avLst/>
          </a:prstGeom>
          <a:solidFill>
            <a:schemeClr val="bg2"/>
          </a:solidFill>
          <a:ln w="9525">
            <a:solidFill>
              <a:schemeClr val="tx1"/>
            </a:solidFill>
            <a:miter lim="800000"/>
          </a:ln>
        </p:spPr>
        <p:txBody>
          <a:bodyPr/>
          <a:lstStyle/>
          <a:p>
            <a:pPr algn="ctr">
              <a:lnSpc>
                <a:spcPct val="115000"/>
              </a:lnSpc>
            </a:pPr>
            <a:r>
              <a:rPr lang="en-US" altLang="en-US" sz="1400" dirty="0">
                <a:cs typeface="Arial" panose="020B0604020202020204" pitchFamily="34" charset="0"/>
              </a:rPr>
              <a:t>IGD</a:t>
            </a:r>
            <a:endParaRPr lang="id-ID" altLang="en-US" sz="1400" dirty="0">
              <a:cs typeface="Arial" panose="020B0604020202020204" pitchFamily="34" charset="0"/>
            </a:endParaRPr>
          </a:p>
        </p:txBody>
      </p:sp>
      <p:sp>
        <p:nvSpPr>
          <p:cNvPr id="23" name="Subtitle 2"/>
          <p:cNvSpPr txBox="1">
            <a:spLocks noChangeArrowheads="1"/>
          </p:cNvSpPr>
          <p:nvPr/>
        </p:nvSpPr>
        <p:spPr bwMode="auto">
          <a:xfrm>
            <a:off x="683730" y="-41679"/>
            <a:ext cx="7725633" cy="380241"/>
          </a:xfrm>
          <a:prstGeom prst="rect">
            <a:avLst/>
          </a:prstGeom>
          <a:noFill/>
          <a:ln w="9525">
            <a:noFill/>
            <a:miter lim="800000"/>
          </a:ln>
        </p:spPr>
        <p:txBody>
          <a:bodyPr vert="horz" wrap="square" lIns="91440" tIns="45720" rIns="91440" bIns="45720" numCol="1" anchor="t" anchorCtr="0" compatLnSpc="1"/>
          <a:lstStyle/>
          <a:p>
            <a:pPr algn="ctr" eaLnBrk="1" fontAlgn="auto" hangingPunct="1">
              <a:spcAft>
                <a:spcPts val="0"/>
              </a:spcAft>
              <a:defRPr/>
            </a:pPr>
            <a:endParaRPr lang="id-ID">
              <a:latin typeface="+mn-lt"/>
            </a:endParaRPr>
          </a:p>
        </p:txBody>
      </p:sp>
      <p:sp>
        <p:nvSpPr>
          <p:cNvPr id="30" name="Text Box 3"/>
          <p:cNvSpPr txBox="1">
            <a:spLocks noChangeArrowheads="1"/>
          </p:cNvSpPr>
          <p:nvPr/>
        </p:nvSpPr>
        <p:spPr bwMode="auto">
          <a:xfrm>
            <a:off x="194198" y="2878736"/>
            <a:ext cx="8764806" cy="2782419"/>
          </a:xfrm>
          <a:prstGeom prst="rect">
            <a:avLst/>
          </a:prstGeom>
          <a:noFill/>
          <a:ln w="9525">
            <a:solidFill>
              <a:srgbClr val="FFC000"/>
            </a:solidFill>
            <a:miter lim="800000"/>
          </a:ln>
        </p:spPr>
        <p:txBody>
          <a:bodyPr/>
          <a:lstStyle/>
          <a:p>
            <a:pPr marL="228600" indent="-228600">
              <a:buFont typeface="+mj-lt"/>
              <a:buAutoNum type="arabicPeriod"/>
              <a:defRPr/>
            </a:pPr>
            <a:r>
              <a:rPr lang="en-US" dirty="0">
                <a:latin typeface="+mn-lt"/>
                <a:cs typeface="Arial" panose="020B0604020202020204" pitchFamily="34" charset="0"/>
              </a:rPr>
              <a:t>02 NRBM 10 lpm</a:t>
            </a:r>
            <a:endParaRPr lang="en-US" dirty="0">
              <a:latin typeface="+mn-lt"/>
              <a:cs typeface="Arial" panose="020B0604020202020204" pitchFamily="34" charset="0"/>
            </a:endParaRPr>
          </a:p>
          <a:p>
            <a:pPr marL="228600" indent="-228600">
              <a:buFont typeface="+mj-lt"/>
              <a:buAutoNum type="arabicPeriod"/>
              <a:defRPr/>
            </a:pPr>
            <a:r>
              <a:rPr lang="id-ID" dirty="0">
                <a:latin typeface="+mn-lt"/>
                <a:cs typeface="Arial" panose="020B0604020202020204" pitchFamily="34" charset="0"/>
              </a:rPr>
              <a:t>IVF</a:t>
            </a:r>
            <a:r>
              <a:rPr lang="en-US" dirty="0">
                <a:cs typeface="Arial" panose="020B0604020202020204" pitchFamily="34" charset="0"/>
              </a:rPr>
              <a:t>D RL 10-20ml/</a:t>
            </a:r>
            <a:r>
              <a:rPr lang="en-US" dirty="0" err="1">
                <a:cs typeface="Arial" panose="020B0604020202020204" pitchFamily="34" charset="0"/>
              </a:rPr>
              <a:t>kgBB</a:t>
            </a:r>
            <a:r>
              <a:rPr lang="en-US" dirty="0">
                <a:cs typeface="Arial" panose="020B0604020202020204" pitchFamily="34" charset="0"/>
              </a:rPr>
              <a:t> </a:t>
            </a:r>
            <a:r>
              <a:rPr lang="en-US" dirty="0" err="1">
                <a:cs typeface="Arial" panose="020B0604020202020204" pitchFamily="34" charset="0"/>
              </a:rPr>
              <a:t>dalam</a:t>
            </a:r>
            <a:r>
              <a:rPr lang="en-US" dirty="0">
                <a:cs typeface="Arial" panose="020B0604020202020204" pitchFamily="34" charset="0"/>
              </a:rPr>
              <a:t> 60 </a:t>
            </a:r>
            <a:r>
              <a:rPr lang="en-US" dirty="0" err="1">
                <a:cs typeface="Arial" panose="020B0604020202020204" pitchFamily="34" charset="0"/>
              </a:rPr>
              <a:t>mnt</a:t>
            </a:r>
            <a:r>
              <a:rPr lang="en-US" dirty="0">
                <a:cs typeface="Arial" panose="020B0604020202020204" pitchFamily="34" charset="0"/>
              </a:rPr>
              <a:t> (1280cc) (10.30-11.30)</a:t>
            </a:r>
            <a:endParaRPr lang="id-ID" dirty="0">
              <a:latin typeface="+mn-lt"/>
              <a:cs typeface="Arial" panose="020B0604020202020204" pitchFamily="34" charset="0"/>
            </a:endParaRPr>
          </a:p>
          <a:p>
            <a:pPr marL="228600" indent="-228600">
              <a:buFont typeface="+mj-lt"/>
              <a:buAutoNum type="arabicPeriod"/>
              <a:defRPr/>
            </a:pPr>
            <a:r>
              <a:rPr lang="id-ID" dirty="0">
                <a:latin typeface="+mn-lt"/>
                <a:cs typeface="Arial" panose="020B0604020202020204" pitchFamily="34" charset="0"/>
              </a:rPr>
              <a:t>  </a:t>
            </a:r>
            <a:r>
              <a:rPr lang="en-US" dirty="0">
                <a:cs typeface="Arial" panose="020B0604020202020204" pitchFamily="34" charset="0"/>
              </a:rPr>
              <a:t>IV </a:t>
            </a:r>
            <a:r>
              <a:rPr lang="en-US" dirty="0" err="1">
                <a:cs typeface="Arial" panose="020B0604020202020204" pitchFamily="34" charset="0"/>
              </a:rPr>
              <a:t>ondancentron</a:t>
            </a:r>
            <a:r>
              <a:rPr lang="en-US" dirty="0">
                <a:cs typeface="Arial" panose="020B0604020202020204" pitchFamily="34" charset="0"/>
              </a:rPr>
              <a:t> 4mg</a:t>
            </a:r>
            <a:endParaRPr lang="en-US" dirty="0">
              <a:latin typeface="+mn-lt"/>
              <a:cs typeface="Arial" panose="020B0604020202020204" pitchFamily="34" charset="0"/>
            </a:endParaRPr>
          </a:p>
          <a:p>
            <a:pPr marL="342900" indent="-342900">
              <a:buFont typeface="+mj-lt"/>
              <a:buAutoNum type="arabicPeriod" startAt="3"/>
              <a:defRPr/>
            </a:pPr>
            <a:r>
              <a:rPr lang="en-US" dirty="0" err="1">
                <a:cs typeface="Arial" panose="020B0604020202020204" pitchFamily="34" charset="0"/>
              </a:rPr>
              <a:t>Ranitidin</a:t>
            </a:r>
            <a:r>
              <a:rPr lang="en-US" dirty="0">
                <a:cs typeface="Arial" panose="020B0604020202020204" pitchFamily="34" charset="0"/>
              </a:rPr>
              <a:t> 50 mg</a:t>
            </a:r>
            <a:endParaRPr lang="en-US" dirty="0">
              <a:cs typeface="Arial" panose="020B0604020202020204" pitchFamily="34" charset="0"/>
            </a:endParaRPr>
          </a:p>
          <a:p>
            <a:pPr>
              <a:defRPr/>
            </a:pPr>
            <a:r>
              <a:rPr lang="en-US" dirty="0" err="1">
                <a:latin typeface="+mn-lt"/>
                <a:cs typeface="Arial" panose="020B0604020202020204" pitchFamily="34" charset="0"/>
              </a:rPr>
              <a:t>Lapor</a:t>
            </a:r>
            <a:r>
              <a:rPr lang="en-US" dirty="0">
                <a:latin typeface="+mn-lt"/>
                <a:cs typeface="Arial" panose="020B0604020202020204" pitchFamily="34" charset="0"/>
              </a:rPr>
              <a:t> </a:t>
            </a:r>
            <a:r>
              <a:rPr lang="en-US" dirty="0">
                <a:cs typeface="Arial" panose="020B0604020202020204" pitchFamily="34" charset="0"/>
              </a:rPr>
              <a:t>DPJP</a:t>
            </a:r>
            <a:endParaRPr lang="en-US" dirty="0">
              <a:cs typeface="Arial" panose="020B0604020202020204" pitchFamily="34" charset="0"/>
            </a:endParaRPr>
          </a:p>
          <a:p>
            <a:pPr>
              <a:defRPr/>
            </a:pPr>
            <a:r>
              <a:rPr lang="en-US" dirty="0">
                <a:latin typeface="+mn-lt"/>
                <a:cs typeface="Arial" panose="020B0604020202020204" pitchFamily="34" charset="0"/>
              </a:rPr>
              <a:t>A/p</a:t>
            </a:r>
            <a:endParaRPr lang="en-US" dirty="0">
              <a:latin typeface="+mn-lt"/>
              <a:cs typeface="Arial" panose="020B0604020202020204" pitchFamily="34" charset="0"/>
            </a:endParaRPr>
          </a:p>
          <a:p>
            <a:pPr>
              <a:defRPr/>
            </a:pPr>
            <a:r>
              <a:rPr lang="en-US" dirty="0">
                <a:cs typeface="Arial" panose="020B0604020202020204" pitchFamily="34" charset="0"/>
              </a:rPr>
              <a:t>IVFD </a:t>
            </a:r>
            <a:r>
              <a:rPr lang="en-US" dirty="0" err="1">
                <a:cs typeface="Arial" panose="020B0604020202020204" pitchFamily="34" charset="0"/>
              </a:rPr>
              <a:t>A</a:t>
            </a:r>
            <a:r>
              <a:rPr lang="en-US" dirty="0" err="1">
                <a:latin typeface="+mn-lt"/>
                <a:cs typeface="Arial" panose="020B0604020202020204" pitchFamily="34" charset="0"/>
              </a:rPr>
              <a:t>sering</a:t>
            </a:r>
            <a:r>
              <a:rPr lang="en-US" dirty="0">
                <a:latin typeface="+mn-lt"/>
                <a:cs typeface="Arial" panose="020B0604020202020204" pitchFamily="34" charset="0"/>
              </a:rPr>
              <a:t> 600cc </a:t>
            </a:r>
            <a:r>
              <a:rPr lang="en-US" dirty="0" err="1">
                <a:latin typeface="+mn-lt"/>
                <a:cs typeface="Arial" panose="020B0604020202020204" pitchFamily="34" charset="0"/>
              </a:rPr>
              <a:t>secepat</a:t>
            </a:r>
            <a:r>
              <a:rPr lang="en-US" dirty="0">
                <a:latin typeface="+mn-lt"/>
                <a:cs typeface="Arial" panose="020B0604020202020204" pitchFamily="34" charset="0"/>
              </a:rPr>
              <a:t> </a:t>
            </a:r>
            <a:r>
              <a:rPr lang="en-US" dirty="0" err="1">
                <a:latin typeface="+mn-lt"/>
                <a:cs typeface="Arial" panose="020B0604020202020204" pitchFamily="34" charset="0"/>
              </a:rPr>
              <a:t>nya</a:t>
            </a:r>
            <a:r>
              <a:rPr lang="en-US" dirty="0">
                <a:latin typeface="+mn-lt"/>
                <a:cs typeface="Arial" panose="020B0604020202020204" pitchFamily="34" charset="0"/>
              </a:rPr>
              <a:t> </a:t>
            </a:r>
            <a:r>
              <a:rPr lang="en-US" dirty="0" err="1">
                <a:latin typeface="+mn-lt"/>
                <a:cs typeface="Arial" panose="020B0604020202020204" pitchFamily="34" charset="0"/>
              </a:rPr>
              <a:t>lanjut</a:t>
            </a:r>
            <a:r>
              <a:rPr lang="en-US" dirty="0">
                <a:latin typeface="+mn-lt"/>
                <a:cs typeface="Arial" panose="020B0604020202020204" pitchFamily="34" charset="0"/>
              </a:rPr>
              <a:t> 500cc </a:t>
            </a:r>
            <a:r>
              <a:rPr lang="en-US" dirty="0" err="1">
                <a:latin typeface="+mn-lt"/>
                <a:cs typeface="Arial" panose="020B0604020202020204" pitchFamily="34" charset="0"/>
              </a:rPr>
              <a:t>dalam</a:t>
            </a:r>
            <a:r>
              <a:rPr lang="en-US" dirty="0">
                <a:latin typeface="+mn-lt"/>
                <a:cs typeface="Arial" panose="020B0604020202020204" pitchFamily="34" charset="0"/>
              </a:rPr>
              <a:t> 1jam, </a:t>
            </a:r>
            <a:r>
              <a:rPr lang="en-US" dirty="0" err="1">
                <a:latin typeface="+mn-lt"/>
                <a:cs typeface="Arial" panose="020B0604020202020204" pitchFamily="34" charset="0"/>
              </a:rPr>
              <a:t>lanjut</a:t>
            </a:r>
            <a:r>
              <a:rPr lang="en-US" dirty="0">
                <a:latin typeface="+mn-lt"/>
                <a:cs typeface="Arial" panose="020B0604020202020204" pitchFamily="34" charset="0"/>
              </a:rPr>
              <a:t> </a:t>
            </a:r>
            <a:r>
              <a:rPr lang="en-US" dirty="0" err="1">
                <a:latin typeface="+mn-lt"/>
                <a:cs typeface="Arial" panose="020B0604020202020204" pitchFamily="34" charset="0"/>
              </a:rPr>
              <a:t>maintanance</a:t>
            </a:r>
            <a:r>
              <a:rPr lang="en-US" dirty="0">
                <a:latin typeface="+mn-lt"/>
                <a:cs typeface="Arial" panose="020B0604020202020204" pitchFamily="34" charset="0"/>
              </a:rPr>
              <a:t> 2000cc/24jam, </a:t>
            </a:r>
            <a:r>
              <a:rPr lang="en-US" dirty="0">
                <a:cs typeface="Arial" panose="020B0604020202020204" pitchFamily="34" charset="0"/>
              </a:rPr>
              <a:t>IV Omeprazole </a:t>
            </a:r>
            <a:r>
              <a:rPr lang="en-US" dirty="0">
                <a:latin typeface="+mn-lt"/>
                <a:cs typeface="Arial" panose="020B0604020202020204" pitchFamily="34" charset="0"/>
              </a:rPr>
              <a:t> 2 x 40 mg,  IV </a:t>
            </a:r>
            <a:r>
              <a:rPr lang="en-US" dirty="0" err="1">
                <a:cs typeface="Arial" panose="020B0604020202020204" pitchFamily="34" charset="0"/>
              </a:rPr>
              <a:t>O</a:t>
            </a:r>
            <a:r>
              <a:rPr lang="en-US" dirty="0" err="1">
                <a:latin typeface="+mn-lt"/>
                <a:cs typeface="Arial" panose="020B0604020202020204" pitchFamily="34" charset="0"/>
              </a:rPr>
              <a:t>ndancentron</a:t>
            </a:r>
            <a:r>
              <a:rPr lang="en-US" dirty="0">
                <a:latin typeface="+mn-lt"/>
                <a:cs typeface="Arial" panose="020B0604020202020204" pitchFamily="34" charset="0"/>
              </a:rPr>
              <a:t> 3x6,5mg, IV </a:t>
            </a:r>
            <a:r>
              <a:rPr lang="en-US" dirty="0" err="1">
                <a:cs typeface="Arial" panose="020B0604020202020204" pitchFamily="34" charset="0"/>
              </a:rPr>
              <a:t>A</a:t>
            </a:r>
            <a:r>
              <a:rPr lang="en-US" dirty="0" err="1">
                <a:latin typeface="+mn-lt"/>
                <a:cs typeface="Arial" panose="020B0604020202020204" pitchFamily="34" charset="0"/>
              </a:rPr>
              <a:t>ntrain</a:t>
            </a:r>
            <a:r>
              <a:rPr lang="en-US" dirty="0">
                <a:latin typeface="+mn-lt"/>
                <a:cs typeface="Arial" panose="020B0604020202020204" pitchFamily="34" charset="0"/>
              </a:rPr>
              <a:t> 3x640mg, PO pct 4x750mg. Pasang </a:t>
            </a:r>
            <a:r>
              <a:rPr lang="en-US" dirty="0" err="1">
                <a:latin typeface="+mn-lt"/>
                <a:cs typeface="Arial" panose="020B0604020202020204" pitchFamily="34" charset="0"/>
              </a:rPr>
              <a:t>nrbm</a:t>
            </a:r>
            <a:r>
              <a:rPr lang="en-US" dirty="0">
                <a:latin typeface="+mn-lt"/>
                <a:cs typeface="Arial" panose="020B0604020202020204" pitchFamily="34" charset="0"/>
              </a:rPr>
              <a:t> 10 lpm.</a:t>
            </a:r>
            <a:endParaRPr lang="en-US" dirty="0">
              <a:latin typeface="+mn-lt"/>
              <a:cs typeface="Arial" panose="020B0604020202020204" pitchFamily="34" charset="0"/>
            </a:endParaRPr>
          </a:p>
          <a:p>
            <a:pPr>
              <a:defRPr/>
            </a:pPr>
            <a:r>
              <a:rPr lang="en-US" dirty="0">
                <a:latin typeface="+mn-lt"/>
                <a:cs typeface="Arial" panose="020B0604020202020204" pitchFamily="34" charset="0"/>
              </a:rPr>
              <a:t>Pasang </a:t>
            </a:r>
            <a:r>
              <a:rPr lang="en-US" dirty="0" err="1">
                <a:cs typeface="Arial" panose="020B0604020202020204" pitchFamily="34" charset="0"/>
              </a:rPr>
              <a:t>D</a:t>
            </a:r>
            <a:r>
              <a:rPr lang="en-US" dirty="0" err="1">
                <a:latin typeface="+mn-lt"/>
                <a:cs typeface="Arial" panose="020B0604020202020204" pitchFamily="34" charset="0"/>
              </a:rPr>
              <a:t>obutamin</a:t>
            </a:r>
            <a:r>
              <a:rPr lang="en-US" dirty="0">
                <a:latin typeface="+mn-lt"/>
                <a:cs typeface="Arial" panose="020B0604020202020204" pitchFamily="34" charset="0"/>
              </a:rPr>
              <a:t> 5mcg/</a:t>
            </a:r>
            <a:r>
              <a:rPr lang="en-US" dirty="0" err="1">
                <a:latin typeface="+mn-lt"/>
                <a:cs typeface="Arial" panose="020B0604020202020204" pitchFamily="34" charset="0"/>
              </a:rPr>
              <a:t>kgbb</a:t>
            </a:r>
            <a:r>
              <a:rPr lang="en-US" dirty="0">
                <a:latin typeface="+mn-lt"/>
                <a:cs typeface="Arial" panose="020B0604020202020204" pitchFamily="34" charset="0"/>
              </a:rPr>
              <a:t>/ jam</a:t>
            </a:r>
            <a:endParaRPr lang="en-US" dirty="0">
              <a:latin typeface="+mn-lt"/>
              <a:cs typeface="Arial" panose="020B0604020202020204" pitchFamily="34" charset="0"/>
            </a:endParaRPr>
          </a:p>
          <a:p>
            <a:pPr>
              <a:defRPr/>
            </a:pPr>
            <a:endParaRPr lang="id-ID" dirty="0">
              <a:latin typeface="+mn-lt"/>
              <a:cs typeface="Arial" panose="020B0604020202020204" pitchFamily="34" charset="0"/>
            </a:endParaRPr>
          </a:p>
          <a:p>
            <a:pPr marL="428625" lvl="1" indent="-342900" eaLnBrk="1" fontAlgn="auto" hangingPunct="1">
              <a:spcAft>
                <a:spcPts val="0"/>
              </a:spcAft>
              <a:buClr>
                <a:schemeClr val="accent2">
                  <a:shade val="75000"/>
                </a:schemeClr>
              </a:buClr>
              <a:buFont typeface="+mj-lt"/>
              <a:buAutoNum type="arabicPeriod"/>
              <a:defRPr/>
            </a:pPr>
            <a:endParaRPr lang="id-ID" dirty="0">
              <a:latin typeface="+mn-lt"/>
              <a:cs typeface="Arial" panose="020B0604020202020204" pitchFamily="34" charset="0"/>
            </a:endParaRPr>
          </a:p>
          <a:p>
            <a:pPr marL="428625" lvl="1" indent="-342900" eaLnBrk="1" fontAlgn="auto" hangingPunct="1">
              <a:spcAft>
                <a:spcPts val="0"/>
              </a:spcAft>
              <a:buClr>
                <a:schemeClr val="accent2">
                  <a:shade val="75000"/>
                </a:schemeClr>
              </a:buClr>
              <a:buFont typeface="+mj-lt"/>
              <a:buAutoNum type="arabicPeriod"/>
              <a:defRPr/>
            </a:pPr>
            <a:endParaRPr lang="id-ID" dirty="0">
              <a:latin typeface="+mn-lt"/>
              <a:cs typeface="Arial" panose="020B0604020202020204" pitchFamily="34" charset="0"/>
            </a:endParaRPr>
          </a:p>
          <a:p>
            <a:pPr marL="342900" indent="-342900" algn="ctr">
              <a:spcBef>
                <a:spcPct val="20000"/>
              </a:spcBef>
              <a:buClr>
                <a:srgbClr val="F9F9F9"/>
              </a:buClr>
              <a:buSzPct val="65000"/>
              <a:buFont typeface="+mj-lt"/>
              <a:buAutoNum type="arabicPeriod" startAt="9"/>
              <a:tabLst>
                <a:tab pos="114300" algn="l"/>
                <a:tab pos="228600" algn="l"/>
              </a:tabLst>
              <a:defRPr/>
            </a:pPr>
            <a:r>
              <a:rPr lang="en-US" dirty="0">
                <a:latin typeface="+mn-lt"/>
                <a:cs typeface="Arial" panose="020B0604020202020204" pitchFamily="34" charset="0"/>
              </a:rPr>
              <a:t> </a:t>
            </a:r>
            <a:endParaRPr lang="en-US" dirty="0">
              <a:latin typeface="+mn-lt"/>
              <a:cs typeface="Arial" panose="020B0604020202020204" pitchFamily="34" charset="0"/>
            </a:endParaRPr>
          </a:p>
        </p:txBody>
      </p:sp>
      <p:sp>
        <p:nvSpPr>
          <p:cNvPr id="14" name="Text Box 14"/>
          <p:cNvSpPr txBox="1">
            <a:spLocks noChangeArrowheads="1"/>
          </p:cNvSpPr>
          <p:nvPr/>
        </p:nvSpPr>
        <p:spPr bwMode="auto">
          <a:xfrm>
            <a:off x="67044" y="2039303"/>
            <a:ext cx="8959003" cy="618220"/>
          </a:xfrm>
          <a:prstGeom prst="rect">
            <a:avLst/>
          </a:prstGeom>
          <a:solidFill>
            <a:schemeClr val="bg2"/>
          </a:solidFill>
          <a:ln w="9525">
            <a:solidFill>
              <a:schemeClr val="tx1"/>
            </a:solidFill>
            <a:miter lim="800000"/>
          </a:ln>
        </p:spPr>
        <p:txBody>
          <a:bodyPr/>
          <a:lstStyle/>
          <a:p>
            <a:pPr lvl="0" algn="ctr" fontAlgn="base">
              <a:spcAft>
                <a:spcPct val="0"/>
              </a:spcAft>
              <a:tabLst>
                <a:tab pos="531495" algn="l"/>
              </a:tabLst>
            </a:pPr>
            <a:r>
              <a:rPr lang="en-US" sz="2000" b="1" i="1" dirty="0">
                <a:effectLst/>
                <a:latin typeface="Arial" panose="020B0604020202020204" pitchFamily="34" charset="0"/>
                <a:ea typeface="DengXian" panose="02010600030101010101" pitchFamily="2" charset="-122"/>
              </a:rPr>
              <a:t>DSS + </a:t>
            </a:r>
            <a:r>
              <a:rPr lang="en-US" sz="2000" b="1" i="1" dirty="0">
                <a:latin typeface="Arial" panose="020B0604020202020204" pitchFamily="34" charset="0"/>
                <a:ea typeface="DengXian" panose="02010600030101010101" pitchFamily="2" charset="-122"/>
              </a:rPr>
              <a:t>Overweight</a:t>
            </a:r>
            <a:r>
              <a:rPr lang="en-US" sz="2000" b="1" i="1" dirty="0">
                <a:effectLst/>
                <a:latin typeface="Arial" panose="020B0604020202020204" pitchFamily="34" charset="0"/>
                <a:ea typeface="DengXian" panose="02010600030101010101" pitchFamily="2" charset="-122"/>
              </a:rPr>
              <a:t> + Enteritis </a:t>
            </a:r>
            <a:r>
              <a:rPr lang="en-US" sz="2000" b="1" i="1" dirty="0">
                <a:latin typeface="Arial" panose="020B0604020202020204" pitchFamily="34" charset="0"/>
                <a:ea typeface="DengXian" panose="02010600030101010101" pitchFamily="2" charset="-122"/>
              </a:rPr>
              <a:t>+</a:t>
            </a:r>
            <a:r>
              <a:rPr lang="en-US" sz="2000" b="1" i="1" dirty="0">
                <a:effectLst/>
                <a:latin typeface="Arial" panose="020B0604020202020204" pitchFamily="34" charset="0"/>
                <a:ea typeface="DengXian" panose="02010600030101010101" pitchFamily="2" charset="-122"/>
              </a:rPr>
              <a:t> transaminitis + Azotemia</a:t>
            </a:r>
            <a:endParaRPr lang="en-US" sz="24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364" name="AutoShape 2"/>
          <p:cNvCxnSpPr>
            <a:cxnSpLocks noChangeShapeType="1"/>
          </p:cNvCxnSpPr>
          <p:nvPr/>
        </p:nvCxnSpPr>
        <p:spPr bwMode="auto">
          <a:xfrm>
            <a:off x="-180330" y="1924934"/>
            <a:ext cx="8959850" cy="31750"/>
          </a:xfrm>
          <a:prstGeom prst="straightConnector1">
            <a:avLst/>
          </a:prstGeom>
          <a:noFill/>
          <a:ln w="50800">
            <a:solidFill>
              <a:srgbClr val="FFC000"/>
            </a:solidFill>
            <a:round/>
          </a:ln>
        </p:spPr>
      </p:cxnSp>
      <p:sp>
        <p:nvSpPr>
          <p:cNvPr id="11269" name="Text Box 3"/>
          <p:cNvSpPr txBox="1">
            <a:spLocks noChangeArrowheads="1"/>
          </p:cNvSpPr>
          <p:nvPr/>
        </p:nvSpPr>
        <p:spPr bwMode="auto">
          <a:xfrm>
            <a:off x="107950" y="669925"/>
            <a:ext cx="8721090" cy="1094740"/>
          </a:xfrm>
          <a:prstGeom prst="rect">
            <a:avLst/>
          </a:prstGeom>
          <a:noFill/>
          <a:ln w="9525">
            <a:solidFill>
              <a:srgbClr val="FFC000"/>
            </a:solidFill>
            <a:miter lim="800000"/>
          </a:ln>
        </p:spPr>
        <p:txBody>
          <a:bodyPr/>
          <a:lstStyle/>
          <a:p>
            <a:pPr marL="85725" lvl="1" algn="ctr" eaLnBrk="1" fontAlgn="auto" hangingPunct="1">
              <a:spcAft>
                <a:spcPts val="0"/>
              </a:spcAft>
              <a:buClr>
                <a:schemeClr val="accent2">
                  <a:shade val="75000"/>
                </a:schemeClr>
              </a:buClr>
              <a:defRPr/>
            </a:pPr>
            <a:r>
              <a:rPr lang="en-US" altLang="id-ID" sz="1600" dirty="0">
                <a:latin typeface="+mn-lt"/>
              </a:rPr>
              <a:t>Pasien masuk picu jam 14.00 lapor kondisi pasien  RR 32 , HR 160 , SPO2 95% , advice dobutamin naikan 7,5 mcg/kgbb/jam , pasang infus line II, 02 NC 3 LPM</a:t>
            </a:r>
            <a:endParaRPr lang="en-US" altLang="id-ID" sz="1600" dirty="0">
              <a:latin typeface="+mn-lt"/>
            </a:endParaRPr>
          </a:p>
          <a:p>
            <a:pPr marL="85725" lvl="1" algn="ctr" eaLnBrk="1" fontAlgn="auto" hangingPunct="1">
              <a:spcAft>
                <a:spcPts val="0"/>
              </a:spcAft>
              <a:buClr>
                <a:schemeClr val="accent2">
                  <a:shade val="75000"/>
                </a:schemeClr>
              </a:buClr>
              <a:defRPr/>
            </a:pPr>
            <a:r>
              <a:rPr lang="en-US" altLang="id-ID" sz="1600" dirty="0">
                <a:latin typeface="+mn-lt"/>
              </a:rPr>
              <a:t>pukul 15.36 lapor klinis </a:t>
            </a:r>
            <a:r>
              <a:rPr lang="id-ID" sz="1600" dirty="0">
                <a:latin typeface="+mn-lt"/>
              </a:rPr>
              <a:t>Sesak (+) Demam (</a:t>
            </a:r>
            <a:r>
              <a:rPr lang="en-US" sz="1600" dirty="0">
                <a:latin typeface="+mn-lt"/>
              </a:rPr>
              <a:t>+</a:t>
            </a:r>
            <a:r>
              <a:rPr lang="id-ID" sz="1600" dirty="0">
                <a:latin typeface="+mn-lt"/>
              </a:rPr>
              <a:t>) Kuning (-) Biru (-) </a:t>
            </a:r>
            <a:r>
              <a:rPr lang="id-ID" sz="1600" dirty="0">
                <a:latin typeface="+mn-lt"/>
                <a:cs typeface="Arial" panose="020B0604020202020204" pitchFamily="34" charset="0"/>
              </a:rPr>
              <a:t>nafas spontan (+) </a:t>
            </a:r>
            <a:endParaRPr lang="id-ID" sz="1600" dirty="0">
              <a:latin typeface="+mn-lt"/>
              <a:cs typeface="Arial" panose="020B0604020202020204" pitchFamily="34" charset="0"/>
            </a:endParaRPr>
          </a:p>
          <a:p>
            <a:pPr marL="137160" algn="ctr">
              <a:buClr>
                <a:schemeClr val="tx1">
                  <a:shade val="95000"/>
                </a:schemeClr>
              </a:buClr>
              <a:defRPr/>
            </a:pPr>
            <a:r>
              <a:rPr lang="id-ID" sz="1600" dirty="0">
                <a:latin typeface="+mn-lt"/>
              </a:rPr>
              <a:t> HR : </a:t>
            </a:r>
            <a:r>
              <a:rPr lang="en-US" sz="1600" dirty="0">
                <a:latin typeface="+mn-lt"/>
              </a:rPr>
              <a:t> 160x/m</a:t>
            </a:r>
            <a:r>
              <a:rPr lang="en-US" sz="1600" dirty="0"/>
              <a:t>,</a:t>
            </a:r>
            <a:r>
              <a:rPr lang="en-US" sz="1600" dirty="0">
                <a:latin typeface="+mn-lt"/>
              </a:rPr>
              <a:t>  </a:t>
            </a:r>
            <a:r>
              <a:rPr lang="en-US" sz="1600" dirty="0" err="1">
                <a:latin typeface="+mn-lt"/>
              </a:rPr>
              <a:t>Nadi</a:t>
            </a:r>
            <a:r>
              <a:rPr lang="en-US" sz="1600" dirty="0">
                <a:latin typeface="+mn-lt"/>
              </a:rPr>
              <a:t> </a:t>
            </a:r>
            <a:r>
              <a:rPr lang="en-US" sz="1600" dirty="0" err="1">
                <a:latin typeface="+mn-lt"/>
              </a:rPr>
              <a:t>tidak</a:t>
            </a:r>
            <a:r>
              <a:rPr lang="en-US" sz="1600" dirty="0">
                <a:latin typeface="+mn-lt"/>
              </a:rPr>
              <a:t> </a:t>
            </a:r>
            <a:r>
              <a:rPr lang="en-US" sz="1600" dirty="0" err="1">
                <a:latin typeface="+mn-lt"/>
              </a:rPr>
              <a:t>teraba</a:t>
            </a:r>
            <a:r>
              <a:rPr lang="en-US" sz="1600" dirty="0">
                <a:latin typeface="+mn-lt"/>
              </a:rPr>
              <a:t> RR:</a:t>
            </a:r>
            <a:r>
              <a:rPr lang="id-ID" sz="1600" dirty="0">
                <a:latin typeface="+mn-lt"/>
              </a:rPr>
              <a:t> </a:t>
            </a:r>
            <a:r>
              <a:rPr lang="en-US" sz="1600" dirty="0"/>
              <a:t>32</a:t>
            </a:r>
            <a:r>
              <a:rPr lang="id-ID" sz="1600" dirty="0">
                <a:latin typeface="+mn-lt"/>
              </a:rPr>
              <a:t> </a:t>
            </a:r>
            <a:r>
              <a:rPr lang="en-US" sz="1600" dirty="0">
                <a:latin typeface="+mn-lt"/>
              </a:rPr>
              <a:t>x/m,  TD : 119/75</a:t>
            </a:r>
            <a:r>
              <a:rPr lang="en-US" sz="1600" dirty="0"/>
              <a:t>, </a:t>
            </a:r>
            <a:r>
              <a:rPr lang="en-US" sz="1600" dirty="0">
                <a:latin typeface="+mn-lt"/>
              </a:rPr>
              <a:t>tax:</a:t>
            </a:r>
            <a:r>
              <a:rPr lang="id-ID" sz="1600" dirty="0">
                <a:latin typeface="+mn-lt"/>
              </a:rPr>
              <a:t> 3</a:t>
            </a:r>
            <a:r>
              <a:rPr lang="en-US" sz="1600" dirty="0"/>
              <a:t>7.6</a:t>
            </a:r>
            <a:r>
              <a:rPr lang="id-ID" sz="1600" dirty="0">
                <a:latin typeface="+mn-lt"/>
              </a:rPr>
              <a:t> </a:t>
            </a:r>
            <a:r>
              <a:rPr lang="id-ID" sz="1600" dirty="0">
                <a:latin typeface="+mn-lt"/>
                <a:sym typeface="Symbol" panose="05050102010706020507"/>
              </a:rPr>
              <a:t></a:t>
            </a:r>
            <a:r>
              <a:rPr lang="en-US" sz="1600" dirty="0">
                <a:latin typeface="+mn-lt"/>
              </a:rPr>
              <a:t>C</a:t>
            </a:r>
            <a:r>
              <a:rPr lang="id-ID" sz="1600" dirty="0">
                <a:latin typeface="+mn-lt"/>
              </a:rPr>
              <a:t>, Sat O2 </a:t>
            </a:r>
            <a:r>
              <a:rPr lang="en-US" sz="1600" dirty="0">
                <a:latin typeface="+mn-lt"/>
              </a:rPr>
              <a:t>94</a:t>
            </a:r>
            <a:r>
              <a:rPr lang="id-ID" sz="1600" dirty="0">
                <a:latin typeface="+mn-lt"/>
              </a:rPr>
              <a:t> % akral </a:t>
            </a:r>
            <a:r>
              <a:rPr lang="en-US" sz="1600" dirty="0" err="1">
                <a:latin typeface="+mn-lt"/>
              </a:rPr>
              <a:t>dingin</a:t>
            </a:r>
            <a:r>
              <a:rPr lang="en-US" sz="1600" dirty="0">
                <a:latin typeface="+mn-lt"/>
              </a:rPr>
              <a:t>,</a:t>
            </a:r>
            <a:r>
              <a:rPr lang="id-ID" sz="1600" dirty="0">
                <a:latin typeface="+mn-lt"/>
              </a:rPr>
              <a:t> CRT </a:t>
            </a:r>
            <a:r>
              <a:rPr lang="en-US" sz="1600" u="sng" dirty="0">
                <a:latin typeface="+mn-lt"/>
              </a:rPr>
              <a:t>&lt;</a:t>
            </a:r>
            <a:r>
              <a:rPr lang="en-US" sz="1600" dirty="0">
                <a:latin typeface="+mn-lt"/>
              </a:rPr>
              <a:t>)</a:t>
            </a:r>
            <a:endParaRPr lang="id-ID" sz="1600" dirty="0"/>
          </a:p>
          <a:p>
            <a:pPr marL="137160" indent="0" algn="ctr" eaLnBrk="1" fontAlgn="auto" hangingPunct="1">
              <a:spcAft>
                <a:spcPts val="0"/>
              </a:spcAft>
              <a:buClr>
                <a:schemeClr val="tx1">
                  <a:shade val="95000"/>
                </a:schemeClr>
              </a:buClr>
              <a:buNone/>
              <a:defRPr/>
            </a:pPr>
            <a:endParaRPr lang="id-ID" sz="1600" dirty="0">
              <a:latin typeface="+mn-lt"/>
            </a:endParaRPr>
          </a:p>
        </p:txBody>
      </p:sp>
      <p:sp>
        <p:nvSpPr>
          <p:cNvPr id="11273" name="Text Box 6"/>
          <p:cNvSpPr txBox="1">
            <a:spLocks noChangeArrowheads="1"/>
          </p:cNvSpPr>
          <p:nvPr/>
        </p:nvSpPr>
        <p:spPr bwMode="auto">
          <a:xfrm>
            <a:off x="3745467" y="1672214"/>
            <a:ext cx="1445965" cy="298054"/>
          </a:xfrm>
          <a:prstGeom prst="rect">
            <a:avLst/>
          </a:prstGeom>
          <a:solidFill>
            <a:schemeClr val="bg1"/>
          </a:solidFill>
          <a:ln w="9525">
            <a:solidFill>
              <a:schemeClr val="tx1"/>
            </a:solidFill>
            <a:miter lim="800000"/>
          </a:ln>
        </p:spPr>
        <p:txBody>
          <a:bodyPr/>
          <a:lstStyle/>
          <a:p>
            <a:pPr algn="ctr">
              <a:spcAft>
                <a:spcPts val="1000"/>
              </a:spcAft>
              <a:buFont typeface="Wingdings 2" panose="05020102010507070707" pitchFamily="18" charset="2"/>
              <a:buNone/>
              <a:defRPr/>
            </a:pPr>
            <a:r>
              <a:rPr lang="en-US" sz="1400" dirty="0">
                <a:cs typeface="Arial" panose="020B0604020202020204" pitchFamily="34" charset="0"/>
              </a:rPr>
              <a:t>16</a:t>
            </a:r>
            <a:r>
              <a:rPr lang="id-ID" sz="1400" dirty="0">
                <a:cs typeface="Arial" panose="020B0604020202020204" pitchFamily="34" charset="0"/>
              </a:rPr>
              <a:t>/</a:t>
            </a:r>
            <a:r>
              <a:rPr lang="en-US" sz="1400" dirty="0">
                <a:cs typeface="Arial" panose="020B0604020202020204" pitchFamily="34" charset="0"/>
              </a:rPr>
              <a:t>6</a:t>
            </a:r>
            <a:r>
              <a:rPr lang="id-ID" sz="1400" dirty="0">
                <a:cs typeface="Arial" panose="020B0604020202020204" pitchFamily="34" charset="0"/>
              </a:rPr>
              <a:t>/</a:t>
            </a:r>
            <a:r>
              <a:rPr lang="en-US" sz="1400" dirty="0">
                <a:cs typeface="Arial" panose="020B0604020202020204" pitchFamily="34" charset="0"/>
              </a:rPr>
              <a:t>2025</a:t>
            </a:r>
            <a:r>
              <a:rPr lang="id-ID" sz="1400" dirty="0">
                <a:cs typeface="Arial" panose="020B0604020202020204" pitchFamily="34" charset="0"/>
              </a:rPr>
              <a:t> </a:t>
            </a:r>
            <a:endParaRPr lang="en-US" sz="1400" dirty="0">
              <a:cs typeface="Arial" panose="020B0604020202020204" pitchFamily="34" charset="0"/>
            </a:endParaRPr>
          </a:p>
          <a:p>
            <a:pPr algn="ctr">
              <a:spcAft>
                <a:spcPts val="1000"/>
              </a:spcAft>
              <a:buFont typeface="Arial" panose="020B0604020202020204" pitchFamily="34" charset="0"/>
              <a:buNone/>
              <a:defRPr/>
            </a:pPr>
            <a:endParaRPr lang="id-ID" altLang="en-US" sz="1400" b="1" dirty="0">
              <a:cs typeface="Arial" panose="020B0604020202020204" pitchFamily="34" charset="0"/>
            </a:endParaRPr>
          </a:p>
        </p:txBody>
      </p:sp>
      <p:sp>
        <p:nvSpPr>
          <p:cNvPr id="15367" name="Text Box 14"/>
          <p:cNvSpPr txBox="1">
            <a:spLocks noChangeArrowheads="1"/>
          </p:cNvSpPr>
          <p:nvPr/>
        </p:nvSpPr>
        <p:spPr bwMode="auto">
          <a:xfrm>
            <a:off x="3635935" y="381728"/>
            <a:ext cx="2091359" cy="270560"/>
          </a:xfrm>
          <a:prstGeom prst="rect">
            <a:avLst/>
          </a:prstGeom>
          <a:solidFill>
            <a:schemeClr val="bg2"/>
          </a:solidFill>
          <a:ln w="9525">
            <a:solidFill>
              <a:schemeClr val="tx1"/>
            </a:solidFill>
            <a:miter lim="800000"/>
          </a:ln>
        </p:spPr>
        <p:txBody>
          <a:bodyPr/>
          <a:lstStyle/>
          <a:p>
            <a:pPr algn="ctr">
              <a:lnSpc>
                <a:spcPct val="115000"/>
              </a:lnSpc>
            </a:pPr>
            <a:r>
              <a:rPr lang="en-US" altLang="en-US" sz="1400">
                <a:cs typeface="Arial" panose="020B0604020202020204" pitchFamily="34" charset="0"/>
              </a:rPr>
              <a:t>PICU</a:t>
            </a:r>
            <a:endParaRPr lang="id-ID" altLang="en-US" sz="1400">
              <a:cs typeface="Arial" panose="020B0604020202020204" pitchFamily="34" charset="0"/>
            </a:endParaRPr>
          </a:p>
        </p:txBody>
      </p:sp>
      <p:sp>
        <p:nvSpPr>
          <p:cNvPr id="23" name="Subtitle 2"/>
          <p:cNvSpPr txBox="1">
            <a:spLocks noChangeArrowheads="1"/>
          </p:cNvSpPr>
          <p:nvPr/>
        </p:nvSpPr>
        <p:spPr bwMode="auto">
          <a:xfrm>
            <a:off x="683730" y="-41679"/>
            <a:ext cx="7725633" cy="380241"/>
          </a:xfrm>
          <a:prstGeom prst="rect">
            <a:avLst/>
          </a:prstGeom>
          <a:noFill/>
          <a:ln w="9525">
            <a:noFill/>
            <a:miter lim="800000"/>
          </a:ln>
        </p:spPr>
        <p:txBody>
          <a:bodyPr vert="horz" wrap="square" lIns="91440" tIns="45720" rIns="91440" bIns="45720" numCol="1" anchor="t" anchorCtr="0" compatLnSpc="1"/>
          <a:lstStyle/>
          <a:p>
            <a:pPr algn="ctr" eaLnBrk="1" fontAlgn="auto" hangingPunct="1">
              <a:spcAft>
                <a:spcPts val="0"/>
              </a:spcAft>
              <a:defRPr/>
            </a:pPr>
            <a:endParaRPr lang="id-ID">
              <a:latin typeface="+mn-lt"/>
            </a:endParaRPr>
          </a:p>
        </p:txBody>
      </p:sp>
      <p:sp>
        <p:nvSpPr>
          <p:cNvPr id="30" name="Text Box 3"/>
          <p:cNvSpPr txBox="1">
            <a:spLocks noChangeArrowheads="1"/>
          </p:cNvSpPr>
          <p:nvPr/>
        </p:nvSpPr>
        <p:spPr bwMode="auto">
          <a:xfrm>
            <a:off x="186690" y="2878455"/>
            <a:ext cx="8771890" cy="3275330"/>
          </a:xfrm>
          <a:prstGeom prst="rect">
            <a:avLst/>
          </a:prstGeom>
          <a:noFill/>
          <a:ln w="9525">
            <a:solidFill>
              <a:srgbClr val="FFC000"/>
            </a:solidFill>
            <a:miter lim="800000"/>
          </a:ln>
        </p:spPr>
        <p:txBody>
          <a:bodyPr/>
          <a:lstStyle/>
          <a:p>
            <a:pPr marL="85725" lvl="1">
              <a:buClr>
                <a:schemeClr val="accent2">
                  <a:shade val="75000"/>
                </a:schemeClr>
              </a:buClr>
              <a:defRPr/>
            </a:pPr>
            <a:r>
              <a:rPr lang="en-US" sz="1400" dirty="0">
                <a:cs typeface="Arial" panose="020B0604020202020204" pitchFamily="34" charset="0"/>
              </a:rPr>
              <a:t>advice dr haykal SPA pukul 15.36</a:t>
            </a:r>
            <a:endParaRPr lang="en-US" sz="1400" dirty="0">
              <a:cs typeface="Arial" panose="020B0604020202020204" pitchFamily="34" charset="0"/>
            </a:endParaRPr>
          </a:p>
          <a:p>
            <a:pPr marL="85725" lvl="1">
              <a:buClr>
                <a:schemeClr val="accent2">
                  <a:shade val="75000"/>
                </a:schemeClr>
              </a:buClr>
              <a:defRPr/>
            </a:pPr>
            <a:r>
              <a:rPr lang="en-US" sz="1400" dirty="0">
                <a:cs typeface="Arial" panose="020B0604020202020204" pitchFamily="34" charset="0"/>
              </a:rPr>
              <a:t>1. Loading RA 400cc </a:t>
            </a:r>
            <a:r>
              <a:rPr lang="en-US" sz="1400" dirty="0" err="1">
                <a:cs typeface="Arial" panose="020B0604020202020204" pitchFamily="34" charset="0"/>
              </a:rPr>
              <a:t>dalam</a:t>
            </a:r>
            <a:r>
              <a:rPr lang="en-US" sz="1400" dirty="0">
                <a:cs typeface="Arial" panose="020B0604020202020204" pitchFamily="34" charset="0"/>
              </a:rPr>
              <a:t> 1 jam, </a:t>
            </a:r>
            <a:r>
              <a:rPr lang="en-US" sz="1400" dirty="0" err="1">
                <a:cs typeface="Arial" panose="020B0604020202020204" pitchFamily="34" charset="0"/>
              </a:rPr>
              <a:t>lanjut</a:t>
            </a:r>
            <a:r>
              <a:rPr lang="en-US" sz="1400" dirty="0">
                <a:cs typeface="Arial" panose="020B0604020202020204" pitchFamily="34" charset="0"/>
              </a:rPr>
              <a:t> 300 cc </a:t>
            </a:r>
            <a:r>
              <a:rPr lang="en-US" sz="1400" dirty="0" err="1">
                <a:cs typeface="Arial" panose="020B0604020202020204" pitchFamily="34" charset="0"/>
              </a:rPr>
              <a:t>dalam</a:t>
            </a:r>
            <a:r>
              <a:rPr lang="en-US" sz="1400" dirty="0">
                <a:cs typeface="Arial" panose="020B0604020202020204" pitchFamily="34" charset="0"/>
              </a:rPr>
              <a:t> 1 jam,</a:t>
            </a:r>
            <a:endParaRPr lang="en-US" sz="1400" dirty="0">
              <a:cs typeface="Arial" panose="020B0604020202020204" pitchFamily="34" charset="0"/>
            </a:endParaRPr>
          </a:p>
          <a:p>
            <a:pPr marL="85725" lvl="1">
              <a:buClr>
                <a:schemeClr val="accent2">
                  <a:shade val="75000"/>
                </a:schemeClr>
              </a:buClr>
              <a:defRPr/>
            </a:pPr>
            <a:r>
              <a:rPr lang="en-US" sz="1400" dirty="0">
                <a:cs typeface="Arial" panose="020B0604020202020204" pitchFamily="34" charset="0"/>
              </a:rPr>
              <a:t>2. </a:t>
            </a:r>
            <a:r>
              <a:rPr lang="en-US" sz="1400" dirty="0" err="1">
                <a:cs typeface="Arial" panose="020B0604020202020204" pitchFamily="34" charset="0"/>
              </a:rPr>
              <a:t>Maintanence</a:t>
            </a:r>
            <a:r>
              <a:rPr lang="en-US" sz="1400" dirty="0">
                <a:cs typeface="Arial" panose="020B0604020202020204" pitchFamily="34" charset="0"/>
              </a:rPr>
              <a:t> 2000cc/24 jam</a:t>
            </a:r>
            <a:endParaRPr lang="en-US" sz="1400" dirty="0">
              <a:cs typeface="Arial" panose="020B0604020202020204" pitchFamily="34" charset="0"/>
            </a:endParaRPr>
          </a:p>
          <a:p>
            <a:pPr marL="85725" lvl="1">
              <a:buClr>
                <a:schemeClr val="accent2">
                  <a:shade val="75000"/>
                </a:schemeClr>
              </a:buClr>
              <a:defRPr/>
            </a:pPr>
            <a:r>
              <a:rPr lang="en-US" sz="1400" dirty="0">
                <a:cs typeface="Arial" panose="020B0604020202020204" pitchFamily="34" charset="0"/>
              </a:rPr>
              <a:t>3. </a:t>
            </a:r>
            <a:r>
              <a:rPr lang="en-US" sz="1400" dirty="0" err="1">
                <a:cs typeface="Arial" panose="020B0604020202020204" pitchFamily="34" charset="0"/>
              </a:rPr>
              <a:t>Dobutamin</a:t>
            </a:r>
            <a:r>
              <a:rPr lang="en-US" sz="1400" dirty="0">
                <a:cs typeface="Arial" panose="020B0604020202020204" pitchFamily="34" charset="0"/>
              </a:rPr>
              <a:t> 5mcg/</a:t>
            </a:r>
            <a:r>
              <a:rPr lang="en-US" sz="1400" dirty="0" err="1">
                <a:cs typeface="Arial" panose="020B0604020202020204" pitchFamily="34" charset="0"/>
              </a:rPr>
              <a:t>kgBB</a:t>
            </a:r>
            <a:r>
              <a:rPr lang="en-US" sz="1400" dirty="0">
                <a:cs typeface="Arial" panose="020B0604020202020204" pitchFamily="34" charset="0"/>
              </a:rPr>
              <a:t> =&gt; 7,5 mcg/</a:t>
            </a:r>
            <a:r>
              <a:rPr lang="en-US" sz="1400" dirty="0" err="1">
                <a:cs typeface="Arial" panose="020B0604020202020204" pitchFamily="34" charset="0"/>
              </a:rPr>
              <a:t>kgBB</a:t>
            </a:r>
            <a:r>
              <a:rPr lang="en-US" sz="1400" dirty="0">
                <a:cs typeface="Arial" panose="020B0604020202020204" pitchFamily="34" charset="0"/>
              </a:rPr>
              <a:t> =&gt; 10mcg/</a:t>
            </a:r>
            <a:r>
              <a:rPr lang="en-US" sz="1400" dirty="0" err="1">
                <a:cs typeface="Arial" panose="020B0604020202020204" pitchFamily="34" charset="0"/>
              </a:rPr>
              <a:t>kgBB</a:t>
            </a:r>
            <a:endParaRPr lang="en-US" sz="1400" dirty="0">
              <a:cs typeface="Arial" panose="020B0604020202020204" pitchFamily="34" charset="0"/>
            </a:endParaRPr>
          </a:p>
          <a:p>
            <a:pPr marL="85725" lvl="1">
              <a:buClr>
                <a:schemeClr val="accent2">
                  <a:shade val="75000"/>
                </a:schemeClr>
              </a:buClr>
              <a:defRPr/>
            </a:pPr>
            <a:r>
              <a:rPr lang="en-US" sz="1400" dirty="0">
                <a:cs typeface="Arial" panose="020B0604020202020204" pitchFamily="34" charset="0"/>
              </a:rPr>
              <a:t>4. </a:t>
            </a:r>
            <a:r>
              <a:rPr lang="en-US" sz="1400" dirty="0" err="1">
                <a:cs typeface="Arial" panose="020B0604020202020204" pitchFamily="34" charset="0"/>
              </a:rPr>
              <a:t>Ondancentron</a:t>
            </a:r>
            <a:r>
              <a:rPr lang="en-US" sz="1400" dirty="0">
                <a:cs typeface="Arial" panose="020B0604020202020204" pitchFamily="34" charset="0"/>
              </a:rPr>
              <a:t> 3x6,5 mg (14.00. 22.00)</a:t>
            </a:r>
            <a:endParaRPr lang="en-US" sz="1400" dirty="0">
              <a:cs typeface="Arial" panose="020B0604020202020204" pitchFamily="34" charset="0"/>
            </a:endParaRPr>
          </a:p>
          <a:p>
            <a:pPr marL="85725" lvl="1">
              <a:buClr>
                <a:schemeClr val="accent2">
                  <a:shade val="75000"/>
                </a:schemeClr>
              </a:buClr>
              <a:defRPr/>
            </a:pPr>
            <a:r>
              <a:rPr lang="en-US" sz="1400" dirty="0">
                <a:cs typeface="Arial" panose="020B0604020202020204" pitchFamily="34" charset="0"/>
              </a:rPr>
              <a:t>5. Omeprazole 2x40 mg (18.00 )</a:t>
            </a:r>
            <a:endParaRPr lang="en-US" sz="1400" dirty="0">
              <a:cs typeface="Arial" panose="020B0604020202020204" pitchFamily="34" charset="0"/>
            </a:endParaRPr>
          </a:p>
          <a:p>
            <a:pPr marL="85725" lvl="1">
              <a:buClr>
                <a:schemeClr val="accent2">
                  <a:shade val="75000"/>
                </a:schemeClr>
              </a:buClr>
              <a:defRPr/>
            </a:pPr>
            <a:r>
              <a:rPr lang="en-US" sz="1400" dirty="0">
                <a:cs typeface="Arial" panose="020B0604020202020204" pitchFamily="34" charset="0"/>
              </a:rPr>
              <a:t>6. </a:t>
            </a:r>
            <a:r>
              <a:rPr lang="en-US" sz="1400" dirty="0" err="1">
                <a:cs typeface="Arial" panose="020B0604020202020204" pitchFamily="34" charset="0"/>
              </a:rPr>
              <a:t>Antrain</a:t>
            </a:r>
            <a:r>
              <a:rPr lang="en-US" sz="1400" dirty="0">
                <a:cs typeface="Arial" panose="020B0604020202020204" pitchFamily="34" charset="0"/>
              </a:rPr>
              <a:t> 3x640 mg (22.00)</a:t>
            </a:r>
            <a:endParaRPr lang="en-US" sz="1400" dirty="0">
              <a:cs typeface="Arial" panose="020B0604020202020204" pitchFamily="34" charset="0"/>
            </a:endParaRPr>
          </a:p>
          <a:p>
            <a:pPr marL="85725" lvl="1">
              <a:buClr>
                <a:schemeClr val="accent2">
                  <a:shade val="75000"/>
                </a:schemeClr>
              </a:buClr>
              <a:defRPr/>
            </a:pPr>
            <a:r>
              <a:rPr lang="en-US" sz="1400" dirty="0">
                <a:cs typeface="Arial" panose="020B0604020202020204" pitchFamily="34" charset="0"/>
              </a:rPr>
              <a:t>7. lab dl , urcr , otpt ,gds</a:t>
            </a:r>
            <a:endParaRPr lang="en-US" sz="1400" dirty="0">
              <a:cs typeface="Arial" panose="020B0604020202020204" pitchFamily="34" charset="0"/>
            </a:endParaRPr>
          </a:p>
          <a:p>
            <a:pPr marL="85725" lvl="1">
              <a:buClr>
                <a:schemeClr val="accent2">
                  <a:shade val="75000"/>
                </a:schemeClr>
              </a:buClr>
              <a:defRPr/>
            </a:pPr>
            <a:r>
              <a:rPr lang="en-US" sz="1400" dirty="0" err="1">
                <a:solidFill>
                  <a:schemeClr val="bg1"/>
                </a:solidFill>
                <a:highlight>
                  <a:srgbClr val="808000"/>
                </a:highlight>
                <a:cs typeface="Arial" panose="020B0604020202020204" pitchFamily="34" charset="0"/>
              </a:rPr>
              <a:t>Lapor</a:t>
            </a:r>
            <a:r>
              <a:rPr lang="en-US" sz="1400" dirty="0">
                <a:solidFill>
                  <a:schemeClr val="bg1"/>
                </a:solidFill>
                <a:highlight>
                  <a:srgbClr val="808000"/>
                </a:highlight>
                <a:cs typeface="Arial" panose="020B0604020202020204" pitchFamily="34" charset="0"/>
              </a:rPr>
              <a:t> </a:t>
            </a:r>
            <a:r>
              <a:rPr lang="en-US" sz="1400" dirty="0" err="1">
                <a:solidFill>
                  <a:schemeClr val="bg1"/>
                </a:solidFill>
                <a:highlight>
                  <a:srgbClr val="808000"/>
                </a:highlight>
                <a:cs typeface="Arial" panose="020B0604020202020204" pitchFamily="34" charset="0"/>
              </a:rPr>
              <a:t>hasil</a:t>
            </a:r>
            <a:r>
              <a:rPr lang="en-US" sz="1400" dirty="0">
                <a:solidFill>
                  <a:schemeClr val="bg1"/>
                </a:solidFill>
                <a:highlight>
                  <a:srgbClr val="808000"/>
                </a:highlight>
                <a:cs typeface="Arial" panose="020B0604020202020204" pitchFamily="34" charset="0"/>
              </a:rPr>
              <a:t> Lab dan TTV pada dr. DPJP (19.20)</a:t>
            </a:r>
            <a:endParaRPr lang="en-US" sz="1400" dirty="0">
              <a:solidFill>
                <a:schemeClr val="bg1"/>
              </a:solidFill>
              <a:highlight>
                <a:srgbClr val="808000"/>
              </a:highlight>
              <a:cs typeface="Arial" panose="020B0604020202020204" pitchFamily="34" charset="0"/>
            </a:endParaRPr>
          </a:p>
          <a:p>
            <a:pPr marL="85725" lvl="1">
              <a:buClr>
                <a:schemeClr val="accent2">
                  <a:shade val="75000"/>
                </a:schemeClr>
              </a:buClr>
              <a:defRPr/>
            </a:pPr>
            <a:r>
              <a:rPr lang="en-US" sz="1400" dirty="0">
                <a:solidFill>
                  <a:schemeClr val="bg1"/>
                </a:solidFill>
                <a:highlight>
                  <a:srgbClr val="808000"/>
                </a:highlight>
                <a:cs typeface="Arial" panose="020B0604020202020204" pitchFamily="34" charset="0"/>
              </a:rPr>
              <a:t>HR : 151X/MNT, SpO2 95%, TD : 94/74, </a:t>
            </a:r>
            <a:endParaRPr lang="en-US" sz="1400" dirty="0">
              <a:solidFill>
                <a:schemeClr val="bg1"/>
              </a:solidFill>
              <a:highlight>
                <a:srgbClr val="808000"/>
              </a:highlight>
              <a:cs typeface="Arial" panose="020B0604020202020204" pitchFamily="34" charset="0"/>
            </a:endParaRPr>
          </a:p>
          <a:p>
            <a:pPr marL="85725" lvl="1">
              <a:buClr>
                <a:schemeClr val="accent2">
                  <a:shade val="75000"/>
                </a:schemeClr>
              </a:buClr>
              <a:defRPr/>
            </a:pPr>
            <a:r>
              <a:rPr lang="en-US" sz="1400" dirty="0" err="1">
                <a:solidFill>
                  <a:schemeClr val="bg1"/>
                </a:solidFill>
                <a:highlight>
                  <a:srgbClr val="808000"/>
                </a:highlight>
                <a:cs typeface="Arial" panose="020B0604020202020204" pitchFamily="34" charset="0"/>
              </a:rPr>
              <a:t>Lanjutkan</a:t>
            </a:r>
            <a:r>
              <a:rPr lang="en-US" sz="1400" dirty="0">
                <a:solidFill>
                  <a:schemeClr val="bg1"/>
                </a:solidFill>
                <a:highlight>
                  <a:srgbClr val="808000"/>
                </a:highlight>
                <a:cs typeface="Arial" panose="020B0604020202020204" pitchFamily="34" charset="0"/>
              </a:rPr>
              <a:t> loading 500cc </a:t>
            </a:r>
            <a:r>
              <a:rPr lang="en-US" sz="1400" dirty="0" err="1">
                <a:solidFill>
                  <a:schemeClr val="bg1"/>
                </a:solidFill>
                <a:highlight>
                  <a:srgbClr val="808000"/>
                </a:highlight>
                <a:cs typeface="Arial" panose="020B0604020202020204" pitchFamily="34" charset="0"/>
              </a:rPr>
              <a:t>dalam</a:t>
            </a:r>
            <a:r>
              <a:rPr lang="en-US" sz="1400" dirty="0">
                <a:solidFill>
                  <a:schemeClr val="bg1"/>
                </a:solidFill>
                <a:highlight>
                  <a:srgbClr val="808000"/>
                </a:highlight>
                <a:cs typeface="Arial" panose="020B0604020202020204" pitchFamily="34" charset="0"/>
              </a:rPr>
              <a:t> 1 jam, </a:t>
            </a:r>
            <a:r>
              <a:rPr lang="en-US" sz="1400" dirty="0" err="1">
                <a:solidFill>
                  <a:schemeClr val="bg1"/>
                </a:solidFill>
                <a:highlight>
                  <a:srgbClr val="808000"/>
                </a:highlight>
                <a:cs typeface="Arial" panose="020B0604020202020204" pitchFamily="34" charset="0"/>
              </a:rPr>
              <a:t>lanjut</a:t>
            </a:r>
            <a:r>
              <a:rPr lang="en-US" sz="1400" dirty="0">
                <a:solidFill>
                  <a:schemeClr val="bg1"/>
                </a:solidFill>
                <a:highlight>
                  <a:srgbClr val="808000"/>
                </a:highlight>
                <a:cs typeface="Arial" panose="020B0604020202020204" pitchFamily="34" charset="0"/>
              </a:rPr>
              <a:t> maintenance, </a:t>
            </a:r>
            <a:r>
              <a:rPr lang="en-US" sz="1400" dirty="0" err="1">
                <a:solidFill>
                  <a:schemeClr val="bg1"/>
                </a:solidFill>
                <a:highlight>
                  <a:srgbClr val="808000"/>
                </a:highlight>
                <a:cs typeface="Arial" panose="020B0604020202020204" pitchFamily="34" charset="0"/>
              </a:rPr>
              <a:t>tambahan</a:t>
            </a:r>
            <a:r>
              <a:rPr lang="en-US" sz="1400" dirty="0">
                <a:solidFill>
                  <a:schemeClr val="bg1"/>
                </a:solidFill>
                <a:highlight>
                  <a:srgbClr val="808000"/>
                </a:highlight>
                <a:cs typeface="Arial" panose="020B0604020202020204" pitchFamily="34" charset="0"/>
              </a:rPr>
              <a:t> cefotaxime 3x1 gr, r/ DL </a:t>
            </a:r>
            <a:r>
              <a:rPr lang="en-US" sz="1400" dirty="0" err="1">
                <a:solidFill>
                  <a:schemeClr val="bg1"/>
                </a:solidFill>
                <a:highlight>
                  <a:srgbClr val="808000"/>
                </a:highlight>
                <a:cs typeface="Arial" panose="020B0604020202020204" pitchFamily="34" charset="0"/>
              </a:rPr>
              <a:t>tgl</a:t>
            </a:r>
            <a:r>
              <a:rPr lang="en-US" sz="1400" dirty="0">
                <a:solidFill>
                  <a:schemeClr val="bg1"/>
                </a:solidFill>
                <a:highlight>
                  <a:srgbClr val="808000"/>
                </a:highlight>
                <a:cs typeface="Arial" panose="020B0604020202020204" pitchFamily="34" charset="0"/>
              </a:rPr>
              <a:t> 17/6/2025</a:t>
            </a:r>
            <a:endParaRPr lang="en-US" sz="1400" dirty="0">
              <a:solidFill>
                <a:schemeClr val="bg1"/>
              </a:solidFill>
              <a:highlight>
                <a:srgbClr val="808000"/>
              </a:highlight>
              <a:cs typeface="Arial" panose="020B0604020202020204" pitchFamily="34" charset="0"/>
            </a:endParaRPr>
          </a:p>
          <a:p>
            <a:pPr marL="85725" lvl="1">
              <a:buClr>
                <a:schemeClr val="accent2">
                  <a:shade val="75000"/>
                </a:schemeClr>
              </a:buClr>
              <a:defRPr/>
            </a:pPr>
            <a:r>
              <a:rPr lang="en-US" sz="1400" dirty="0" err="1">
                <a:solidFill>
                  <a:schemeClr val="bg1"/>
                </a:solidFill>
                <a:highlight>
                  <a:srgbClr val="808000"/>
                </a:highlight>
                <a:cs typeface="Arial" panose="020B0604020202020204" pitchFamily="34" charset="0"/>
              </a:rPr>
              <a:t>Lapor</a:t>
            </a:r>
            <a:r>
              <a:rPr lang="en-US" sz="1400" dirty="0">
                <a:solidFill>
                  <a:schemeClr val="bg1"/>
                </a:solidFill>
                <a:highlight>
                  <a:srgbClr val="808000"/>
                </a:highlight>
                <a:cs typeface="Arial" panose="020B0604020202020204" pitchFamily="34" charset="0"/>
              </a:rPr>
              <a:t> video </a:t>
            </a:r>
            <a:r>
              <a:rPr lang="en-US" sz="1400" dirty="0" err="1">
                <a:solidFill>
                  <a:schemeClr val="bg1"/>
                </a:solidFill>
                <a:highlight>
                  <a:srgbClr val="808000"/>
                </a:highlight>
                <a:cs typeface="Arial" panose="020B0604020202020204" pitchFamily="34" charset="0"/>
              </a:rPr>
              <a:t>klinis</a:t>
            </a:r>
            <a:r>
              <a:rPr lang="en-US" sz="1400" dirty="0">
                <a:solidFill>
                  <a:schemeClr val="bg1"/>
                </a:solidFill>
                <a:highlight>
                  <a:srgbClr val="808000"/>
                </a:highlight>
                <a:cs typeface="Arial" panose="020B0604020202020204" pitchFamily="34" charset="0"/>
              </a:rPr>
              <a:t> via WA, Px </a:t>
            </a:r>
            <a:r>
              <a:rPr lang="en-US" sz="1400" dirty="0" err="1">
                <a:solidFill>
                  <a:schemeClr val="bg1"/>
                </a:solidFill>
                <a:highlight>
                  <a:srgbClr val="808000"/>
                </a:highlight>
                <a:cs typeface="Arial" panose="020B0604020202020204" pitchFamily="34" charset="0"/>
              </a:rPr>
              <a:t>mengeluh</a:t>
            </a:r>
            <a:r>
              <a:rPr lang="en-US" sz="1400" dirty="0">
                <a:solidFill>
                  <a:schemeClr val="bg1"/>
                </a:solidFill>
                <a:highlight>
                  <a:srgbClr val="808000"/>
                </a:highlight>
                <a:cs typeface="Arial" panose="020B0604020202020204" pitchFamily="34" charset="0"/>
              </a:rPr>
              <a:t> </a:t>
            </a:r>
            <a:r>
              <a:rPr lang="en-US" sz="1400" dirty="0" err="1">
                <a:solidFill>
                  <a:schemeClr val="bg1"/>
                </a:solidFill>
                <a:highlight>
                  <a:srgbClr val="808000"/>
                </a:highlight>
                <a:cs typeface="Arial" panose="020B0604020202020204" pitchFamily="34" charset="0"/>
              </a:rPr>
              <a:t>Mual</a:t>
            </a:r>
            <a:r>
              <a:rPr lang="en-US" sz="1400" dirty="0">
                <a:solidFill>
                  <a:schemeClr val="bg1"/>
                </a:solidFill>
                <a:highlight>
                  <a:srgbClr val="808000"/>
                </a:highlight>
                <a:cs typeface="Arial" panose="020B0604020202020204" pitchFamily="34" charset="0"/>
              </a:rPr>
              <a:t>, dan </a:t>
            </a:r>
            <a:r>
              <a:rPr lang="en-US" sz="1400" dirty="0" err="1">
                <a:solidFill>
                  <a:schemeClr val="bg1"/>
                </a:solidFill>
                <a:highlight>
                  <a:srgbClr val="808000"/>
                </a:highlight>
                <a:cs typeface="Arial" panose="020B0604020202020204" pitchFamily="34" charset="0"/>
              </a:rPr>
              <a:t>muntah</a:t>
            </a:r>
            <a:r>
              <a:rPr lang="en-US" sz="1400" dirty="0">
                <a:solidFill>
                  <a:schemeClr val="bg1"/>
                </a:solidFill>
                <a:highlight>
                  <a:srgbClr val="808000"/>
                </a:highlight>
                <a:cs typeface="Arial" panose="020B0604020202020204" pitchFamily="34" charset="0"/>
              </a:rPr>
              <a:t> (21.07)</a:t>
            </a:r>
            <a:endParaRPr lang="en-US" sz="1400" dirty="0">
              <a:solidFill>
                <a:schemeClr val="bg1"/>
              </a:solidFill>
              <a:highlight>
                <a:srgbClr val="808000"/>
              </a:highlight>
              <a:cs typeface="Arial" panose="020B0604020202020204" pitchFamily="34" charset="0"/>
            </a:endParaRPr>
          </a:p>
          <a:p>
            <a:pPr marL="85725" lvl="1">
              <a:buClr>
                <a:schemeClr val="accent2">
                  <a:shade val="75000"/>
                </a:schemeClr>
              </a:buClr>
              <a:defRPr/>
            </a:pPr>
            <a:r>
              <a:rPr lang="en-US" sz="1400" dirty="0">
                <a:solidFill>
                  <a:schemeClr val="bg1"/>
                </a:solidFill>
                <a:highlight>
                  <a:srgbClr val="808000"/>
                </a:highlight>
                <a:cs typeface="Arial" panose="020B0604020202020204" pitchFamily="34" charset="0"/>
              </a:rPr>
              <a:t>A/p PO </a:t>
            </a:r>
            <a:r>
              <a:rPr lang="en-US" sz="1400" dirty="0" err="1">
                <a:solidFill>
                  <a:schemeClr val="bg1"/>
                </a:solidFill>
                <a:highlight>
                  <a:srgbClr val="808000"/>
                </a:highlight>
                <a:cs typeface="Arial" panose="020B0604020202020204" pitchFamily="34" charset="0"/>
              </a:rPr>
              <a:t>Sucralfat</a:t>
            </a:r>
            <a:r>
              <a:rPr lang="en-US" sz="1400" dirty="0">
                <a:solidFill>
                  <a:schemeClr val="bg1"/>
                </a:solidFill>
                <a:highlight>
                  <a:srgbClr val="808000"/>
                </a:highlight>
                <a:cs typeface="Arial" panose="020B0604020202020204" pitchFamily="34" charset="0"/>
              </a:rPr>
              <a:t>  3x10cc, Cek TTV </a:t>
            </a:r>
            <a:r>
              <a:rPr lang="en-US" sz="1400" dirty="0" err="1">
                <a:solidFill>
                  <a:schemeClr val="bg1"/>
                </a:solidFill>
                <a:highlight>
                  <a:srgbClr val="808000"/>
                </a:highlight>
                <a:cs typeface="Arial" panose="020B0604020202020204" pitchFamily="34" charset="0"/>
              </a:rPr>
              <a:t>berkala</a:t>
            </a:r>
            <a:r>
              <a:rPr lang="en-US" sz="1400" dirty="0">
                <a:solidFill>
                  <a:schemeClr val="bg1"/>
                </a:solidFill>
                <a:highlight>
                  <a:srgbClr val="808000"/>
                </a:highlight>
                <a:cs typeface="Arial" panose="020B0604020202020204" pitchFamily="34" charset="0"/>
              </a:rPr>
              <a:t>, </a:t>
            </a:r>
            <a:r>
              <a:rPr lang="en-US" sz="1400" dirty="0" err="1">
                <a:solidFill>
                  <a:schemeClr val="bg1"/>
                </a:solidFill>
                <a:highlight>
                  <a:srgbClr val="808000"/>
                </a:highlight>
                <a:cs typeface="Arial" panose="020B0604020202020204" pitchFamily="34" charset="0"/>
              </a:rPr>
              <a:t>bila</a:t>
            </a:r>
            <a:r>
              <a:rPr lang="en-US" sz="1400" dirty="0">
                <a:solidFill>
                  <a:schemeClr val="bg1"/>
                </a:solidFill>
                <a:highlight>
                  <a:srgbClr val="808000"/>
                </a:highlight>
                <a:cs typeface="Arial" panose="020B0604020202020204" pitchFamily="34" charset="0"/>
              </a:rPr>
              <a:t> TD </a:t>
            </a:r>
            <a:r>
              <a:rPr lang="en-US" sz="1400" dirty="0" err="1">
                <a:solidFill>
                  <a:schemeClr val="bg1"/>
                </a:solidFill>
                <a:highlight>
                  <a:srgbClr val="808000"/>
                </a:highlight>
                <a:cs typeface="Arial" panose="020B0604020202020204" pitchFamily="34" charset="0"/>
              </a:rPr>
              <a:t>Siastole</a:t>
            </a:r>
            <a:r>
              <a:rPr lang="en-US" sz="1400" dirty="0">
                <a:solidFill>
                  <a:schemeClr val="bg1"/>
                </a:solidFill>
                <a:highlight>
                  <a:srgbClr val="808000"/>
                </a:highlight>
                <a:cs typeface="Arial" panose="020B0604020202020204" pitchFamily="34" charset="0"/>
              </a:rPr>
              <a:t>-diastole &lt; 20 </a:t>
            </a:r>
            <a:r>
              <a:rPr lang="en-US" sz="1400" dirty="0" err="1">
                <a:solidFill>
                  <a:schemeClr val="bg1"/>
                </a:solidFill>
                <a:highlight>
                  <a:srgbClr val="808000"/>
                </a:highlight>
                <a:cs typeface="Arial" panose="020B0604020202020204" pitchFamily="34" charset="0"/>
              </a:rPr>
              <a:t>mmmHg</a:t>
            </a:r>
            <a:r>
              <a:rPr lang="en-US" sz="1400" dirty="0">
                <a:solidFill>
                  <a:schemeClr val="bg1"/>
                </a:solidFill>
                <a:highlight>
                  <a:srgbClr val="808000"/>
                </a:highlight>
                <a:cs typeface="Arial" panose="020B0604020202020204" pitchFamily="34" charset="0"/>
              </a:rPr>
              <a:t> </a:t>
            </a:r>
            <a:r>
              <a:rPr lang="en-US" sz="1400" dirty="0" err="1">
                <a:solidFill>
                  <a:schemeClr val="bg1"/>
                </a:solidFill>
                <a:highlight>
                  <a:srgbClr val="808000"/>
                </a:highlight>
                <a:cs typeface="Arial" panose="020B0604020202020204" pitchFamily="34" charset="0"/>
              </a:rPr>
              <a:t>Lapor</a:t>
            </a:r>
            <a:endParaRPr lang="en-US" sz="1400" dirty="0">
              <a:solidFill>
                <a:schemeClr val="bg1"/>
              </a:solidFill>
              <a:highlight>
                <a:srgbClr val="808000"/>
              </a:highlight>
              <a:cs typeface="Arial" panose="020B0604020202020204" pitchFamily="34" charset="0"/>
            </a:endParaRPr>
          </a:p>
          <a:p>
            <a:pPr marL="428625" lvl="1" indent="-342900">
              <a:buClr>
                <a:schemeClr val="accent2">
                  <a:shade val="75000"/>
                </a:schemeClr>
              </a:buClr>
              <a:buAutoNum type="arabicPeriod" startAt="7"/>
              <a:defRPr/>
            </a:pPr>
            <a:r>
              <a:rPr lang="en-US" sz="1400" dirty="0" err="1">
                <a:cs typeface="Arial" panose="020B0604020202020204" pitchFamily="34" charset="0"/>
              </a:rPr>
              <a:t>Cefotaxim</a:t>
            </a:r>
            <a:r>
              <a:rPr lang="en-US" sz="1400" dirty="0">
                <a:cs typeface="Arial" panose="020B0604020202020204" pitchFamily="34" charset="0"/>
              </a:rPr>
              <a:t> 3x1 gr  (22.00)</a:t>
            </a:r>
            <a:endParaRPr lang="en-US" sz="1400" dirty="0">
              <a:cs typeface="Arial" panose="020B0604020202020204" pitchFamily="34" charset="0"/>
            </a:endParaRPr>
          </a:p>
          <a:p>
            <a:pPr marL="428625" lvl="1" indent="-342900">
              <a:buClr>
                <a:schemeClr val="accent2">
                  <a:shade val="75000"/>
                </a:schemeClr>
              </a:buClr>
              <a:buAutoNum type="arabicPeriod" startAt="7"/>
              <a:defRPr/>
            </a:pPr>
            <a:r>
              <a:rPr lang="en-US" sz="1400" dirty="0">
                <a:cs typeface="Arial" panose="020B0604020202020204" pitchFamily="34" charset="0"/>
              </a:rPr>
              <a:t>PO PCT  4x 750mg</a:t>
            </a:r>
            <a:endParaRPr lang="en-US" sz="1400" dirty="0">
              <a:cs typeface="Arial" panose="020B0604020202020204" pitchFamily="34" charset="0"/>
            </a:endParaRPr>
          </a:p>
          <a:p>
            <a:pPr marL="428625" lvl="1" indent="-342900">
              <a:buClr>
                <a:schemeClr val="accent2">
                  <a:shade val="75000"/>
                </a:schemeClr>
              </a:buClr>
              <a:buAutoNum type="arabicPeriod" startAt="7"/>
              <a:defRPr/>
            </a:pPr>
            <a:endParaRPr lang="en-US" sz="1400" dirty="0">
              <a:cs typeface="Arial" panose="020B0604020202020204" pitchFamily="34" charset="0"/>
            </a:endParaRPr>
          </a:p>
          <a:p>
            <a:pPr algn="ctr">
              <a:spcBef>
                <a:spcPct val="20000"/>
              </a:spcBef>
              <a:buClr>
                <a:srgbClr val="F9F9F9"/>
              </a:buClr>
              <a:buSzPct val="65000"/>
              <a:tabLst>
                <a:tab pos="114300" algn="l"/>
                <a:tab pos="228600" algn="l"/>
              </a:tabLst>
              <a:defRPr/>
            </a:pPr>
            <a:r>
              <a:rPr lang="en-US" sz="1400" dirty="0">
                <a:latin typeface="+mn-lt"/>
                <a:cs typeface="Arial" panose="020B0604020202020204" pitchFamily="34" charset="0"/>
              </a:rPr>
              <a:t> </a:t>
            </a:r>
            <a:endParaRPr lang="en-US" sz="1400" dirty="0">
              <a:latin typeface="+mn-lt"/>
              <a:cs typeface="Arial" panose="020B0604020202020204" pitchFamily="34" charset="0"/>
            </a:endParaRPr>
          </a:p>
        </p:txBody>
      </p:sp>
      <p:sp>
        <p:nvSpPr>
          <p:cNvPr id="14" name="Text Box 14"/>
          <p:cNvSpPr txBox="1">
            <a:spLocks noChangeArrowheads="1"/>
          </p:cNvSpPr>
          <p:nvPr/>
        </p:nvSpPr>
        <p:spPr bwMode="auto">
          <a:xfrm>
            <a:off x="0" y="2108600"/>
            <a:ext cx="8959003" cy="618220"/>
          </a:xfrm>
          <a:prstGeom prst="rect">
            <a:avLst/>
          </a:prstGeom>
          <a:solidFill>
            <a:schemeClr val="bg2"/>
          </a:solidFill>
          <a:ln w="9525">
            <a:solidFill>
              <a:schemeClr val="tx1"/>
            </a:solidFill>
            <a:miter lim="800000"/>
          </a:ln>
        </p:spPr>
        <p:txBody>
          <a:bodyPr/>
          <a:lstStyle/>
          <a:p>
            <a:pPr algn="ctr"/>
            <a:r>
              <a:rPr lang="en-US" sz="2000" b="1" i="1" dirty="0">
                <a:effectLst/>
                <a:latin typeface="Arial" panose="020B0604020202020204" pitchFamily="34" charset="0"/>
                <a:ea typeface="DengXian" panose="02010600030101010101" pitchFamily="2" charset="-122"/>
              </a:rPr>
              <a:t>DSS + </a:t>
            </a:r>
            <a:r>
              <a:rPr lang="en-US" sz="2000" b="1" i="1" dirty="0">
                <a:latin typeface="Arial" panose="020B0604020202020204" pitchFamily="34" charset="0"/>
                <a:ea typeface="DengXian" panose="02010600030101010101" pitchFamily="2" charset="-122"/>
              </a:rPr>
              <a:t>Overweight</a:t>
            </a:r>
            <a:r>
              <a:rPr lang="en-US" sz="2000" b="1" i="1" dirty="0">
                <a:effectLst/>
                <a:latin typeface="Arial" panose="020B0604020202020204" pitchFamily="34" charset="0"/>
                <a:ea typeface="DengXian" panose="02010600030101010101" pitchFamily="2" charset="-122"/>
              </a:rPr>
              <a:t> + Enteritis </a:t>
            </a:r>
            <a:r>
              <a:rPr lang="en-US" sz="2000" b="1" i="1" dirty="0">
                <a:latin typeface="Arial" panose="020B0604020202020204" pitchFamily="34" charset="0"/>
                <a:ea typeface="DengXian" panose="02010600030101010101" pitchFamily="2" charset="-122"/>
              </a:rPr>
              <a:t>+</a:t>
            </a:r>
            <a:r>
              <a:rPr lang="en-US" sz="2000" b="1" i="1" dirty="0">
                <a:effectLst/>
                <a:latin typeface="Arial" panose="020B0604020202020204" pitchFamily="34" charset="0"/>
                <a:ea typeface="DengXian" panose="02010600030101010101" pitchFamily="2" charset="-122"/>
              </a:rPr>
              <a:t> transaminitis + Azotemia</a:t>
            </a:r>
            <a:endParaRPr lang="en-US" sz="2400" b="1" dirty="0"/>
          </a:p>
          <a:p>
            <a:pPr algn="ctr" eaLnBrk="1" hangingPunct="1"/>
            <a:endParaRPr lang="id-ID" sz="2000" dirty="0">
              <a:latin typeface="+mn-lt"/>
              <a:ea typeface="华文新魏"/>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364" name="AutoShape 2"/>
          <p:cNvCxnSpPr>
            <a:cxnSpLocks noChangeShapeType="1"/>
          </p:cNvCxnSpPr>
          <p:nvPr/>
        </p:nvCxnSpPr>
        <p:spPr bwMode="auto">
          <a:xfrm>
            <a:off x="-180330" y="1924934"/>
            <a:ext cx="8959850" cy="31750"/>
          </a:xfrm>
          <a:prstGeom prst="straightConnector1">
            <a:avLst/>
          </a:prstGeom>
          <a:noFill/>
          <a:ln w="50800">
            <a:solidFill>
              <a:srgbClr val="FFC000"/>
            </a:solidFill>
            <a:round/>
          </a:ln>
        </p:spPr>
      </p:cxnSp>
      <p:sp>
        <p:nvSpPr>
          <p:cNvPr id="11269" name="Text Box 3"/>
          <p:cNvSpPr txBox="1">
            <a:spLocks noChangeArrowheads="1"/>
          </p:cNvSpPr>
          <p:nvPr/>
        </p:nvSpPr>
        <p:spPr bwMode="auto">
          <a:xfrm>
            <a:off x="186140" y="790358"/>
            <a:ext cx="8720809" cy="935219"/>
          </a:xfrm>
          <a:prstGeom prst="rect">
            <a:avLst/>
          </a:prstGeom>
          <a:noFill/>
          <a:ln w="9525">
            <a:solidFill>
              <a:srgbClr val="FFC000"/>
            </a:solidFill>
            <a:miter lim="800000"/>
          </a:ln>
        </p:spPr>
        <p:txBody>
          <a:bodyPr/>
          <a:lstStyle/>
          <a:p>
            <a:pPr marL="85725" lvl="1" algn="ctr" eaLnBrk="1" fontAlgn="auto" hangingPunct="1">
              <a:spcAft>
                <a:spcPts val="0"/>
              </a:spcAft>
              <a:buClr>
                <a:schemeClr val="accent2">
                  <a:shade val="75000"/>
                </a:schemeClr>
              </a:buClr>
              <a:defRPr/>
            </a:pPr>
            <a:r>
              <a:rPr lang="id-ID" sz="2000" dirty="0">
                <a:latin typeface="+mn-lt"/>
              </a:rPr>
              <a:t>Sesak (+) Demam (-) Biru (-) </a:t>
            </a:r>
            <a:r>
              <a:rPr lang="id-ID" sz="2000" dirty="0">
                <a:latin typeface="+mn-lt"/>
                <a:cs typeface="Arial" panose="020B0604020202020204" pitchFamily="34" charset="0"/>
              </a:rPr>
              <a:t>nafas spontan </a:t>
            </a:r>
            <a:r>
              <a:rPr lang="en-US" sz="2000" dirty="0">
                <a:latin typeface="+mn-lt"/>
                <a:cs typeface="Arial" panose="020B0604020202020204" pitchFamily="34" charset="0"/>
              </a:rPr>
              <a:t>support O2 NC 3 lpm</a:t>
            </a:r>
            <a:r>
              <a:rPr lang="id-ID" sz="2000" dirty="0">
                <a:latin typeface="+mn-lt"/>
                <a:cs typeface="Arial" panose="020B0604020202020204" pitchFamily="34" charset="0"/>
              </a:rPr>
              <a:t>(+) </a:t>
            </a:r>
            <a:endParaRPr lang="id-ID" sz="2000" dirty="0">
              <a:latin typeface="+mn-lt"/>
              <a:cs typeface="Arial" panose="020B0604020202020204" pitchFamily="34" charset="0"/>
            </a:endParaRPr>
          </a:p>
          <a:p>
            <a:pPr marL="137160" algn="ctr">
              <a:buClr>
                <a:schemeClr val="tx1">
                  <a:shade val="95000"/>
                </a:schemeClr>
              </a:buClr>
              <a:defRPr/>
            </a:pPr>
            <a:r>
              <a:rPr lang="id-ID" sz="2000" dirty="0">
                <a:latin typeface="+mn-lt"/>
              </a:rPr>
              <a:t> HR : 1</a:t>
            </a:r>
            <a:r>
              <a:rPr lang="en-US" sz="2000" dirty="0"/>
              <a:t>50</a:t>
            </a:r>
            <a:r>
              <a:rPr lang="en-US" sz="2000" dirty="0">
                <a:latin typeface="+mn-lt"/>
              </a:rPr>
              <a:t> x/m</a:t>
            </a:r>
            <a:r>
              <a:rPr lang="id-ID" sz="2000" dirty="0">
                <a:latin typeface="+mn-lt"/>
              </a:rPr>
              <a:t> </a:t>
            </a:r>
            <a:r>
              <a:rPr lang="en-US" sz="2000" dirty="0">
                <a:latin typeface="+mn-lt"/>
              </a:rPr>
              <a:t> </a:t>
            </a:r>
            <a:r>
              <a:rPr lang="en-US" sz="2000" dirty="0" err="1">
                <a:latin typeface="+mn-lt"/>
              </a:rPr>
              <a:t>Nadi</a:t>
            </a:r>
            <a:r>
              <a:rPr lang="en-US" sz="2000" dirty="0">
                <a:latin typeface="+mn-lt"/>
              </a:rPr>
              <a:t> </a:t>
            </a:r>
            <a:r>
              <a:rPr lang="en-US" sz="2000" dirty="0" err="1"/>
              <a:t>teraba</a:t>
            </a:r>
            <a:r>
              <a:rPr lang="en-US" sz="2000" dirty="0"/>
              <a:t> </a:t>
            </a:r>
            <a:r>
              <a:rPr lang="en-US" sz="2000" dirty="0" err="1"/>
              <a:t>dangkal</a:t>
            </a:r>
            <a:r>
              <a:rPr lang="en-US" sz="2000" dirty="0"/>
              <a:t>,</a:t>
            </a:r>
            <a:r>
              <a:rPr lang="en-US" sz="2000" dirty="0">
                <a:latin typeface="+mn-lt"/>
              </a:rPr>
              <a:t> RR:</a:t>
            </a:r>
            <a:r>
              <a:rPr lang="id-ID" sz="2000" dirty="0">
                <a:latin typeface="+mn-lt"/>
              </a:rPr>
              <a:t> </a:t>
            </a:r>
            <a:r>
              <a:rPr lang="en-US" sz="2000" dirty="0">
                <a:latin typeface="+mn-lt"/>
              </a:rPr>
              <a:t>32x/m, </a:t>
            </a:r>
            <a:r>
              <a:rPr lang="id-ID" sz="2000" dirty="0">
                <a:latin typeface="+mn-lt"/>
              </a:rPr>
              <a:t> </a:t>
            </a:r>
            <a:r>
              <a:rPr lang="en-US" sz="2000" dirty="0">
                <a:latin typeface="+mn-lt"/>
              </a:rPr>
              <a:t>tax:</a:t>
            </a:r>
            <a:r>
              <a:rPr lang="id-ID" sz="2000" dirty="0">
                <a:latin typeface="+mn-lt"/>
              </a:rPr>
              <a:t> 3</a:t>
            </a:r>
            <a:r>
              <a:rPr lang="en-US" sz="2000" dirty="0">
                <a:latin typeface="+mn-lt"/>
              </a:rPr>
              <a:t>6</a:t>
            </a:r>
            <a:r>
              <a:rPr lang="id-ID" sz="2000" dirty="0">
                <a:latin typeface="+mn-lt"/>
              </a:rPr>
              <a:t>,</a:t>
            </a:r>
            <a:r>
              <a:rPr lang="en-US" sz="2000" dirty="0">
                <a:latin typeface="+mn-lt"/>
              </a:rPr>
              <a:t>6</a:t>
            </a:r>
            <a:r>
              <a:rPr lang="id-ID" sz="2000" dirty="0">
                <a:latin typeface="+mn-lt"/>
                <a:sym typeface="Symbol" panose="05050102010706020507"/>
              </a:rPr>
              <a:t></a:t>
            </a:r>
            <a:r>
              <a:rPr lang="en-US" sz="2000" dirty="0">
                <a:latin typeface="+mn-lt"/>
              </a:rPr>
              <a:t>C</a:t>
            </a:r>
            <a:r>
              <a:rPr lang="id-ID" sz="2000" dirty="0">
                <a:latin typeface="+mn-lt"/>
              </a:rPr>
              <a:t>, </a:t>
            </a:r>
            <a:r>
              <a:rPr lang="en-US" sz="2000" dirty="0">
                <a:latin typeface="+mn-lt"/>
              </a:rPr>
              <a:t> GCS 456 , </a:t>
            </a:r>
            <a:r>
              <a:rPr lang="id-ID" sz="2000" dirty="0">
                <a:latin typeface="+mn-lt"/>
              </a:rPr>
              <a:t>Sat O2 </a:t>
            </a:r>
            <a:r>
              <a:rPr lang="en-US" sz="2000" dirty="0">
                <a:latin typeface="+mn-lt"/>
              </a:rPr>
              <a:t>9</a:t>
            </a:r>
            <a:r>
              <a:rPr lang="en-US" sz="2000" dirty="0"/>
              <a:t>8</a:t>
            </a:r>
            <a:r>
              <a:rPr lang="id-ID" sz="2000" dirty="0">
                <a:latin typeface="+mn-lt"/>
              </a:rPr>
              <a:t> % akral </a:t>
            </a:r>
            <a:r>
              <a:rPr lang="en-US" sz="2000" dirty="0" err="1">
                <a:latin typeface="+mn-lt"/>
              </a:rPr>
              <a:t>dingin</a:t>
            </a:r>
            <a:r>
              <a:rPr lang="id-ID" sz="2000" dirty="0">
                <a:latin typeface="+mn-lt"/>
              </a:rPr>
              <a:t> CRT</a:t>
            </a:r>
            <a:r>
              <a:rPr lang="en-US" sz="2000" u="sng" dirty="0"/>
              <a:t>&lt;</a:t>
            </a:r>
            <a:r>
              <a:rPr lang="en-US" sz="2000" dirty="0">
                <a:latin typeface="+mn-lt"/>
              </a:rPr>
              <a:t>3</a:t>
            </a:r>
            <a:r>
              <a:rPr lang="id-ID" sz="2000" dirty="0">
                <a:latin typeface="+mn-lt"/>
              </a:rPr>
              <a:t> det</a:t>
            </a:r>
            <a:r>
              <a:rPr lang="en-US" sz="2000" dirty="0">
                <a:latin typeface="+mn-lt"/>
              </a:rPr>
              <a:t>, </a:t>
            </a:r>
            <a:r>
              <a:rPr lang="en-US" sz="2000" dirty="0" err="1">
                <a:latin typeface="+mn-lt"/>
              </a:rPr>
              <a:t>kejang</a:t>
            </a:r>
            <a:r>
              <a:rPr lang="en-US" sz="2000" dirty="0">
                <a:latin typeface="+mn-lt"/>
              </a:rPr>
              <a:t> (-)</a:t>
            </a:r>
            <a:endParaRPr lang="id-ID" sz="2000" dirty="0"/>
          </a:p>
          <a:p>
            <a:pPr marL="137160" indent="0" algn="ctr" eaLnBrk="1" fontAlgn="auto" hangingPunct="1">
              <a:spcAft>
                <a:spcPts val="0"/>
              </a:spcAft>
              <a:buClr>
                <a:schemeClr val="tx1">
                  <a:shade val="95000"/>
                </a:schemeClr>
              </a:buClr>
              <a:buNone/>
              <a:defRPr/>
            </a:pPr>
            <a:endParaRPr lang="id-ID" sz="2000" dirty="0">
              <a:latin typeface="+mn-lt"/>
            </a:endParaRPr>
          </a:p>
        </p:txBody>
      </p:sp>
      <p:sp>
        <p:nvSpPr>
          <p:cNvPr id="11273" name="Text Box 6"/>
          <p:cNvSpPr txBox="1">
            <a:spLocks noChangeArrowheads="1"/>
          </p:cNvSpPr>
          <p:nvPr/>
        </p:nvSpPr>
        <p:spPr bwMode="auto">
          <a:xfrm>
            <a:off x="3873287" y="1725577"/>
            <a:ext cx="1642610" cy="244691"/>
          </a:xfrm>
          <a:prstGeom prst="rect">
            <a:avLst/>
          </a:prstGeom>
          <a:solidFill>
            <a:schemeClr val="bg1"/>
          </a:solidFill>
          <a:ln w="9525">
            <a:solidFill>
              <a:schemeClr val="tx1"/>
            </a:solidFill>
            <a:miter lim="800000"/>
          </a:ln>
        </p:spPr>
        <p:txBody>
          <a:bodyPr/>
          <a:lstStyle/>
          <a:p>
            <a:pPr algn="ctr">
              <a:spcAft>
                <a:spcPts val="1000"/>
              </a:spcAft>
              <a:buFont typeface="Wingdings 2" panose="05020102010507070707" pitchFamily="18" charset="2"/>
              <a:buNone/>
              <a:defRPr/>
            </a:pPr>
            <a:r>
              <a:rPr lang="en-US" sz="1400" dirty="0">
                <a:cs typeface="Arial" panose="020B0604020202020204" pitchFamily="34" charset="0"/>
              </a:rPr>
              <a:t>17</a:t>
            </a:r>
            <a:r>
              <a:rPr lang="id-ID" sz="1400" dirty="0">
                <a:cs typeface="Arial" panose="020B0604020202020204" pitchFamily="34" charset="0"/>
              </a:rPr>
              <a:t>/</a:t>
            </a:r>
            <a:r>
              <a:rPr lang="en-US" sz="1400" dirty="0">
                <a:cs typeface="Arial" panose="020B0604020202020204" pitchFamily="34" charset="0"/>
              </a:rPr>
              <a:t>6</a:t>
            </a:r>
            <a:r>
              <a:rPr lang="id-ID" sz="1400" dirty="0">
                <a:cs typeface="Arial" panose="020B0604020202020204" pitchFamily="34" charset="0"/>
              </a:rPr>
              <a:t>/</a:t>
            </a:r>
            <a:r>
              <a:rPr lang="en-US" sz="1400" dirty="0">
                <a:cs typeface="Arial" panose="020B0604020202020204" pitchFamily="34" charset="0"/>
              </a:rPr>
              <a:t>2025</a:t>
            </a:r>
            <a:r>
              <a:rPr lang="id-ID" sz="1400" dirty="0">
                <a:cs typeface="Arial" panose="020B0604020202020204" pitchFamily="34" charset="0"/>
              </a:rPr>
              <a:t> </a:t>
            </a:r>
            <a:endParaRPr lang="en-US" sz="1400" dirty="0">
              <a:cs typeface="Arial" panose="020B0604020202020204" pitchFamily="34" charset="0"/>
            </a:endParaRPr>
          </a:p>
          <a:p>
            <a:pPr algn="ctr">
              <a:spcAft>
                <a:spcPts val="1000"/>
              </a:spcAft>
              <a:buFont typeface="Arial" panose="020B0604020202020204" pitchFamily="34" charset="0"/>
              <a:buNone/>
              <a:defRPr/>
            </a:pPr>
            <a:endParaRPr lang="id-ID" altLang="en-US" sz="1400" b="1" dirty="0">
              <a:cs typeface="Arial" panose="020B0604020202020204" pitchFamily="34" charset="0"/>
            </a:endParaRPr>
          </a:p>
        </p:txBody>
      </p:sp>
      <p:sp>
        <p:nvSpPr>
          <p:cNvPr id="15367" name="Text Box 14"/>
          <p:cNvSpPr txBox="1">
            <a:spLocks noChangeArrowheads="1"/>
          </p:cNvSpPr>
          <p:nvPr/>
        </p:nvSpPr>
        <p:spPr bwMode="auto">
          <a:xfrm>
            <a:off x="3635935" y="381728"/>
            <a:ext cx="2091359" cy="270560"/>
          </a:xfrm>
          <a:prstGeom prst="rect">
            <a:avLst/>
          </a:prstGeom>
          <a:solidFill>
            <a:schemeClr val="bg2"/>
          </a:solidFill>
          <a:ln w="9525">
            <a:solidFill>
              <a:schemeClr val="tx1"/>
            </a:solidFill>
            <a:miter lim="800000"/>
          </a:ln>
        </p:spPr>
        <p:txBody>
          <a:bodyPr/>
          <a:lstStyle/>
          <a:p>
            <a:pPr algn="ctr">
              <a:lnSpc>
                <a:spcPct val="115000"/>
              </a:lnSpc>
            </a:pPr>
            <a:r>
              <a:rPr lang="en-US" altLang="en-US" sz="1400">
                <a:cs typeface="Arial" panose="020B0604020202020204" pitchFamily="34" charset="0"/>
              </a:rPr>
              <a:t>PICU</a:t>
            </a:r>
            <a:endParaRPr lang="id-ID" altLang="en-US" sz="1400">
              <a:cs typeface="Arial" panose="020B0604020202020204" pitchFamily="34" charset="0"/>
            </a:endParaRPr>
          </a:p>
        </p:txBody>
      </p:sp>
      <p:sp>
        <p:nvSpPr>
          <p:cNvPr id="23" name="Subtitle 2"/>
          <p:cNvSpPr txBox="1">
            <a:spLocks noChangeArrowheads="1"/>
          </p:cNvSpPr>
          <p:nvPr/>
        </p:nvSpPr>
        <p:spPr bwMode="auto">
          <a:xfrm>
            <a:off x="683730" y="-41679"/>
            <a:ext cx="7725633" cy="380241"/>
          </a:xfrm>
          <a:prstGeom prst="rect">
            <a:avLst/>
          </a:prstGeom>
          <a:noFill/>
          <a:ln w="9525">
            <a:noFill/>
            <a:miter lim="800000"/>
          </a:ln>
        </p:spPr>
        <p:txBody>
          <a:bodyPr vert="horz" wrap="square" lIns="91440" tIns="45720" rIns="91440" bIns="45720" numCol="1" anchor="t" anchorCtr="0" compatLnSpc="1"/>
          <a:lstStyle/>
          <a:p>
            <a:pPr algn="ctr" eaLnBrk="1" fontAlgn="auto" hangingPunct="1">
              <a:spcAft>
                <a:spcPts val="0"/>
              </a:spcAft>
              <a:defRPr/>
            </a:pPr>
            <a:endParaRPr lang="id-ID">
              <a:latin typeface="+mn-lt"/>
            </a:endParaRPr>
          </a:p>
        </p:txBody>
      </p:sp>
      <p:sp>
        <p:nvSpPr>
          <p:cNvPr id="30" name="Text Box 3"/>
          <p:cNvSpPr txBox="1">
            <a:spLocks noChangeArrowheads="1"/>
          </p:cNvSpPr>
          <p:nvPr/>
        </p:nvSpPr>
        <p:spPr bwMode="auto">
          <a:xfrm>
            <a:off x="189597" y="2841987"/>
            <a:ext cx="8764806" cy="2782419"/>
          </a:xfrm>
          <a:prstGeom prst="rect">
            <a:avLst/>
          </a:prstGeom>
          <a:noFill/>
          <a:ln w="9525">
            <a:solidFill>
              <a:srgbClr val="FFC000"/>
            </a:solidFill>
            <a:miter lim="800000"/>
          </a:ln>
        </p:spPr>
        <p:txBody>
          <a:bodyPr/>
          <a:lstStyle/>
          <a:p>
            <a:pPr marL="85725" lvl="1">
              <a:buClr>
                <a:schemeClr val="accent2">
                  <a:shade val="75000"/>
                </a:schemeClr>
              </a:buClr>
              <a:defRPr/>
            </a:pPr>
            <a:r>
              <a:rPr lang="en-US" sz="2000" dirty="0">
                <a:cs typeface="Arial" panose="020B0604020202020204" pitchFamily="34" charset="0"/>
              </a:rPr>
              <a:t>HB 14,4, </a:t>
            </a:r>
            <a:r>
              <a:rPr lang="en-US" sz="2000" dirty="0" err="1">
                <a:cs typeface="Arial" panose="020B0604020202020204" pitchFamily="34" charset="0"/>
              </a:rPr>
              <a:t>Leukosit</a:t>
            </a:r>
            <a:r>
              <a:rPr lang="en-US" sz="2000" dirty="0">
                <a:cs typeface="Arial" panose="020B0604020202020204" pitchFamily="34" charset="0"/>
              </a:rPr>
              <a:t> 15.830, </a:t>
            </a:r>
            <a:r>
              <a:rPr lang="en-US" sz="2000" dirty="0" err="1">
                <a:cs typeface="Arial" panose="020B0604020202020204" pitchFamily="34" charset="0"/>
              </a:rPr>
              <a:t>Trombosit</a:t>
            </a:r>
            <a:r>
              <a:rPr lang="en-US" sz="2000" dirty="0">
                <a:cs typeface="Arial" panose="020B0604020202020204" pitchFamily="34" charset="0"/>
              </a:rPr>
              <a:t> 41.000, </a:t>
            </a:r>
            <a:r>
              <a:rPr lang="en-US" sz="2000" dirty="0" err="1">
                <a:cs typeface="Arial" panose="020B0604020202020204" pitchFamily="34" charset="0"/>
              </a:rPr>
              <a:t>produksi</a:t>
            </a:r>
            <a:r>
              <a:rPr lang="en-US" sz="2000" dirty="0">
                <a:cs typeface="Arial" panose="020B0604020202020204" pitchFamily="34" charset="0"/>
              </a:rPr>
              <a:t> Urine minimal, </a:t>
            </a:r>
            <a:r>
              <a:rPr lang="en-US" sz="2000" dirty="0" err="1">
                <a:cs typeface="Arial" panose="020B0604020202020204" pitchFamily="34" charset="0"/>
              </a:rPr>
              <a:t>kekuningan</a:t>
            </a:r>
            <a:r>
              <a:rPr lang="en-US" sz="2000" dirty="0">
                <a:cs typeface="Arial" panose="020B0604020202020204" pitchFamily="34" charset="0"/>
              </a:rPr>
              <a:t> </a:t>
            </a:r>
            <a:r>
              <a:rPr lang="en-US" sz="2000" u="sng" dirty="0">
                <a:cs typeface="Arial" panose="020B0604020202020204" pitchFamily="34" charset="0"/>
              </a:rPr>
              <a:t>+ 100cc, </a:t>
            </a:r>
            <a:endParaRPr lang="en-US" sz="2000" u="sng" dirty="0">
              <a:cs typeface="Arial" panose="020B0604020202020204" pitchFamily="34" charset="0"/>
            </a:endParaRPr>
          </a:p>
          <a:p>
            <a:pPr marL="85725" lvl="1">
              <a:buClr>
                <a:schemeClr val="accent2">
                  <a:shade val="75000"/>
                </a:schemeClr>
              </a:buClr>
              <a:defRPr/>
            </a:pPr>
            <a:r>
              <a:rPr lang="en-US" sz="2000" u="sng" dirty="0">
                <a:latin typeface="+mn-lt"/>
                <a:cs typeface="Arial" panose="020B0604020202020204" pitchFamily="34" charset="0"/>
              </a:rPr>
              <a:t>IVF</a:t>
            </a:r>
            <a:r>
              <a:rPr lang="en-US" sz="2000" u="sng" dirty="0">
                <a:cs typeface="Arial" panose="020B0604020202020204" pitchFamily="34" charset="0"/>
              </a:rPr>
              <a:t>D RA 2000 cc /24 jam</a:t>
            </a:r>
            <a:endParaRPr lang="en-US" sz="2000" u="sng" dirty="0">
              <a:cs typeface="Arial" panose="020B0604020202020204" pitchFamily="34" charset="0"/>
            </a:endParaRPr>
          </a:p>
          <a:p>
            <a:pPr marL="85725" lvl="1">
              <a:buClr>
                <a:schemeClr val="accent2">
                  <a:shade val="75000"/>
                </a:schemeClr>
              </a:buClr>
              <a:defRPr/>
            </a:pPr>
            <a:r>
              <a:rPr lang="en-US" sz="2000" u="sng" dirty="0" err="1">
                <a:latin typeface="+mn-lt"/>
                <a:cs typeface="Arial" panose="020B0604020202020204" pitchFamily="34" charset="0"/>
              </a:rPr>
              <a:t>Omperazole</a:t>
            </a:r>
            <a:r>
              <a:rPr lang="en-US" sz="2000" u="sng" dirty="0">
                <a:latin typeface="+mn-lt"/>
                <a:cs typeface="Arial" panose="020B0604020202020204" pitchFamily="34" charset="0"/>
              </a:rPr>
              <a:t> 2x40 mg (06.00, 18.00)</a:t>
            </a:r>
            <a:endParaRPr lang="en-US" sz="2000" u="sng" dirty="0">
              <a:latin typeface="+mn-lt"/>
              <a:cs typeface="Arial" panose="020B0604020202020204" pitchFamily="34" charset="0"/>
            </a:endParaRPr>
          </a:p>
          <a:p>
            <a:pPr marL="85725" lvl="1">
              <a:buClr>
                <a:schemeClr val="accent2">
                  <a:shade val="75000"/>
                </a:schemeClr>
              </a:buClr>
              <a:defRPr/>
            </a:pPr>
            <a:r>
              <a:rPr lang="en-US" sz="2000" u="sng" dirty="0" err="1">
                <a:cs typeface="Arial" panose="020B0604020202020204" pitchFamily="34" charset="0"/>
              </a:rPr>
              <a:t>Ondancentron</a:t>
            </a:r>
            <a:r>
              <a:rPr lang="en-US" sz="2000" u="sng" dirty="0">
                <a:cs typeface="Arial" panose="020B0604020202020204" pitchFamily="34" charset="0"/>
              </a:rPr>
              <a:t> 3x 6,5 mg ( 06.00, 14.00, 22.00)</a:t>
            </a:r>
            <a:endParaRPr lang="en-US" sz="2000" u="sng" dirty="0">
              <a:cs typeface="Arial" panose="020B0604020202020204" pitchFamily="34" charset="0"/>
            </a:endParaRPr>
          </a:p>
          <a:p>
            <a:pPr marL="85725" lvl="1">
              <a:buClr>
                <a:schemeClr val="accent2">
                  <a:shade val="75000"/>
                </a:schemeClr>
              </a:buClr>
              <a:defRPr/>
            </a:pPr>
            <a:r>
              <a:rPr lang="en-US" sz="2000" u="sng" dirty="0" err="1">
                <a:cs typeface="Arial" panose="020B0604020202020204" pitchFamily="34" charset="0"/>
              </a:rPr>
              <a:t>Cefotaxim</a:t>
            </a:r>
            <a:r>
              <a:rPr lang="en-US" sz="2000" u="sng" dirty="0">
                <a:cs typeface="Arial" panose="020B0604020202020204" pitchFamily="34" charset="0"/>
              </a:rPr>
              <a:t> 3x1gr (06.00, 14.00, 22.00</a:t>
            </a:r>
            <a:endParaRPr lang="en-US" sz="2000" u="sng" dirty="0">
              <a:cs typeface="Arial" panose="020B0604020202020204" pitchFamily="34" charset="0"/>
            </a:endParaRPr>
          </a:p>
          <a:p>
            <a:pPr marL="85725" lvl="1">
              <a:buClr>
                <a:schemeClr val="accent2">
                  <a:shade val="75000"/>
                </a:schemeClr>
              </a:buClr>
              <a:defRPr/>
            </a:pPr>
            <a:r>
              <a:rPr lang="en-US" sz="2000" u="sng" dirty="0">
                <a:cs typeface="Arial" panose="020B0604020202020204" pitchFamily="34" charset="0"/>
              </a:rPr>
              <a:t>Po sucralfate 3 x 10 ml (06.00, 14.00, 22.00)</a:t>
            </a:r>
            <a:endParaRPr lang="en-US" sz="2000" u="sng" dirty="0">
              <a:cs typeface="Arial" panose="020B0604020202020204" pitchFamily="34" charset="0"/>
            </a:endParaRPr>
          </a:p>
          <a:p>
            <a:pPr marL="85725" lvl="1">
              <a:buClr>
                <a:schemeClr val="accent2">
                  <a:shade val="75000"/>
                </a:schemeClr>
              </a:buClr>
              <a:defRPr/>
            </a:pPr>
            <a:r>
              <a:rPr lang="en-US" sz="2000" u="sng" dirty="0">
                <a:cs typeface="Arial" panose="020B0604020202020204" pitchFamily="34" charset="0"/>
              </a:rPr>
              <a:t>Po PCT 4x750 mg (06.00, 12.00, 18.00, 00.00)</a:t>
            </a:r>
            <a:endParaRPr lang="en-US" sz="2000" u="sng" dirty="0">
              <a:cs typeface="Arial" panose="020B0604020202020204" pitchFamily="34" charset="0"/>
            </a:endParaRPr>
          </a:p>
          <a:p>
            <a:pPr marL="85725" lvl="1">
              <a:buClr>
                <a:schemeClr val="accent2">
                  <a:shade val="75000"/>
                </a:schemeClr>
              </a:buClr>
              <a:defRPr/>
            </a:pPr>
            <a:r>
              <a:rPr lang="en-US" sz="2000" u="sng" dirty="0">
                <a:cs typeface="Arial" panose="020B0604020202020204" pitchFamily="34" charset="0"/>
              </a:rPr>
              <a:t>Drib </a:t>
            </a:r>
            <a:r>
              <a:rPr lang="en-US" sz="2000" u="sng" dirty="0" err="1">
                <a:cs typeface="Arial" panose="020B0604020202020204" pitchFamily="34" charset="0"/>
              </a:rPr>
              <a:t>Dobutamin</a:t>
            </a:r>
            <a:r>
              <a:rPr lang="en-US" sz="2000" u="sng" dirty="0">
                <a:cs typeface="Arial" panose="020B0604020202020204" pitchFamily="34" charset="0"/>
              </a:rPr>
              <a:t> 10mcg/</a:t>
            </a:r>
            <a:r>
              <a:rPr lang="en-US" sz="2000" u="sng" dirty="0" err="1">
                <a:cs typeface="Arial" panose="020B0604020202020204" pitchFamily="34" charset="0"/>
              </a:rPr>
              <a:t>kgBB</a:t>
            </a:r>
            <a:r>
              <a:rPr lang="en-US" sz="2000" u="sng" dirty="0">
                <a:cs typeface="Arial" panose="020B0604020202020204" pitchFamily="34" charset="0"/>
              </a:rPr>
              <a:t> =&gt; 7,5 mcg/ kg BB</a:t>
            </a:r>
            <a:endParaRPr lang="id-ID" sz="2000" dirty="0">
              <a:latin typeface="+mn-lt"/>
              <a:cs typeface="Arial" panose="020B0604020202020204" pitchFamily="34" charset="0"/>
            </a:endParaRPr>
          </a:p>
          <a:p>
            <a:pPr marL="342900" indent="-342900" algn="ctr">
              <a:spcBef>
                <a:spcPct val="20000"/>
              </a:spcBef>
              <a:buClr>
                <a:srgbClr val="F9F9F9"/>
              </a:buClr>
              <a:buSzPct val="65000"/>
              <a:buFont typeface="+mj-lt"/>
              <a:buAutoNum type="arabicPeriod" startAt="9"/>
              <a:tabLst>
                <a:tab pos="114300" algn="l"/>
                <a:tab pos="228600" algn="l"/>
              </a:tabLst>
              <a:defRPr/>
            </a:pPr>
            <a:r>
              <a:rPr lang="en-US" sz="2000" dirty="0">
                <a:latin typeface="+mn-lt"/>
                <a:cs typeface="Arial" panose="020B0604020202020204" pitchFamily="34" charset="0"/>
              </a:rPr>
              <a:t> </a:t>
            </a:r>
            <a:endParaRPr lang="en-US" sz="2000" dirty="0">
              <a:latin typeface="+mn-lt"/>
              <a:cs typeface="Arial" panose="020B0604020202020204" pitchFamily="34" charset="0"/>
            </a:endParaRPr>
          </a:p>
        </p:txBody>
      </p:sp>
      <p:sp>
        <p:nvSpPr>
          <p:cNvPr id="14" name="Text Box 14"/>
          <p:cNvSpPr txBox="1">
            <a:spLocks noChangeArrowheads="1"/>
          </p:cNvSpPr>
          <p:nvPr/>
        </p:nvSpPr>
        <p:spPr bwMode="auto">
          <a:xfrm>
            <a:off x="67044" y="2039302"/>
            <a:ext cx="8959003" cy="802685"/>
          </a:xfrm>
          <a:prstGeom prst="rect">
            <a:avLst/>
          </a:prstGeom>
          <a:solidFill>
            <a:schemeClr val="bg2"/>
          </a:solidFill>
          <a:ln w="9525">
            <a:solidFill>
              <a:schemeClr val="tx1"/>
            </a:solidFill>
            <a:miter lim="800000"/>
          </a:ln>
        </p:spPr>
        <p:txBody>
          <a:bodyPr/>
          <a:lstStyle/>
          <a:p>
            <a:pPr algn="ctr"/>
            <a:r>
              <a:rPr lang="en-US" sz="2000" b="1" i="1" dirty="0">
                <a:effectLst/>
                <a:latin typeface="Arial" panose="020B0604020202020204" pitchFamily="34" charset="0"/>
                <a:ea typeface="DengXian" panose="02010600030101010101" pitchFamily="2" charset="-122"/>
              </a:rPr>
              <a:t>DSS + </a:t>
            </a:r>
            <a:r>
              <a:rPr lang="en-US" sz="2000" b="1" i="1" dirty="0">
                <a:latin typeface="Arial" panose="020B0604020202020204" pitchFamily="34" charset="0"/>
                <a:ea typeface="DengXian" panose="02010600030101010101" pitchFamily="2" charset="-122"/>
              </a:rPr>
              <a:t>Overweight</a:t>
            </a:r>
            <a:r>
              <a:rPr lang="en-US" sz="2000" b="1" i="1" dirty="0">
                <a:effectLst/>
                <a:latin typeface="Arial" panose="020B0604020202020204" pitchFamily="34" charset="0"/>
                <a:ea typeface="DengXian" panose="02010600030101010101" pitchFamily="2" charset="-122"/>
              </a:rPr>
              <a:t>+ Enteritis </a:t>
            </a:r>
            <a:r>
              <a:rPr lang="en-US" sz="2000" b="1" i="1" dirty="0">
                <a:latin typeface="Arial" panose="020B0604020202020204" pitchFamily="34" charset="0"/>
                <a:ea typeface="DengXian" panose="02010600030101010101" pitchFamily="2" charset="-122"/>
              </a:rPr>
              <a:t>+</a:t>
            </a:r>
            <a:r>
              <a:rPr lang="en-US" sz="2000" b="1" i="1" dirty="0">
                <a:effectLst/>
                <a:latin typeface="Arial" panose="020B0604020202020204" pitchFamily="34" charset="0"/>
                <a:ea typeface="DengXian" panose="02010600030101010101" pitchFamily="2" charset="-122"/>
              </a:rPr>
              <a:t> transaminitis + Azotemia</a:t>
            </a:r>
            <a:endParaRPr lang="id-ID" sz="2000" dirty="0">
              <a:ea typeface="华文新魏"/>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364" name="AutoShape 2"/>
          <p:cNvCxnSpPr>
            <a:cxnSpLocks noChangeShapeType="1"/>
          </p:cNvCxnSpPr>
          <p:nvPr/>
        </p:nvCxnSpPr>
        <p:spPr bwMode="auto">
          <a:xfrm>
            <a:off x="-180330" y="1924934"/>
            <a:ext cx="8959850" cy="31750"/>
          </a:xfrm>
          <a:prstGeom prst="straightConnector1">
            <a:avLst/>
          </a:prstGeom>
          <a:noFill/>
          <a:ln w="50800">
            <a:solidFill>
              <a:srgbClr val="FFC000"/>
            </a:solidFill>
            <a:round/>
          </a:ln>
        </p:spPr>
      </p:cxnSp>
      <p:sp>
        <p:nvSpPr>
          <p:cNvPr id="11269" name="Text Box 3"/>
          <p:cNvSpPr txBox="1">
            <a:spLocks noChangeArrowheads="1"/>
          </p:cNvSpPr>
          <p:nvPr/>
        </p:nvSpPr>
        <p:spPr bwMode="auto">
          <a:xfrm>
            <a:off x="67044" y="771474"/>
            <a:ext cx="8720809" cy="935219"/>
          </a:xfrm>
          <a:prstGeom prst="rect">
            <a:avLst/>
          </a:prstGeom>
          <a:noFill/>
          <a:ln w="9525">
            <a:solidFill>
              <a:srgbClr val="FFC000"/>
            </a:solidFill>
            <a:miter lim="800000"/>
          </a:ln>
        </p:spPr>
        <p:txBody>
          <a:bodyPr/>
          <a:lstStyle/>
          <a:p>
            <a:pPr marL="85725" lvl="1" algn="ctr" eaLnBrk="1" fontAlgn="auto" hangingPunct="1">
              <a:spcAft>
                <a:spcPts val="0"/>
              </a:spcAft>
              <a:buClr>
                <a:schemeClr val="accent2">
                  <a:shade val="75000"/>
                </a:schemeClr>
              </a:buClr>
              <a:defRPr/>
            </a:pPr>
            <a:r>
              <a:rPr lang="en-US" sz="2000" dirty="0">
                <a:latin typeface="+mn-lt"/>
              </a:rPr>
              <a:t>K/u lemah, sesak + GCS 456, </a:t>
            </a:r>
            <a:r>
              <a:rPr lang="en-US" sz="2000" dirty="0" err="1">
                <a:latin typeface="+mn-lt"/>
              </a:rPr>
              <a:t>Trombosit</a:t>
            </a:r>
            <a:r>
              <a:rPr lang="en-US" sz="2000" dirty="0">
                <a:latin typeface="+mn-lt"/>
              </a:rPr>
              <a:t> 41.000, HR 122x/</a:t>
            </a:r>
            <a:r>
              <a:rPr lang="en-US" sz="2000" dirty="0" err="1">
                <a:latin typeface="+mn-lt"/>
              </a:rPr>
              <a:t>mnt</a:t>
            </a:r>
            <a:r>
              <a:rPr lang="en-US" sz="2000" dirty="0">
                <a:latin typeface="+mn-lt"/>
              </a:rPr>
              <a:t>, RR 40X/</a:t>
            </a:r>
            <a:r>
              <a:rPr lang="en-US" sz="2000" dirty="0" err="1">
                <a:latin typeface="+mn-lt"/>
              </a:rPr>
              <a:t>mnt</a:t>
            </a:r>
            <a:r>
              <a:rPr lang="en-US" sz="2000" dirty="0">
                <a:latin typeface="+mn-lt"/>
              </a:rPr>
              <a:t>,  S : 36,5 </a:t>
            </a:r>
            <a:r>
              <a:rPr lang="id-ID" sz="2000" dirty="0">
                <a:latin typeface="+mn-lt"/>
                <a:sym typeface="Symbol" panose="05050102010706020507"/>
              </a:rPr>
              <a:t></a:t>
            </a:r>
            <a:r>
              <a:rPr lang="en-US" sz="2000" dirty="0">
                <a:latin typeface="+mn-lt"/>
              </a:rPr>
              <a:t>C, Spo2 98%, TD : 117/85 </a:t>
            </a:r>
            <a:r>
              <a:rPr lang="en-US" sz="2000" dirty="0" err="1">
                <a:latin typeface="+mn-lt"/>
              </a:rPr>
              <a:t>mual</a:t>
            </a:r>
            <a:r>
              <a:rPr lang="en-US" sz="2000" dirty="0">
                <a:latin typeface="+mn-lt"/>
              </a:rPr>
              <a:t> (+), </a:t>
            </a:r>
            <a:r>
              <a:rPr lang="en-US" sz="2000" dirty="0" err="1">
                <a:latin typeface="+mn-lt"/>
              </a:rPr>
              <a:t>muntah</a:t>
            </a:r>
            <a:r>
              <a:rPr lang="en-US" sz="2000" dirty="0">
                <a:latin typeface="+mn-lt"/>
              </a:rPr>
              <a:t> (-). </a:t>
            </a:r>
            <a:r>
              <a:rPr lang="en-US" sz="2000" dirty="0" err="1">
                <a:latin typeface="+mn-lt"/>
              </a:rPr>
              <a:t>Nafas</a:t>
            </a:r>
            <a:r>
              <a:rPr lang="en-US" sz="2000" dirty="0">
                <a:latin typeface="+mn-lt"/>
              </a:rPr>
              <a:t> </a:t>
            </a:r>
            <a:r>
              <a:rPr lang="en-US" sz="2000" dirty="0" err="1">
                <a:latin typeface="+mn-lt"/>
              </a:rPr>
              <a:t>Spontan</a:t>
            </a:r>
            <a:r>
              <a:rPr lang="en-US" sz="2000" dirty="0">
                <a:latin typeface="+mn-lt"/>
              </a:rPr>
              <a:t> Support O2 NC 3 lpm</a:t>
            </a:r>
            <a:endParaRPr lang="id-ID" sz="2000" dirty="0">
              <a:latin typeface="+mn-lt"/>
            </a:endParaRPr>
          </a:p>
        </p:txBody>
      </p:sp>
      <p:sp>
        <p:nvSpPr>
          <p:cNvPr id="11273" name="Text Box 6"/>
          <p:cNvSpPr txBox="1">
            <a:spLocks noChangeArrowheads="1"/>
          </p:cNvSpPr>
          <p:nvPr/>
        </p:nvSpPr>
        <p:spPr bwMode="auto">
          <a:xfrm>
            <a:off x="3873287" y="1656543"/>
            <a:ext cx="1488336" cy="313726"/>
          </a:xfrm>
          <a:prstGeom prst="rect">
            <a:avLst/>
          </a:prstGeom>
          <a:solidFill>
            <a:schemeClr val="bg1"/>
          </a:solidFill>
          <a:ln w="9525">
            <a:solidFill>
              <a:schemeClr val="tx1"/>
            </a:solidFill>
            <a:miter lim="800000"/>
          </a:ln>
        </p:spPr>
        <p:txBody>
          <a:bodyPr/>
          <a:lstStyle/>
          <a:p>
            <a:pPr algn="ctr">
              <a:spcAft>
                <a:spcPts val="1000"/>
              </a:spcAft>
              <a:buFont typeface="Wingdings 2" panose="05020102010507070707" pitchFamily="18" charset="2"/>
              <a:buNone/>
              <a:defRPr/>
            </a:pPr>
            <a:r>
              <a:rPr lang="en-US" sz="1400" dirty="0">
                <a:cs typeface="Arial" panose="020B0604020202020204" pitchFamily="34" charset="0"/>
              </a:rPr>
              <a:t>18/06/2025 </a:t>
            </a:r>
            <a:r>
              <a:rPr lang="id-ID" sz="1400" dirty="0">
                <a:cs typeface="Arial" panose="020B0604020202020204" pitchFamily="34" charset="0"/>
              </a:rPr>
              <a:t> </a:t>
            </a:r>
            <a:endParaRPr lang="en-US" sz="1400" dirty="0">
              <a:cs typeface="Arial" panose="020B0604020202020204" pitchFamily="34" charset="0"/>
            </a:endParaRPr>
          </a:p>
          <a:p>
            <a:pPr algn="ctr">
              <a:spcAft>
                <a:spcPts val="1000"/>
              </a:spcAft>
              <a:buFont typeface="Arial" panose="020B0604020202020204" pitchFamily="34" charset="0"/>
              <a:buNone/>
              <a:defRPr/>
            </a:pPr>
            <a:endParaRPr lang="id-ID" altLang="en-US" sz="1400" b="1" dirty="0">
              <a:cs typeface="Arial" panose="020B0604020202020204" pitchFamily="34" charset="0"/>
            </a:endParaRPr>
          </a:p>
        </p:txBody>
      </p:sp>
      <p:sp>
        <p:nvSpPr>
          <p:cNvPr id="15367" name="Text Box 14"/>
          <p:cNvSpPr txBox="1">
            <a:spLocks noChangeArrowheads="1"/>
          </p:cNvSpPr>
          <p:nvPr/>
        </p:nvSpPr>
        <p:spPr bwMode="auto">
          <a:xfrm>
            <a:off x="3848736" y="381728"/>
            <a:ext cx="1512887" cy="266700"/>
          </a:xfrm>
          <a:prstGeom prst="rect">
            <a:avLst/>
          </a:prstGeom>
          <a:solidFill>
            <a:schemeClr val="bg2"/>
          </a:solidFill>
          <a:ln w="9525">
            <a:solidFill>
              <a:schemeClr val="tx1"/>
            </a:solidFill>
            <a:miter lim="800000"/>
          </a:ln>
        </p:spPr>
        <p:txBody>
          <a:bodyPr/>
          <a:lstStyle/>
          <a:p>
            <a:pPr algn="ctr">
              <a:lnSpc>
                <a:spcPct val="115000"/>
              </a:lnSpc>
            </a:pPr>
            <a:r>
              <a:rPr lang="en-US" altLang="en-US" sz="1400" dirty="0">
                <a:cs typeface="Arial" panose="020B0604020202020204" pitchFamily="34" charset="0"/>
              </a:rPr>
              <a:t>PICU </a:t>
            </a:r>
            <a:endParaRPr lang="id-ID" altLang="en-US" sz="1400" dirty="0">
              <a:cs typeface="Arial" panose="020B0604020202020204" pitchFamily="34" charset="0"/>
            </a:endParaRPr>
          </a:p>
        </p:txBody>
      </p:sp>
      <p:sp>
        <p:nvSpPr>
          <p:cNvPr id="23" name="Subtitle 2"/>
          <p:cNvSpPr txBox="1">
            <a:spLocks noChangeArrowheads="1"/>
          </p:cNvSpPr>
          <p:nvPr/>
        </p:nvSpPr>
        <p:spPr bwMode="auto">
          <a:xfrm>
            <a:off x="683730" y="-41679"/>
            <a:ext cx="7725633" cy="380241"/>
          </a:xfrm>
          <a:prstGeom prst="rect">
            <a:avLst/>
          </a:prstGeom>
          <a:noFill/>
          <a:ln w="9525">
            <a:noFill/>
            <a:miter lim="800000"/>
          </a:ln>
        </p:spPr>
        <p:txBody>
          <a:bodyPr vert="horz" wrap="square" lIns="91440" tIns="45720" rIns="91440" bIns="45720" numCol="1" anchor="t" anchorCtr="0" compatLnSpc="1"/>
          <a:lstStyle/>
          <a:p>
            <a:pPr algn="ctr" eaLnBrk="1" fontAlgn="auto" hangingPunct="1">
              <a:spcAft>
                <a:spcPts val="0"/>
              </a:spcAft>
              <a:defRPr/>
            </a:pPr>
            <a:endParaRPr lang="id-ID">
              <a:latin typeface="+mn-lt"/>
            </a:endParaRPr>
          </a:p>
        </p:txBody>
      </p:sp>
      <p:sp>
        <p:nvSpPr>
          <p:cNvPr id="30" name="Text Box 3"/>
          <p:cNvSpPr txBox="1">
            <a:spLocks noChangeArrowheads="1"/>
          </p:cNvSpPr>
          <p:nvPr/>
        </p:nvSpPr>
        <p:spPr bwMode="auto">
          <a:xfrm>
            <a:off x="194198" y="3124200"/>
            <a:ext cx="8764806" cy="3384235"/>
          </a:xfrm>
          <a:prstGeom prst="rect">
            <a:avLst/>
          </a:prstGeom>
          <a:noFill/>
          <a:ln w="9525">
            <a:solidFill>
              <a:srgbClr val="FFC000"/>
            </a:solidFill>
            <a:miter lim="800000"/>
          </a:ln>
        </p:spPr>
        <p:txBody>
          <a:bodyPr/>
          <a:lstStyle/>
          <a:p>
            <a:pPr marL="85725" lvl="1">
              <a:buClr>
                <a:schemeClr val="accent2">
                  <a:shade val="75000"/>
                </a:schemeClr>
              </a:buClr>
              <a:defRPr/>
            </a:pPr>
            <a:r>
              <a:rPr lang="en-US" sz="1400" u="sng" dirty="0">
                <a:latin typeface="+mn-lt"/>
                <a:cs typeface="Arial" panose="020B0604020202020204" pitchFamily="34" charset="0"/>
              </a:rPr>
              <a:t>IVF</a:t>
            </a:r>
            <a:r>
              <a:rPr lang="en-US" sz="1400" u="sng" dirty="0">
                <a:cs typeface="Arial" panose="020B0604020202020204" pitchFamily="34" charset="0"/>
              </a:rPr>
              <a:t>D RA 2000 cc /24 jam</a:t>
            </a:r>
            <a:endParaRPr lang="en-US" sz="1400" u="sng" dirty="0">
              <a:cs typeface="Arial" panose="020B0604020202020204" pitchFamily="34" charset="0"/>
            </a:endParaRPr>
          </a:p>
          <a:p>
            <a:pPr marL="85725" lvl="1">
              <a:buClr>
                <a:schemeClr val="accent2">
                  <a:shade val="75000"/>
                </a:schemeClr>
              </a:buClr>
              <a:defRPr/>
            </a:pPr>
            <a:r>
              <a:rPr lang="en-US" sz="1400" u="sng" dirty="0" err="1">
                <a:latin typeface="+mn-lt"/>
                <a:cs typeface="Arial" panose="020B0604020202020204" pitchFamily="34" charset="0"/>
              </a:rPr>
              <a:t>Omperazole</a:t>
            </a:r>
            <a:r>
              <a:rPr lang="en-US" sz="1400" u="sng" dirty="0">
                <a:latin typeface="+mn-lt"/>
                <a:cs typeface="Arial" panose="020B0604020202020204" pitchFamily="34" charset="0"/>
              </a:rPr>
              <a:t> 2x40 mg (06.00,</a:t>
            </a:r>
            <a:endParaRPr lang="en-US" sz="1400" u="sng" dirty="0">
              <a:latin typeface="+mn-lt"/>
              <a:cs typeface="Arial" panose="020B0604020202020204" pitchFamily="34" charset="0"/>
            </a:endParaRPr>
          </a:p>
          <a:p>
            <a:pPr marL="85725" lvl="1">
              <a:buClr>
                <a:schemeClr val="accent2">
                  <a:shade val="75000"/>
                </a:schemeClr>
              </a:buClr>
              <a:defRPr/>
            </a:pPr>
            <a:r>
              <a:rPr lang="en-US" sz="1400" u="sng" dirty="0" err="1">
                <a:cs typeface="Arial" panose="020B0604020202020204" pitchFamily="34" charset="0"/>
              </a:rPr>
              <a:t>Ondancentron</a:t>
            </a:r>
            <a:r>
              <a:rPr lang="en-US" sz="1400" u="sng" dirty="0">
                <a:cs typeface="Arial" panose="020B0604020202020204" pitchFamily="34" charset="0"/>
              </a:rPr>
              <a:t> 3x 6,5 mg ( 06.00, 14.00)</a:t>
            </a:r>
            <a:endParaRPr lang="en-US" sz="1400" u="sng" dirty="0">
              <a:cs typeface="Arial" panose="020B0604020202020204" pitchFamily="34" charset="0"/>
            </a:endParaRPr>
          </a:p>
          <a:p>
            <a:pPr marL="85725" lvl="1">
              <a:buClr>
                <a:schemeClr val="accent2">
                  <a:shade val="75000"/>
                </a:schemeClr>
              </a:buClr>
              <a:defRPr/>
            </a:pPr>
            <a:r>
              <a:rPr lang="en-US" sz="1400" u="sng" dirty="0" err="1">
                <a:cs typeface="Arial" panose="020B0604020202020204" pitchFamily="34" charset="0"/>
              </a:rPr>
              <a:t>Cefotaxim</a:t>
            </a:r>
            <a:r>
              <a:rPr lang="en-US" sz="1400" u="sng" dirty="0">
                <a:cs typeface="Arial" panose="020B0604020202020204" pitchFamily="34" charset="0"/>
              </a:rPr>
              <a:t> 3x1gr (06.00, 14.00,)</a:t>
            </a:r>
            <a:endParaRPr lang="en-US" sz="1400" u="sng" dirty="0">
              <a:cs typeface="Arial" panose="020B0604020202020204" pitchFamily="34" charset="0"/>
            </a:endParaRPr>
          </a:p>
          <a:p>
            <a:pPr marL="85725" lvl="1">
              <a:buClr>
                <a:schemeClr val="accent2">
                  <a:shade val="75000"/>
                </a:schemeClr>
              </a:buClr>
              <a:defRPr/>
            </a:pPr>
            <a:r>
              <a:rPr lang="en-US" sz="1400" u="sng" dirty="0">
                <a:cs typeface="Arial" panose="020B0604020202020204" pitchFamily="34" charset="0"/>
              </a:rPr>
              <a:t>Po sucralfate 3 x 10 ml (06.00, 14.00)</a:t>
            </a:r>
            <a:endParaRPr lang="en-US" sz="1400" u="sng" dirty="0">
              <a:cs typeface="Arial" panose="020B0604020202020204" pitchFamily="34" charset="0"/>
            </a:endParaRPr>
          </a:p>
          <a:p>
            <a:pPr marL="85725" lvl="1">
              <a:buClr>
                <a:schemeClr val="accent2">
                  <a:shade val="75000"/>
                </a:schemeClr>
              </a:buClr>
              <a:defRPr/>
            </a:pPr>
            <a:r>
              <a:rPr lang="en-US" sz="1400" u="sng" dirty="0">
                <a:cs typeface="Arial" panose="020B0604020202020204" pitchFamily="34" charset="0"/>
              </a:rPr>
              <a:t>Po PCT 4x750 mg (06.00, 12.00)</a:t>
            </a:r>
            <a:endParaRPr lang="en-US" sz="1400" u="sng" dirty="0">
              <a:cs typeface="Arial" panose="020B0604020202020204" pitchFamily="34" charset="0"/>
            </a:endParaRPr>
          </a:p>
          <a:p>
            <a:pPr marL="85725" lvl="1">
              <a:buClr>
                <a:schemeClr val="accent2">
                  <a:shade val="75000"/>
                </a:schemeClr>
              </a:buClr>
              <a:defRPr/>
            </a:pPr>
            <a:r>
              <a:rPr lang="en-US" sz="1400" u="sng" dirty="0">
                <a:cs typeface="Arial" panose="020B0604020202020204" pitchFamily="34" charset="0"/>
              </a:rPr>
              <a:t>Drib </a:t>
            </a:r>
            <a:r>
              <a:rPr lang="en-US" sz="1400" u="sng" dirty="0" err="1">
                <a:cs typeface="Arial" panose="020B0604020202020204" pitchFamily="34" charset="0"/>
              </a:rPr>
              <a:t>Dobutamin</a:t>
            </a:r>
            <a:r>
              <a:rPr lang="en-US" sz="1400" u="sng" dirty="0">
                <a:cs typeface="Arial" panose="020B0604020202020204" pitchFamily="34" charset="0"/>
              </a:rPr>
              <a:t> 10mcg/</a:t>
            </a:r>
            <a:r>
              <a:rPr lang="en-US" sz="1400" u="sng" dirty="0" err="1">
                <a:cs typeface="Arial" panose="020B0604020202020204" pitchFamily="34" charset="0"/>
              </a:rPr>
              <a:t>kgbb</a:t>
            </a:r>
            <a:r>
              <a:rPr lang="en-US" sz="1400" u="sng" dirty="0">
                <a:cs typeface="Arial" panose="020B0604020202020204" pitchFamily="34" charset="0"/>
              </a:rPr>
              <a:t> =&gt; 7,5 mcg/kg</a:t>
            </a:r>
            <a:endParaRPr lang="en-US" sz="1400" u="sng" dirty="0">
              <a:cs typeface="Arial" panose="020B0604020202020204" pitchFamily="34" charset="0"/>
            </a:endParaRPr>
          </a:p>
          <a:p>
            <a:pPr>
              <a:defRPr/>
            </a:pPr>
            <a:endParaRPr lang="en-US" sz="1400" b="1" dirty="0">
              <a:latin typeface="+mn-lt"/>
              <a:cs typeface="Arial" panose="020B0604020202020204" pitchFamily="34" charset="0"/>
            </a:endParaRPr>
          </a:p>
          <a:p>
            <a:pPr>
              <a:defRPr/>
            </a:pPr>
            <a:r>
              <a:rPr lang="en-US" sz="1400" b="1" dirty="0">
                <a:latin typeface="+mn-lt"/>
                <a:cs typeface="Arial" panose="020B0604020202020204" pitchFamily="34" charset="0"/>
              </a:rPr>
              <a:t>06.00 </a:t>
            </a:r>
            <a:r>
              <a:rPr lang="en-US" sz="1400" dirty="0" err="1">
                <a:latin typeface="+mn-lt"/>
                <a:cs typeface="Arial" panose="020B0604020202020204" pitchFamily="34" charset="0"/>
              </a:rPr>
              <a:t>Lapor</a:t>
            </a:r>
            <a:r>
              <a:rPr lang="en-US" sz="1400" dirty="0">
                <a:latin typeface="+mn-lt"/>
                <a:cs typeface="Arial" panose="020B0604020202020204" pitchFamily="34" charset="0"/>
              </a:rPr>
              <a:t> </a:t>
            </a:r>
            <a:r>
              <a:rPr lang="en-US" sz="1400" dirty="0" err="1">
                <a:latin typeface="+mn-lt"/>
                <a:cs typeface="Arial" panose="020B0604020202020204" pitchFamily="34" charset="0"/>
              </a:rPr>
              <a:t>hasil</a:t>
            </a:r>
            <a:r>
              <a:rPr lang="en-US" sz="1400" dirty="0">
                <a:latin typeface="+mn-lt"/>
                <a:cs typeface="Arial" panose="020B0604020202020204" pitchFamily="34" charset="0"/>
              </a:rPr>
              <a:t> Lab DL : Drib </a:t>
            </a:r>
            <a:r>
              <a:rPr lang="en-US" sz="1400" dirty="0" err="1">
                <a:latin typeface="+mn-lt"/>
                <a:cs typeface="Arial" panose="020B0604020202020204" pitchFamily="34" charset="0"/>
              </a:rPr>
              <a:t>Dobutamin</a:t>
            </a:r>
            <a:r>
              <a:rPr lang="en-US" sz="1400" dirty="0">
                <a:latin typeface="+mn-lt"/>
                <a:cs typeface="Arial" panose="020B0604020202020204" pitchFamily="34" charset="0"/>
              </a:rPr>
              <a:t> 7,5mcg / kg BB </a:t>
            </a:r>
            <a:endParaRPr lang="en-US" sz="1400" dirty="0">
              <a:latin typeface="+mn-lt"/>
              <a:cs typeface="Arial" panose="020B0604020202020204" pitchFamily="34" charset="0"/>
            </a:endParaRPr>
          </a:p>
          <a:p>
            <a:pPr>
              <a:defRPr/>
            </a:pPr>
            <a:r>
              <a:rPr lang="en-US" sz="1400" b="1" dirty="0">
                <a:cs typeface="Arial" panose="020B0604020202020204" pitchFamily="34" charset="0"/>
              </a:rPr>
              <a:t>12.30 </a:t>
            </a:r>
            <a:r>
              <a:rPr lang="en-US" sz="1400" dirty="0" err="1">
                <a:cs typeface="Arial" panose="020B0604020202020204" pitchFamily="34" charset="0"/>
              </a:rPr>
              <a:t>Lapor</a:t>
            </a:r>
            <a:r>
              <a:rPr lang="en-US" sz="1400" dirty="0">
                <a:cs typeface="Arial" panose="020B0604020202020204" pitchFamily="34" charset="0"/>
              </a:rPr>
              <a:t> TTV HR 118x/</a:t>
            </a:r>
            <a:r>
              <a:rPr lang="en-US" sz="1400" dirty="0" err="1">
                <a:cs typeface="Arial" panose="020B0604020202020204" pitchFamily="34" charset="0"/>
              </a:rPr>
              <a:t>mnt</a:t>
            </a:r>
            <a:r>
              <a:rPr lang="en-US" sz="1400" dirty="0">
                <a:cs typeface="Arial" panose="020B0604020202020204" pitchFamily="34" charset="0"/>
              </a:rPr>
              <a:t>, RR 32x/</a:t>
            </a:r>
            <a:r>
              <a:rPr lang="en-US" sz="1400" dirty="0" err="1">
                <a:cs typeface="Arial" panose="020B0604020202020204" pitchFamily="34" charset="0"/>
              </a:rPr>
              <a:t>mnt</a:t>
            </a:r>
            <a:r>
              <a:rPr lang="en-US" sz="1400" dirty="0">
                <a:cs typeface="Arial" panose="020B0604020202020204" pitchFamily="34" charset="0"/>
              </a:rPr>
              <a:t> TD120/70, S 36,5</a:t>
            </a:r>
            <a:r>
              <a:rPr lang="id-ID" sz="1400" dirty="0">
                <a:latin typeface="+mn-lt"/>
                <a:sym typeface="Symbol" panose="05050102010706020507"/>
              </a:rPr>
              <a:t> </a:t>
            </a:r>
            <a:r>
              <a:rPr lang="en-US" sz="1400" dirty="0">
                <a:latin typeface="+mn-lt"/>
              </a:rPr>
              <a:t>C, Spo297%, </a:t>
            </a:r>
            <a:r>
              <a:rPr lang="en-US" sz="1400" dirty="0" err="1">
                <a:latin typeface="+mn-lt"/>
              </a:rPr>
              <a:t>mata</a:t>
            </a:r>
            <a:r>
              <a:rPr lang="en-US" sz="1400" dirty="0">
                <a:latin typeface="+mn-lt"/>
              </a:rPr>
              <a:t> </a:t>
            </a:r>
            <a:r>
              <a:rPr lang="en-US" sz="1400" dirty="0" err="1">
                <a:latin typeface="+mn-lt"/>
              </a:rPr>
              <a:t>sebelah</a:t>
            </a:r>
            <a:r>
              <a:rPr lang="en-US" sz="1400" dirty="0">
                <a:latin typeface="+mn-lt"/>
              </a:rPr>
              <a:t> </a:t>
            </a:r>
            <a:r>
              <a:rPr lang="en-US" sz="1400" dirty="0" err="1">
                <a:latin typeface="+mn-lt"/>
              </a:rPr>
              <a:t>kanan</a:t>
            </a:r>
            <a:r>
              <a:rPr lang="en-US" sz="1400" dirty="0">
                <a:latin typeface="+mn-lt"/>
              </a:rPr>
              <a:t> </a:t>
            </a:r>
            <a:r>
              <a:rPr lang="en-US" sz="1400" dirty="0" err="1">
                <a:latin typeface="+mn-lt"/>
              </a:rPr>
              <a:t>merah</a:t>
            </a:r>
            <a:r>
              <a:rPr lang="en-US" sz="1400" dirty="0">
                <a:latin typeface="+mn-lt"/>
              </a:rPr>
              <a:t> : </a:t>
            </a:r>
            <a:r>
              <a:rPr lang="en-US" sz="1400" dirty="0" err="1">
                <a:latin typeface="+mn-lt"/>
              </a:rPr>
              <a:t>pantau</a:t>
            </a:r>
            <a:r>
              <a:rPr lang="en-US" sz="1400" dirty="0">
                <a:latin typeface="+mn-lt"/>
              </a:rPr>
              <a:t> </a:t>
            </a:r>
            <a:r>
              <a:rPr lang="en-US" sz="1400" dirty="0" err="1">
                <a:latin typeface="+mn-lt"/>
              </a:rPr>
              <a:t>mata</a:t>
            </a:r>
            <a:r>
              <a:rPr lang="en-US" sz="1400" dirty="0">
                <a:latin typeface="+mn-lt"/>
              </a:rPr>
              <a:t> </a:t>
            </a:r>
            <a:r>
              <a:rPr lang="en-US" sz="1400" dirty="0" err="1">
                <a:latin typeface="+mn-lt"/>
              </a:rPr>
              <a:t>merah</a:t>
            </a:r>
            <a:r>
              <a:rPr lang="en-US" sz="1400" dirty="0">
                <a:latin typeface="+mn-lt"/>
              </a:rPr>
              <a:t> (</a:t>
            </a:r>
            <a:r>
              <a:rPr lang="en-US" sz="1400" dirty="0" err="1">
                <a:latin typeface="+mn-lt"/>
              </a:rPr>
              <a:t>perdarahan</a:t>
            </a:r>
            <a:r>
              <a:rPr lang="en-US" sz="1400" dirty="0"/>
              <a:t>), </a:t>
            </a:r>
            <a:r>
              <a:rPr lang="en-US" sz="1400" dirty="0" err="1"/>
              <a:t>tidak</a:t>
            </a:r>
            <a:r>
              <a:rPr lang="en-US" sz="1400" dirty="0"/>
              <a:t> </a:t>
            </a:r>
            <a:r>
              <a:rPr lang="en-US" sz="1400" dirty="0" err="1"/>
              <a:t>boleh</a:t>
            </a:r>
            <a:r>
              <a:rPr lang="en-US" sz="1400" dirty="0"/>
              <a:t> di </a:t>
            </a:r>
            <a:r>
              <a:rPr lang="en-US" sz="1400" dirty="0" err="1"/>
              <a:t>kucek</a:t>
            </a:r>
            <a:r>
              <a:rPr lang="en-US" sz="1400" dirty="0"/>
              <a:t>, drib dobutamine 7,5 mcg/kg BB =&gt; 5mcg/</a:t>
            </a:r>
            <a:r>
              <a:rPr lang="en-US" sz="1400" dirty="0" err="1"/>
              <a:t>kgBB</a:t>
            </a:r>
            <a:endParaRPr lang="id-ID" sz="1400" b="1" dirty="0">
              <a:latin typeface="+mn-lt"/>
              <a:cs typeface="Arial" panose="020B0604020202020204" pitchFamily="34" charset="0"/>
            </a:endParaRPr>
          </a:p>
          <a:p>
            <a:pPr>
              <a:defRPr/>
            </a:pPr>
            <a:r>
              <a:rPr lang="id-ID" sz="1400" b="1" dirty="0">
                <a:latin typeface="+mn-lt"/>
                <a:cs typeface="Arial" panose="020B0604020202020204" pitchFamily="34" charset="0"/>
              </a:rPr>
              <a:t> </a:t>
            </a:r>
            <a:r>
              <a:rPr lang="en-US" sz="1400" b="1" dirty="0">
                <a:latin typeface="+mn-lt"/>
                <a:cs typeface="Arial" panose="020B0604020202020204" pitchFamily="34" charset="0"/>
              </a:rPr>
              <a:t>14.00 </a:t>
            </a:r>
            <a:r>
              <a:rPr lang="en-US" sz="1400" dirty="0" err="1">
                <a:latin typeface="+mn-lt"/>
                <a:cs typeface="Arial" panose="020B0604020202020204" pitchFamily="34" charset="0"/>
              </a:rPr>
              <a:t>Perawatan</a:t>
            </a:r>
            <a:r>
              <a:rPr lang="en-US" sz="1400" dirty="0">
                <a:latin typeface="+mn-lt"/>
                <a:cs typeface="Arial" panose="020B0604020202020204" pitchFamily="34" charset="0"/>
              </a:rPr>
              <a:t> </a:t>
            </a:r>
            <a:r>
              <a:rPr lang="en-US" sz="1400" dirty="0" err="1">
                <a:latin typeface="+mn-lt"/>
                <a:cs typeface="Arial" panose="020B0604020202020204" pitchFamily="34" charset="0"/>
              </a:rPr>
              <a:t>rutin</a:t>
            </a:r>
            <a:r>
              <a:rPr lang="en-US" sz="1400" dirty="0">
                <a:latin typeface="+mn-lt"/>
                <a:cs typeface="Arial" panose="020B0604020202020204" pitchFamily="34" charset="0"/>
              </a:rPr>
              <a:t>, Seka </a:t>
            </a:r>
            <a:r>
              <a:rPr lang="en-US" sz="1400" dirty="0" err="1">
                <a:latin typeface="+mn-lt"/>
                <a:cs typeface="Arial" panose="020B0604020202020204" pitchFamily="34" charset="0"/>
              </a:rPr>
              <a:t>pasien</a:t>
            </a:r>
            <a:r>
              <a:rPr lang="en-US" sz="1400" dirty="0">
                <a:latin typeface="+mn-lt"/>
                <a:cs typeface="Arial" panose="020B0604020202020204" pitchFamily="34" charset="0"/>
              </a:rPr>
              <a:t>, TD 134/93, HR 112x/</a:t>
            </a:r>
            <a:r>
              <a:rPr lang="en-US" sz="1400" dirty="0" err="1">
                <a:latin typeface="+mn-lt"/>
                <a:cs typeface="Arial" panose="020B0604020202020204" pitchFamily="34" charset="0"/>
              </a:rPr>
              <a:t>mnt</a:t>
            </a:r>
            <a:r>
              <a:rPr lang="en-US" sz="1400" dirty="0">
                <a:latin typeface="+mn-lt"/>
                <a:cs typeface="Arial" panose="020B0604020202020204" pitchFamily="34" charset="0"/>
              </a:rPr>
              <a:t>, RR : 30X/</a:t>
            </a:r>
            <a:r>
              <a:rPr lang="en-US" sz="1400" dirty="0" err="1">
                <a:latin typeface="+mn-lt"/>
                <a:cs typeface="Arial" panose="020B0604020202020204" pitchFamily="34" charset="0"/>
              </a:rPr>
              <a:t>mnt</a:t>
            </a:r>
            <a:r>
              <a:rPr lang="en-US" sz="1400" dirty="0">
                <a:latin typeface="+mn-lt"/>
                <a:cs typeface="Arial" panose="020B0604020202020204" pitchFamily="34" charset="0"/>
              </a:rPr>
              <a:t>, SpO2: 97%, S : 36,3</a:t>
            </a:r>
            <a:r>
              <a:rPr lang="id-ID" sz="1400" dirty="0">
                <a:latin typeface="+mn-lt"/>
                <a:sym typeface="Symbol" panose="05050102010706020507"/>
              </a:rPr>
              <a:t> </a:t>
            </a:r>
            <a:r>
              <a:rPr lang="en-US" sz="1400" dirty="0">
                <a:latin typeface="+mn-lt"/>
              </a:rPr>
              <a:t>C, GCS 456</a:t>
            </a:r>
            <a:endParaRPr lang="id-ID" sz="1400" dirty="0">
              <a:latin typeface="+mn-lt"/>
              <a:cs typeface="Arial" panose="020B0604020202020204" pitchFamily="34" charset="0"/>
            </a:endParaRPr>
          </a:p>
          <a:p>
            <a:pPr marL="428625" lvl="1" indent="-342900" eaLnBrk="1" fontAlgn="auto" hangingPunct="1">
              <a:spcAft>
                <a:spcPts val="0"/>
              </a:spcAft>
              <a:buClr>
                <a:schemeClr val="accent2">
                  <a:shade val="75000"/>
                </a:schemeClr>
              </a:buClr>
              <a:buFont typeface="+mj-lt"/>
              <a:buAutoNum type="arabicPeriod"/>
              <a:defRPr/>
            </a:pPr>
            <a:endParaRPr lang="id-ID" sz="1400" dirty="0">
              <a:latin typeface="+mn-lt"/>
              <a:cs typeface="Arial" panose="020B0604020202020204" pitchFamily="34" charset="0"/>
            </a:endParaRPr>
          </a:p>
          <a:p>
            <a:pPr marL="342900" indent="-342900" algn="ctr">
              <a:spcBef>
                <a:spcPct val="20000"/>
              </a:spcBef>
              <a:buClr>
                <a:srgbClr val="F9F9F9"/>
              </a:buClr>
              <a:buSzPct val="65000"/>
              <a:buFont typeface="+mj-lt"/>
              <a:buAutoNum type="arabicPeriod" startAt="9"/>
              <a:tabLst>
                <a:tab pos="114300" algn="l"/>
                <a:tab pos="228600" algn="l"/>
              </a:tabLst>
              <a:defRPr/>
            </a:pPr>
            <a:r>
              <a:rPr lang="en-US" sz="1400" dirty="0">
                <a:latin typeface="+mn-lt"/>
                <a:cs typeface="Arial" panose="020B0604020202020204" pitchFamily="34" charset="0"/>
              </a:rPr>
              <a:t> </a:t>
            </a:r>
            <a:endParaRPr lang="en-US" sz="1400" dirty="0">
              <a:latin typeface="+mn-lt"/>
              <a:cs typeface="Arial" panose="020B0604020202020204" pitchFamily="34" charset="0"/>
            </a:endParaRPr>
          </a:p>
        </p:txBody>
      </p:sp>
      <p:sp>
        <p:nvSpPr>
          <p:cNvPr id="14" name="Text Box 14"/>
          <p:cNvSpPr txBox="1">
            <a:spLocks noChangeArrowheads="1"/>
          </p:cNvSpPr>
          <p:nvPr/>
        </p:nvSpPr>
        <p:spPr bwMode="auto">
          <a:xfrm>
            <a:off x="67044" y="2039302"/>
            <a:ext cx="8959003" cy="932497"/>
          </a:xfrm>
          <a:prstGeom prst="rect">
            <a:avLst/>
          </a:prstGeom>
          <a:solidFill>
            <a:schemeClr val="bg2"/>
          </a:solidFill>
          <a:ln w="9525">
            <a:solidFill>
              <a:schemeClr val="tx1"/>
            </a:solidFill>
            <a:miter lim="800000"/>
          </a:ln>
        </p:spPr>
        <p:txBody>
          <a:bodyPr/>
          <a:lstStyle/>
          <a:p>
            <a:pPr algn="ctr"/>
            <a:r>
              <a:rPr lang="en-US" sz="2000" b="1" i="1" dirty="0">
                <a:effectLst/>
                <a:latin typeface="Arial" panose="020B0604020202020204" pitchFamily="34" charset="0"/>
                <a:ea typeface="DengXian" panose="02010600030101010101" pitchFamily="2" charset="-122"/>
              </a:rPr>
              <a:t>DSS + </a:t>
            </a:r>
            <a:r>
              <a:rPr lang="en-US" sz="2000" b="1" i="1" dirty="0">
                <a:latin typeface="Arial" panose="020B0604020202020204" pitchFamily="34" charset="0"/>
                <a:ea typeface="DengXian" panose="02010600030101010101" pitchFamily="2" charset="-122"/>
              </a:rPr>
              <a:t>Overweight</a:t>
            </a:r>
            <a:r>
              <a:rPr lang="en-US" sz="2000" b="1" i="1" dirty="0">
                <a:effectLst/>
                <a:latin typeface="Arial" panose="020B0604020202020204" pitchFamily="34" charset="0"/>
                <a:ea typeface="DengXian" panose="02010600030101010101" pitchFamily="2" charset="-122"/>
              </a:rPr>
              <a:t>+ Enteritis </a:t>
            </a:r>
            <a:r>
              <a:rPr lang="en-US" sz="2000" b="1" i="1" dirty="0">
                <a:latin typeface="Arial" panose="020B0604020202020204" pitchFamily="34" charset="0"/>
                <a:ea typeface="DengXian" panose="02010600030101010101" pitchFamily="2" charset="-122"/>
              </a:rPr>
              <a:t>+</a:t>
            </a:r>
            <a:r>
              <a:rPr lang="en-US" sz="2000" b="1" i="1" dirty="0">
                <a:effectLst/>
                <a:latin typeface="Arial" panose="020B0604020202020204" pitchFamily="34" charset="0"/>
                <a:ea typeface="DengXian" panose="02010600030101010101" pitchFamily="2" charset="-122"/>
              </a:rPr>
              <a:t> transaminitis + Azotemia</a:t>
            </a:r>
            <a:endParaRPr lang="id-ID" sz="2000" dirty="0">
              <a:ea typeface="华文新魏"/>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2"/>
          </p:nvPr>
        </p:nvSpPr>
        <p:spPr bwMode="auto">
          <a:noFill/>
          <a:ln>
            <a:miter lim="800000"/>
          </a:ln>
        </p:spPr>
        <p:txBody>
          <a:bodyPr wrap="square" numCol="1" compatLnSpc="1"/>
          <a:lstStyle/>
          <a:p>
            <a:pPr>
              <a:buFont typeface="Arial" panose="020B0604020202020204" pitchFamily="34" charset="0"/>
              <a:buNone/>
            </a:pPr>
            <a:fld id="{08A03F7C-C6D9-4310-A161-7BFB9486709A}" type="slidenum">
              <a:rPr lang="id-ID" altLang="en-US" sz="1400" smtClean="0">
                <a:cs typeface="Arial" panose="020B0604020202020204" pitchFamily="34" charset="0"/>
              </a:rPr>
            </a:fld>
            <a:endParaRPr lang="id-ID" altLang="en-US" sz="1400">
              <a:cs typeface="Arial" panose="020B0604020202020204" pitchFamily="34" charset="0"/>
            </a:endParaRPr>
          </a:p>
        </p:txBody>
      </p:sp>
      <p:cxnSp>
        <p:nvCxnSpPr>
          <p:cNvPr id="15364" name="AutoShape 2"/>
          <p:cNvCxnSpPr>
            <a:cxnSpLocks noChangeShapeType="1"/>
          </p:cNvCxnSpPr>
          <p:nvPr/>
        </p:nvCxnSpPr>
        <p:spPr bwMode="auto">
          <a:xfrm>
            <a:off x="-180330" y="1924934"/>
            <a:ext cx="8959850" cy="31750"/>
          </a:xfrm>
          <a:prstGeom prst="straightConnector1">
            <a:avLst/>
          </a:prstGeom>
          <a:noFill/>
          <a:ln w="50800">
            <a:solidFill>
              <a:srgbClr val="FFC000"/>
            </a:solidFill>
            <a:round/>
          </a:ln>
        </p:spPr>
      </p:cxnSp>
      <p:sp>
        <p:nvSpPr>
          <p:cNvPr id="11269" name="Text Box 3"/>
          <p:cNvSpPr txBox="1">
            <a:spLocks noChangeArrowheads="1"/>
          </p:cNvSpPr>
          <p:nvPr/>
        </p:nvSpPr>
        <p:spPr bwMode="auto">
          <a:xfrm>
            <a:off x="238195" y="721323"/>
            <a:ext cx="8720809" cy="935219"/>
          </a:xfrm>
          <a:prstGeom prst="rect">
            <a:avLst/>
          </a:prstGeom>
          <a:noFill/>
          <a:ln w="9525">
            <a:solidFill>
              <a:srgbClr val="FFC000"/>
            </a:solidFill>
            <a:miter lim="800000"/>
          </a:ln>
        </p:spPr>
        <p:txBody>
          <a:bodyPr/>
          <a:lstStyle/>
          <a:p>
            <a:pPr marL="85725" lvl="1" algn="ctr">
              <a:buClr>
                <a:schemeClr val="accent2">
                  <a:shade val="75000"/>
                </a:schemeClr>
              </a:buClr>
              <a:defRPr/>
            </a:pPr>
            <a:r>
              <a:rPr lang="en-US" altLang="id-ID" sz="1600" dirty="0"/>
              <a:t>ku lemah, </a:t>
            </a:r>
            <a:r>
              <a:rPr lang="id-ID" sz="1600" dirty="0"/>
              <a:t>Sesak (+) Demam (-) </a:t>
            </a:r>
            <a:r>
              <a:rPr lang="en-US" sz="1600" dirty="0" err="1"/>
              <a:t>perdarahan</a:t>
            </a:r>
            <a:r>
              <a:rPr lang="en-US" sz="1600" dirty="0"/>
              <a:t> </a:t>
            </a:r>
            <a:r>
              <a:rPr lang="en-US" sz="1600" dirty="0" err="1"/>
              <a:t>saluaran</a:t>
            </a:r>
            <a:r>
              <a:rPr lang="en-US" sz="1600" dirty="0"/>
              <a:t> </a:t>
            </a:r>
            <a:r>
              <a:rPr lang="en-US" sz="1600" dirty="0" err="1"/>
              <a:t>cerna</a:t>
            </a:r>
            <a:r>
              <a:rPr lang="en-US" sz="1600" dirty="0"/>
              <a:t> </a:t>
            </a:r>
            <a:r>
              <a:rPr lang="en-US" sz="1600" dirty="0" err="1"/>
              <a:t>atas</a:t>
            </a:r>
            <a:r>
              <a:rPr lang="en-US" sz="1600" dirty="0"/>
              <a:t> (+)</a:t>
            </a:r>
            <a:r>
              <a:rPr lang="id-ID" sz="1600" dirty="0"/>
              <a:t> </a:t>
            </a:r>
            <a:r>
              <a:rPr lang="en-US" sz="1600" dirty="0">
                <a:cs typeface="Arial" panose="020B0604020202020204" pitchFamily="34" charset="0"/>
              </a:rPr>
              <a:t>, </a:t>
            </a:r>
            <a:r>
              <a:rPr lang="en-US" sz="1600" dirty="0" err="1">
                <a:cs typeface="Arial" panose="020B0604020202020204" pitchFamily="34" charset="0"/>
              </a:rPr>
              <a:t>keluar</a:t>
            </a:r>
            <a:r>
              <a:rPr lang="en-US" sz="1600" dirty="0">
                <a:cs typeface="Arial" panose="020B0604020202020204" pitchFamily="34" charset="0"/>
              </a:rPr>
              <a:t> </a:t>
            </a:r>
            <a:r>
              <a:rPr lang="en-US" sz="1600" dirty="0" err="1">
                <a:cs typeface="Arial" panose="020B0604020202020204" pitchFamily="34" charset="0"/>
              </a:rPr>
              <a:t>darah</a:t>
            </a:r>
            <a:r>
              <a:rPr lang="en-US" sz="1600" dirty="0">
                <a:cs typeface="Arial" panose="020B0604020202020204" pitchFamily="34" charset="0"/>
              </a:rPr>
              <a:t> </a:t>
            </a:r>
            <a:r>
              <a:rPr lang="en-US" sz="1600" dirty="0" err="1">
                <a:cs typeface="Arial" panose="020B0604020202020204" pitchFamily="34" charset="0"/>
              </a:rPr>
              <a:t>dari</a:t>
            </a:r>
            <a:r>
              <a:rPr lang="en-US" sz="1600" dirty="0">
                <a:cs typeface="Arial" panose="020B0604020202020204" pitchFamily="34" charset="0"/>
              </a:rPr>
              <a:t> </a:t>
            </a:r>
            <a:r>
              <a:rPr lang="en-US" sz="1600" dirty="0" err="1">
                <a:cs typeface="Arial" panose="020B0604020202020204" pitchFamily="34" charset="0"/>
              </a:rPr>
              <a:t>hidung</a:t>
            </a:r>
            <a:r>
              <a:rPr lang="en-US" sz="1600" dirty="0">
                <a:cs typeface="Arial" panose="020B0604020202020204" pitchFamily="34" charset="0"/>
              </a:rPr>
              <a:t> dan </a:t>
            </a:r>
            <a:r>
              <a:rPr lang="en-US" sz="1600" dirty="0" err="1">
                <a:cs typeface="Arial" panose="020B0604020202020204" pitchFamily="34" charset="0"/>
              </a:rPr>
              <a:t>mulut</a:t>
            </a:r>
            <a:endParaRPr lang="id-ID" sz="1600" dirty="0">
              <a:cs typeface="Arial" panose="020B0604020202020204" pitchFamily="34" charset="0"/>
            </a:endParaRPr>
          </a:p>
          <a:p>
            <a:pPr marL="137160" algn="ctr">
              <a:buClr>
                <a:schemeClr val="tx1">
                  <a:shade val="95000"/>
                </a:schemeClr>
              </a:buClr>
              <a:defRPr/>
            </a:pPr>
            <a:r>
              <a:rPr lang="id-ID" sz="1600" dirty="0"/>
              <a:t> HR : </a:t>
            </a:r>
            <a:r>
              <a:rPr lang="en-US" sz="1600" dirty="0" err="1"/>
              <a:t>tidak</a:t>
            </a:r>
            <a:r>
              <a:rPr lang="en-US" sz="1600" dirty="0"/>
              <a:t> </a:t>
            </a:r>
            <a:r>
              <a:rPr lang="en-US" sz="1600" dirty="0" err="1"/>
              <a:t>terdeteksi</a:t>
            </a:r>
            <a:r>
              <a:rPr lang="en-US" sz="1600" dirty="0"/>
              <a:t> pada monitor, N : </a:t>
            </a:r>
            <a:r>
              <a:rPr lang="en-US" sz="1600" dirty="0" err="1"/>
              <a:t>tidak</a:t>
            </a:r>
            <a:r>
              <a:rPr lang="en-US" sz="1600" dirty="0"/>
              <a:t> </a:t>
            </a:r>
            <a:r>
              <a:rPr lang="en-US" sz="1600" dirty="0" err="1"/>
              <a:t>teraba</a:t>
            </a:r>
            <a:r>
              <a:rPr lang="en-US" sz="1600" dirty="0"/>
              <a:t>  RR:</a:t>
            </a:r>
            <a:r>
              <a:rPr lang="id-ID" sz="1600" dirty="0"/>
              <a:t> </a:t>
            </a:r>
            <a:r>
              <a:rPr lang="en-US" sz="1600" dirty="0"/>
              <a:t>36</a:t>
            </a:r>
            <a:r>
              <a:rPr lang="id-ID" sz="1600" dirty="0"/>
              <a:t> </a:t>
            </a:r>
            <a:r>
              <a:rPr lang="en-US" sz="1600" dirty="0"/>
              <a:t>x/m, </a:t>
            </a:r>
            <a:r>
              <a:rPr lang="id-ID" sz="1600" dirty="0"/>
              <a:t> </a:t>
            </a:r>
            <a:r>
              <a:rPr lang="en-US" sz="1600" dirty="0"/>
              <a:t>tax:</a:t>
            </a:r>
            <a:r>
              <a:rPr lang="id-ID" sz="1600" dirty="0"/>
              <a:t> 3</a:t>
            </a:r>
            <a:r>
              <a:rPr lang="en-US" sz="1600" dirty="0"/>
              <a:t>6</a:t>
            </a:r>
            <a:r>
              <a:rPr lang="id-ID" sz="1600" dirty="0"/>
              <a:t>,</a:t>
            </a:r>
            <a:r>
              <a:rPr lang="en-US" sz="1600" dirty="0"/>
              <a:t>1</a:t>
            </a:r>
            <a:r>
              <a:rPr lang="id-ID" sz="1600" dirty="0"/>
              <a:t> </a:t>
            </a:r>
            <a:r>
              <a:rPr lang="id-ID" sz="1600" dirty="0">
                <a:sym typeface="Symbol" panose="05050102010706020507"/>
              </a:rPr>
              <a:t></a:t>
            </a:r>
            <a:r>
              <a:rPr lang="en-US" sz="1600" dirty="0"/>
              <a:t>C</a:t>
            </a:r>
            <a:r>
              <a:rPr lang="id-ID" sz="1600" dirty="0"/>
              <a:t>,</a:t>
            </a:r>
            <a:r>
              <a:rPr lang="en-US" sz="1600" dirty="0"/>
              <a:t> T 124/96, </a:t>
            </a:r>
            <a:r>
              <a:rPr lang="id-ID" sz="1600" dirty="0"/>
              <a:t> </a:t>
            </a:r>
            <a:r>
              <a:rPr lang="en-US" sz="1600" dirty="0"/>
              <a:t>GCS 123, </a:t>
            </a:r>
            <a:r>
              <a:rPr lang="id-ID" sz="1600" dirty="0"/>
              <a:t>Sat O2 </a:t>
            </a:r>
            <a:r>
              <a:rPr lang="en-US" sz="1600" dirty="0" err="1"/>
              <a:t>tidak</a:t>
            </a:r>
            <a:r>
              <a:rPr lang="en-US" sz="1600" dirty="0"/>
              <a:t> </a:t>
            </a:r>
            <a:r>
              <a:rPr lang="en-US" sz="1600" dirty="0" err="1"/>
              <a:t>terdeteksi</a:t>
            </a:r>
            <a:r>
              <a:rPr lang="en-US" sz="1600" dirty="0"/>
              <a:t> monitor,</a:t>
            </a:r>
            <a:r>
              <a:rPr lang="id-ID" sz="1600" dirty="0"/>
              <a:t> akral </a:t>
            </a:r>
            <a:r>
              <a:rPr lang="en-US" sz="1600" dirty="0" err="1"/>
              <a:t>dingin</a:t>
            </a:r>
            <a:r>
              <a:rPr lang="id-ID" sz="1600" dirty="0"/>
              <a:t> CRT </a:t>
            </a:r>
            <a:r>
              <a:rPr lang="en-US" sz="1600" dirty="0"/>
              <a:t>3</a:t>
            </a:r>
            <a:r>
              <a:rPr lang="id-ID" sz="1600" dirty="0"/>
              <a:t> det</a:t>
            </a:r>
            <a:r>
              <a:rPr lang="en-US" sz="1600" dirty="0"/>
              <a:t>, </a:t>
            </a:r>
            <a:r>
              <a:rPr lang="en-US" sz="1600" dirty="0" err="1"/>
              <a:t>kejang</a:t>
            </a:r>
            <a:r>
              <a:rPr lang="en-US" sz="1600" dirty="0"/>
              <a:t> (+)</a:t>
            </a:r>
            <a:endParaRPr lang="id-ID" sz="1600" dirty="0"/>
          </a:p>
        </p:txBody>
      </p:sp>
      <p:sp>
        <p:nvSpPr>
          <p:cNvPr id="11273" name="Text Box 6"/>
          <p:cNvSpPr txBox="1">
            <a:spLocks noChangeArrowheads="1"/>
          </p:cNvSpPr>
          <p:nvPr/>
        </p:nvSpPr>
        <p:spPr bwMode="auto">
          <a:xfrm>
            <a:off x="3873287" y="1668643"/>
            <a:ext cx="1841713" cy="301625"/>
          </a:xfrm>
          <a:prstGeom prst="rect">
            <a:avLst/>
          </a:prstGeom>
          <a:solidFill>
            <a:schemeClr val="bg1"/>
          </a:solidFill>
          <a:ln w="9525">
            <a:solidFill>
              <a:schemeClr val="tx1"/>
            </a:solidFill>
            <a:miter lim="800000"/>
          </a:ln>
        </p:spPr>
        <p:txBody>
          <a:bodyPr/>
          <a:lstStyle/>
          <a:p>
            <a:pPr algn="ctr">
              <a:spcAft>
                <a:spcPts val="1000"/>
              </a:spcAft>
              <a:buFont typeface="Wingdings 2" panose="05020102010507070707" pitchFamily="18" charset="2"/>
              <a:buNone/>
              <a:defRPr/>
            </a:pPr>
            <a:r>
              <a:rPr lang="en-US" sz="1400" dirty="0">
                <a:cs typeface="Arial" panose="020B0604020202020204" pitchFamily="34" charset="0"/>
              </a:rPr>
              <a:t>18-6-2025 (15.00)</a:t>
            </a:r>
            <a:r>
              <a:rPr lang="id-ID" sz="1400" dirty="0">
                <a:cs typeface="Arial" panose="020B0604020202020204" pitchFamily="34" charset="0"/>
              </a:rPr>
              <a:t> </a:t>
            </a:r>
            <a:endParaRPr lang="en-US" sz="1400" dirty="0">
              <a:cs typeface="Arial" panose="020B0604020202020204" pitchFamily="34" charset="0"/>
            </a:endParaRPr>
          </a:p>
          <a:p>
            <a:pPr algn="ctr">
              <a:spcAft>
                <a:spcPts val="1000"/>
              </a:spcAft>
              <a:buFont typeface="Arial" panose="020B0604020202020204" pitchFamily="34" charset="0"/>
              <a:buNone/>
              <a:defRPr/>
            </a:pPr>
            <a:endParaRPr lang="id-ID" altLang="en-US" sz="1400" b="1" dirty="0">
              <a:cs typeface="Arial" panose="020B0604020202020204" pitchFamily="34" charset="0"/>
            </a:endParaRPr>
          </a:p>
        </p:txBody>
      </p:sp>
      <p:sp>
        <p:nvSpPr>
          <p:cNvPr id="15367" name="Text Box 14"/>
          <p:cNvSpPr txBox="1">
            <a:spLocks noChangeArrowheads="1"/>
          </p:cNvSpPr>
          <p:nvPr/>
        </p:nvSpPr>
        <p:spPr bwMode="auto">
          <a:xfrm>
            <a:off x="3848736" y="381728"/>
            <a:ext cx="1512887" cy="266700"/>
          </a:xfrm>
          <a:prstGeom prst="rect">
            <a:avLst/>
          </a:prstGeom>
          <a:solidFill>
            <a:schemeClr val="bg2"/>
          </a:solidFill>
          <a:ln w="9525">
            <a:solidFill>
              <a:schemeClr val="tx1"/>
            </a:solidFill>
            <a:miter lim="800000"/>
          </a:ln>
        </p:spPr>
        <p:txBody>
          <a:bodyPr/>
          <a:lstStyle/>
          <a:p>
            <a:pPr algn="ctr">
              <a:lnSpc>
                <a:spcPct val="115000"/>
              </a:lnSpc>
            </a:pPr>
            <a:r>
              <a:rPr lang="en-US" altLang="en-US" sz="1400" dirty="0">
                <a:cs typeface="Arial" panose="020B0604020202020204" pitchFamily="34" charset="0"/>
              </a:rPr>
              <a:t>PICU </a:t>
            </a:r>
            <a:endParaRPr lang="id-ID" altLang="en-US" sz="1400" dirty="0">
              <a:cs typeface="Arial" panose="020B0604020202020204" pitchFamily="34" charset="0"/>
            </a:endParaRPr>
          </a:p>
        </p:txBody>
      </p:sp>
      <p:sp>
        <p:nvSpPr>
          <p:cNvPr id="23" name="Subtitle 2"/>
          <p:cNvSpPr txBox="1">
            <a:spLocks noChangeArrowheads="1"/>
          </p:cNvSpPr>
          <p:nvPr/>
        </p:nvSpPr>
        <p:spPr bwMode="auto">
          <a:xfrm>
            <a:off x="683730" y="-41679"/>
            <a:ext cx="7725633" cy="380241"/>
          </a:xfrm>
          <a:prstGeom prst="rect">
            <a:avLst/>
          </a:prstGeom>
          <a:noFill/>
          <a:ln w="9525">
            <a:noFill/>
            <a:miter lim="800000"/>
          </a:ln>
        </p:spPr>
        <p:txBody>
          <a:bodyPr vert="horz" wrap="square" lIns="91440" tIns="45720" rIns="91440" bIns="45720" numCol="1" anchor="t" anchorCtr="0" compatLnSpc="1"/>
          <a:lstStyle/>
          <a:p>
            <a:pPr algn="ctr" eaLnBrk="1" fontAlgn="auto" hangingPunct="1">
              <a:spcAft>
                <a:spcPts val="0"/>
              </a:spcAft>
              <a:defRPr/>
            </a:pPr>
            <a:endParaRPr lang="id-ID">
              <a:latin typeface="+mn-lt"/>
            </a:endParaRPr>
          </a:p>
        </p:txBody>
      </p:sp>
      <p:sp>
        <p:nvSpPr>
          <p:cNvPr id="30" name="Text Box 3"/>
          <p:cNvSpPr txBox="1">
            <a:spLocks noChangeArrowheads="1"/>
          </p:cNvSpPr>
          <p:nvPr/>
        </p:nvSpPr>
        <p:spPr bwMode="auto">
          <a:xfrm>
            <a:off x="194198" y="2971799"/>
            <a:ext cx="8764806" cy="3384235"/>
          </a:xfrm>
          <a:prstGeom prst="rect">
            <a:avLst/>
          </a:prstGeom>
          <a:noFill/>
          <a:ln w="9525">
            <a:solidFill>
              <a:srgbClr val="FFC000"/>
            </a:solidFill>
            <a:miter lim="800000"/>
          </a:ln>
        </p:spPr>
        <p:txBody>
          <a:bodyPr/>
          <a:lstStyle/>
          <a:p>
            <a:pPr marL="85725" lvl="1">
              <a:defRPr/>
            </a:pPr>
            <a:r>
              <a:rPr lang="en-US" sz="1600" dirty="0" err="1">
                <a:highlight>
                  <a:srgbClr val="FFFF00"/>
                </a:highlight>
                <a:cs typeface="Arial" panose="020B0604020202020204" pitchFamily="34" charset="0"/>
              </a:rPr>
              <a:t>Lapor</a:t>
            </a:r>
            <a:r>
              <a:rPr lang="en-US" sz="1600" dirty="0">
                <a:highlight>
                  <a:srgbClr val="FFFF00"/>
                </a:highlight>
                <a:cs typeface="Arial" panose="020B0604020202020204" pitchFamily="34" charset="0"/>
              </a:rPr>
              <a:t> dr. Jaga IGD A/p </a:t>
            </a:r>
            <a:r>
              <a:rPr lang="en-US" sz="1600" dirty="0">
                <a:cs typeface="Arial" panose="020B0604020202020204" pitchFamily="34" charset="0"/>
              </a:rPr>
              <a:t>:</a:t>
            </a:r>
            <a:endParaRPr lang="en-US" sz="1600" dirty="0">
              <a:cs typeface="Arial" panose="020B0604020202020204" pitchFamily="34" charset="0"/>
            </a:endParaRPr>
          </a:p>
          <a:p>
            <a:pPr marL="542925" lvl="1" indent="-457200">
              <a:buAutoNum type="arabicPeriod"/>
              <a:defRPr/>
            </a:pPr>
            <a:r>
              <a:rPr lang="en-US" sz="1600" dirty="0">
                <a:cs typeface="Arial" panose="020B0604020202020204" pitchFamily="34" charset="0"/>
              </a:rPr>
              <a:t>Bagging (</a:t>
            </a:r>
            <a:r>
              <a:rPr lang="en-US" sz="1600" dirty="0" err="1">
                <a:cs typeface="Arial" panose="020B0604020202020204" pitchFamily="34" charset="0"/>
              </a:rPr>
              <a:t>posisikan</a:t>
            </a:r>
            <a:r>
              <a:rPr lang="en-US" sz="1600" dirty="0">
                <a:cs typeface="Arial" panose="020B0604020202020204" pitchFamily="34" charset="0"/>
              </a:rPr>
              <a:t> </a:t>
            </a:r>
            <a:r>
              <a:rPr lang="en-US" sz="1600" dirty="0" err="1">
                <a:cs typeface="Arial" panose="020B0604020202020204" pitchFamily="34" charset="0"/>
              </a:rPr>
              <a:t>terlentang</a:t>
            </a:r>
            <a:r>
              <a:rPr lang="en-US" sz="1600" dirty="0">
                <a:cs typeface="Arial" panose="020B0604020202020204" pitchFamily="34" charset="0"/>
              </a:rPr>
              <a:t>)</a:t>
            </a:r>
            <a:endParaRPr lang="en-US" sz="1600" dirty="0">
              <a:cs typeface="Arial" panose="020B0604020202020204" pitchFamily="34" charset="0"/>
            </a:endParaRPr>
          </a:p>
          <a:p>
            <a:pPr marL="542925" lvl="1" indent="-457200">
              <a:buAutoNum type="arabicPeriod"/>
              <a:defRPr/>
            </a:pPr>
            <a:r>
              <a:rPr lang="en-US" sz="1600" dirty="0" err="1">
                <a:cs typeface="Arial" panose="020B0604020202020204" pitchFamily="34" charset="0"/>
              </a:rPr>
              <a:t>Rehidrasi</a:t>
            </a:r>
            <a:r>
              <a:rPr lang="en-US" sz="1600" dirty="0">
                <a:cs typeface="Arial" panose="020B0604020202020204" pitchFamily="34" charset="0"/>
              </a:rPr>
              <a:t> </a:t>
            </a:r>
            <a:r>
              <a:rPr lang="en-US" sz="1600" dirty="0" err="1">
                <a:cs typeface="Arial" panose="020B0604020202020204" pitchFamily="34" charset="0"/>
              </a:rPr>
              <a:t>RingAs</a:t>
            </a:r>
            <a:r>
              <a:rPr lang="en-US" sz="1600" dirty="0">
                <a:cs typeface="Arial" panose="020B0604020202020204" pitchFamily="34" charset="0"/>
              </a:rPr>
              <a:t> 1 flash (maintenance)</a:t>
            </a:r>
            <a:endParaRPr lang="en-US" sz="1600" dirty="0">
              <a:cs typeface="Arial" panose="020B0604020202020204" pitchFamily="34" charset="0"/>
            </a:endParaRPr>
          </a:p>
          <a:p>
            <a:pPr marL="542925" lvl="1" indent="-457200">
              <a:buAutoNum type="arabicPeriod"/>
              <a:defRPr/>
            </a:pPr>
            <a:r>
              <a:rPr lang="en-US" sz="1600" dirty="0">
                <a:cs typeface="Arial" panose="020B0604020202020204" pitchFamily="34" charset="0"/>
              </a:rPr>
              <a:t>IV diazepam 5mg bolus </a:t>
            </a:r>
            <a:r>
              <a:rPr lang="en-US" sz="1600" dirty="0" err="1">
                <a:cs typeface="Arial" panose="020B0604020202020204" pitchFamily="34" charset="0"/>
              </a:rPr>
              <a:t>pelan</a:t>
            </a:r>
            <a:r>
              <a:rPr lang="en-US" sz="1600" dirty="0">
                <a:cs typeface="Arial" panose="020B0604020202020204" pitchFamily="34" charset="0"/>
              </a:rPr>
              <a:t> =&gt; 3mg =&gt; 2mg</a:t>
            </a:r>
            <a:endParaRPr lang="en-US" sz="1600" dirty="0">
              <a:cs typeface="Arial" panose="020B0604020202020204" pitchFamily="34" charset="0"/>
            </a:endParaRPr>
          </a:p>
          <a:p>
            <a:pPr marL="85725" lvl="1" indent="0">
              <a:buNone/>
              <a:defRPr/>
            </a:pPr>
            <a:r>
              <a:rPr lang="en-US" sz="1600" dirty="0">
                <a:cs typeface="Arial" panose="020B0604020202020204" pitchFamily="34" charset="0"/>
              </a:rPr>
              <a:t>4.      pasang mayo</a:t>
            </a:r>
            <a:endParaRPr lang="en-US" sz="1600" dirty="0">
              <a:cs typeface="Arial" panose="020B0604020202020204" pitchFamily="34" charset="0"/>
            </a:endParaRPr>
          </a:p>
          <a:p>
            <a:pPr marL="85725" lvl="1">
              <a:defRPr/>
            </a:pPr>
            <a:r>
              <a:rPr lang="en-US" sz="1600" dirty="0" err="1">
                <a:highlight>
                  <a:srgbClr val="FFFF00"/>
                </a:highlight>
                <a:cs typeface="Arial" panose="020B0604020202020204" pitchFamily="34" charset="0"/>
              </a:rPr>
              <a:t>Lapor</a:t>
            </a:r>
            <a:r>
              <a:rPr lang="en-US" sz="1600" dirty="0">
                <a:highlight>
                  <a:srgbClr val="FFFF00"/>
                </a:highlight>
                <a:cs typeface="Arial" panose="020B0604020202020204" pitchFamily="34" charset="0"/>
              </a:rPr>
              <a:t> DPJP A/p :</a:t>
            </a:r>
            <a:endParaRPr lang="en-US" sz="1600" dirty="0">
              <a:highlight>
                <a:srgbClr val="FFFF00"/>
              </a:highlight>
              <a:cs typeface="Arial" panose="020B0604020202020204" pitchFamily="34" charset="0"/>
            </a:endParaRPr>
          </a:p>
          <a:p>
            <a:pPr marL="542925" lvl="1" indent="-457200">
              <a:buAutoNum type="arabicPeriod"/>
              <a:defRPr/>
            </a:pPr>
            <a:r>
              <a:rPr lang="en-US" sz="1600" dirty="0">
                <a:cs typeface="Arial" panose="020B0604020202020204" pitchFamily="34" charset="0"/>
              </a:rPr>
              <a:t>Pasang NRBM 8 lpm</a:t>
            </a:r>
            <a:endParaRPr lang="en-US" sz="1600" dirty="0">
              <a:cs typeface="Arial" panose="020B0604020202020204" pitchFamily="34" charset="0"/>
            </a:endParaRPr>
          </a:p>
          <a:p>
            <a:pPr marL="542925" lvl="1" indent="-457200">
              <a:buAutoNum type="arabicPeriod"/>
              <a:defRPr/>
            </a:pPr>
            <a:r>
              <a:rPr lang="en-US" sz="1600" dirty="0">
                <a:cs typeface="Arial" panose="020B0604020202020204" pitchFamily="34" charset="0"/>
              </a:rPr>
              <a:t>Drip phenobarbital 200mg </a:t>
            </a:r>
            <a:r>
              <a:rPr lang="en-US" sz="1600" dirty="0" err="1">
                <a:cs typeface="Arial" panose="020B0604020202020204" pitchFamily="34" charset="0"/>
              </a:rPr>
              <a:t>oplos</a:t>
            </a:r>
            <a:r>
              <a:rPr lang="en-US" sz="1600" dirty="0">
                <a:cs typeface="Arial" panose="020B0604020202020204" pitchFamily="34" charset="0"/>
              </a:rPr>
              <a:t> </a:t>
            </a:r>
            <a:r>
              <a:rPr lang="en-US" sz="1600" dirty="0" err="1">
                <a:cs typeface="Arial" panose="020B0604020202020204" pitchFamily="34" charset="0"/>
              </a:rPr>
              <a:t>dengan</a:t>
            </a:r>
            <a:r>
              <a:rPr lang="en-US" sz="1600" dirty="0">
                <a:cs typeface="Arial" panose="020B0604020202020204" pitchFamily="34" charset="0"/>
              </a:rPr>
              <a:t> NS 20 cc </a:t>
            </a:r>
            <a:r>
              <a:rPr lang="en-US" sz="1600" dirty="0" err="1">
                <a:cs typeface="Arial" panose="020B0604020202020204" pitchFamily="34" charset="0"/>
              </a:rPr>
              <a:t>habis</a:t>
            </a:r>
            <a:r>
              <a:rPr lang="en-US" sz="1600" dirty="0">
                <a:cs typeface="Arial" panose="020B0604020202020204" pitchFamily="34" charset="0"/>
              </a:rPr>
              <a:t> </a:t>
            </a:r>
            <a:r>
              <a:rPr lang="en-US" sz="1600" dirty="0" err="1">
                <a:cs typeface="Arial" panose="020B0604020202020204" pitchFamily="34" charset="0"/>
              </a:rPr>
              <a:t>dalam</a:t>
            </a:r>
            <a:r>
              <a:rPr lang="en-US" sz="1600" dirty="0">
                <a:cs typeface="Arial" panose="020B0604020202020204" pitchFamily="34" charset="0"/>
              </a:rPr>
              <a:t> 20 </a:t>
            </a:r>
            <a:r>
              <a:rPr lang="en-US" sz="1600" dirty="0" err="1">
                <a:cs typeface="Arial" panose="020B0604020202020204" pitchFamily="34" charset="0"/>
              </a:rPr>
              <a:t>menit</a:t>
            </a:r>
            <a:r>
              <a:rPr lang="en-US" sz="1600" dirty="0">
                <a:cs typeface="Arial" panose="020B0604020202020204" pitchFamily="34" charset="0"/>
              </a:rPr>
              <a:t> </a:t>
            </a:r>
            <a:r>
              <a:rPr lang="en-US" sz="1600" dirty="0" err="1">
                <a:cs typeface="Arial" panose="020B0604020202020204" pitchFamily="34" charset="0"/>
              </a:rPr>
              <a:t>dengan</a:t>
            </a:r>
            <a:r>
              <a:rPr lang="en-US" sz="1600" dirty="0">
                <a:cs typeface="Arial" panose="020B0604020202020204" pitchFamily="34" charset="0"/>
              </a:rPr>
              <a:t> syringe pump</a:t>
            </a:r>
            <a:endParaRPr lang="en-US" sz="1600" dirty="0">
              <a:cs typeface="Arial" panose="020B0604020202020204" pitchFamily="34" charset="0"/>
            </a:endParaRPr>
          </a:p>
          <a:p>
            <a:pPr marL="542925" lvl="1" indent="-457200">
              <a:buAutoNum type="arabicPeriod"/>
              <a:defRPr/>
            </a:pPr>
            <a:r>
              <a:rPr lang="en-US" sz="1600" dirty="0">
                <a:cs typeface="Arial" panose="020B0604020202020204" pitchFamily="34" charset="0"/>
              </a:rPr>
              <a:t>IV Furosemide 20mg</a:t>
            </a:r>
            <a:endParaRPr lang="en-US" sz="1600" dirty="0">
              <a:cs typeface="Arial" panose="020B0604020202020204" pitchFamily="34" charset="0"/>
            </a:endParaRPr>
          </a:p>
          <a:p>
            <a:pPr marL="542925" lvl="1" indent="-457200">
              <a:buAutoNum type="arabicPeriod"/>
              <a:defRPr/>
            </a:pPr>
            <a:r>
              <a:rPr lang="en-US" sz="1600" dirty="0">
                <a:cs typeface="Arial" panose="020B0604020202020204" pitchFamily="34" charset="0"/>
              </a:rPr>
              <a:t>IV </a:t>
            </a:r>
            <a:r>
              <a:rPr lang="en-US" sz="1600" dirty="0" err="1">
                <a:cs typeface="Arial" panose="020B0604020202020204" pitchFamily="34" charset="0"/>
              </a:rPr>
              <a:t>Asam</a:t>
            </a:r>
            <a:r>
              <a:rPr lang="en-US" sz="1600" dirty="0">
                <a:cs typeface="Arial" panose="020B0604020202020204" pitchFamily="34" charset="0"/>
              </a:rPr>
              <a:t> </a:t>
            </a:r>
            <a:r>
              <a:rPr lang="en-US" sz="1600" dirty="0" err="1">
                <a:cs typeface="Arial" panose="020B0604020202020204" pitchFamily="34" charset="0"/>
              </a:rPr>
              <a:t>Tranex</a:t>
            </a:r>
            <a:r>
              <a:rPr lang="en-US" sz="1600" dirty="0">
                <a:cs typeface="Arial" panose="020B0604020202020204" pitchFamily="34" charset="0"/>
              </a:rPr>
              <a:t> 500mg</a:t>
            </a:r>
            <a:endParaRPr lang="en-US" sz="1600" dirty="0">
              <a:cs typeface="Arial" panose="020B0604020202020204" pitchFamily="34" charset="0"/>
            </a:endParaRPr>
          </a:p>
          <a:p>
            <a:pPr marL="85725" lvl="1">
              <a:defRPr/>
            </a:pPr>
            <a:endParaRPr lang="en-US" sz="1600" dirty="0">
              <a:cs typeface="Arial" panose="020B0604020202020204" pitchFamily="34" charset="0"/>
            </a:endParaRPr>
          </a:p>
          <a:p>
            <a:pPr marL="85725" lvl="1">
              <a:defRPr/>
            </a:pPr>
            <a:endParaRPr lang="en-US" sz="1600" dirty="0">
              <a:latin typeface="+mn-lt"/>
              <a:cs typeface="Arial" panose="020B0604020202020204" pitchFamily="34" charset="0"/>
            </a:endParaRPr>
          </a:p>
        </p:txBody>
      </p:sp>
      <p:sp>
        <p:nvSpPr>
          <p:cNvPr id="14" name="Text Box 14"/>
          <p:cNvSpPr txBox="1">
            <a:spLocks noChangeArrowheads="1"/>
          </p:cNvSpPr>
          <p:nvPr/>
        </p:nvSpPr>
        <p:spPr bwMode="auto">
          <a:xfrm>
            <a:off x="67044" y="2039302"/>
            <a:ext cx="8959003" cy="932497"/>
          </a:xfrm>
          <a:prstGeom prst="rect">
            <a:avLst/>
          </a:prstGeom>
          <a:solidFill>
            <a:schemeClr val="bg2"/>
          </a:solidFill>
          <a:ln w="9525">
            <a:solidFill>
              <a:schemeClr val="tx1"/>
            </a:solidFill>
            <a:miter lim="800000"/>
          </a:ln>
        </p:spPr>
        <p:txBody>
          <a:bodyPr/>
          <a:lstStyle/>
          <a:p>
            <a:pPr algn="ctr"/>
            <a:r>
              <a:rPr lang="en-US" b="1" i="1" dirty="0">
                <a:effectLst/>
                <a:latin typeface="Arial" panose="020B0604020202020204" pitchFamily="34" charset="0"/>
                <a:ea typeface="DengXian" panose="02010600030101010101" pitchFamily="2" charset="-122"/>
              </a:rPr>
              <a:t>DSS + </a:t>
            </a:r>
            <a:r>
              <a:rPr lang="en-US" b="1" i="1" dirty="0">
                <a:latin typeface="Arial" panose="020B0604020202020204" pitchFamily="34" charset="0"/>
                <a:ea typeface="DengXian" panose="02010600030101010101" pitchFamily="2" charset="-122"/>
              </a:rPr>
              <a:t>Overweight</a:t>
            </a:r>
            <a:r>
              <a:rPr lang="en-US" b="1" i="1" dirty="0">
                <a:effectLst/>
                <a:latin typeface="Arial" panose="020B0604020202020204" pitchFamily="34" charset="0"/>
                <a:ea typeface="DengXian" panose="02010600030101010101" pitchFamily="2" charset="-122"/>
              </a:rPr>
              <a:t>+ Enteritis </a:t>
            </a:r>
            <a:endParaRPr lang="en-US" b="1" i="1" dirty="0">
              <a:effectLst/>
              <a:latin typeface="Arial" panose="020B0604020202020204" pitchFamily="34" charset="0"/>
              <a:ea typeface="DengXian" panose="02010600030101010101" pitchFamily="2" charset="-122"/>
            </a:endParaRPr>
          </a:p>
          <a:p>
            <a:pPr algn="ctr"/>
            <a:r>
              <a:rPr lang="en-US" b="1" i="1" dirty="0">
                <a:latin typeface="Arial" panose="020B0604020202020204" pitchFamily="34" charset="0"/>
                <a:ea typeface="DengXian" panose="02010600030101010101" pitchFamily="2" charset="-122"/>
              </a:rPr>
              <a:t>+</a:t>
            </a:r>
            <a:r>
              <a:rPr lang="en-US" b="1" i="1" dirty="0">
                <a:effectLst/>
                <a:latin typeface="Arial" panose="020B0604020202020204" pitchFamily="34" charset="0"/>
                <a:ea typeface="DengXian" panose="02010600030101010101" pitchFamily="2" charset="-122"/>
              </a:rPr>
              <a:t> transaminitis + Azotemia + </a:t>
            </a:r>
            <a:r>
              <a:rPr lang="en-US" b="1" i="1" dirty="0">
                <a:latin typeface="Arial" panose="020B0604020202020204" pitchFamily="34" charset="0"/>
                <a:ea typeface="DengXian" panose="02010600030101010101" pitchFamily="2" charset="-122"/>
              </a:rPr>
              <a:t>Upper GI B</a:t>
            </a:r>
            <a:r>
              <a:rPr lang="en-US" b="1" i="1" dirty="0">
                <a:effectLst/>
                <a:latin typeface="Arial" panose="020B0604020202020204" pitchFamily="34" charset="0"/>
                <a:ea typeface="DengXian" panose="02010600030101010101" pitchFamily="2" charset="-122"/>
              </a:rPr>
              <a:t>leeding + Status </a:t>
            </a:r>
            <a:r>
              <a:rPr lang="en-US" b="1" i="1" dirty="0" err="1">
                <a:effectLst/>
                <a:latin typeface="Arial" panose="020B0604020202020204" pitchFamily="34" charset="0"/>
                <a:ea typeface="DengXian" panose="02010600030101010101" pitchFamily="2" charset="-122"/>
              </a:rPr>
              <a:t>Epileptikus</a:t>
            </a:r>
            <a:r>
              <a:rPr lang="en-US" b="1" i="1" dirty="0">
                <a:effectLst/>
                <a:latin typeface="Arial" panose="020B0604020202020204" pitchFamily="34" charset="0"/>
                <a:ea typeface="DengXian" panose="02010600030101010101" pitchFamily="2" charset="-122"/>
              </a:rPr>
              <a:t> </a:t>
            </a:r>
            <a:r>
              <a:rPr lang="en-US" b="1" i="1" dirty="0" err="1">
                <a:effectLst/>
                <a:latin typeface="Arial" panose="020B0604020202020204" pitchFamily="34" charset="0"/>
                <a:ea typeface="DengXian" panose="02010600030101010101" pitchFamily="2" charset="-122"/>
              </a:rPr>
              <a:t>O.k</a:t>
            </a:r>
            <a:r>
              <a:rPr lang="en-US" b="1" i="1" dirty="0">
                <a:effectLst/>
                <a:latin typeface="Arial" panose="020B0604020202020204" pitchFamily="34" charset="0"/>
                <a:ea typeface="DengXian" panose="02010600030101010101" pitchFamily="2" charset="-122"/>
              </a:rPr>
              <a:t> </a:t>
            </a:r>
            <a:r>
              <a:rPr lang="en-US" b="1" i="1" dirty="0" err="1">
                <a:effectLst/>
                <a:latin typeface="Arial" panose="020B0604020202020204" pitchFamily="34" charset="0"/>
                <a:ea typeface="DengXian" panose="02010600030101010101" pitchFamily="2" charset="-122"/>
              </a:rPr>
              <a:t>perdarahan</a:t>
            </a:r>
            <a:r>
              <a:rPr lang="en-US" b="1" i="1" dirty="0">
                <a:effectLst/>
                <a:latin typeface="Arial" panose="020B0604020202020204" pitchFamily="34" charset="0"/>
                <a:ea typeface="DengXian" panose="02010600030101010101" pitchFamily="2" charset="-122"/>
              </a:rPr>
              <a:t> dd </a:t>
            </a:r>
            <a:r>
              <a:rPr lang="en-US" b="1" i="1" dirty="0" err="1">
                <a:latin typeface="Arial" panose="020B0604020202020204" pitchFamily="34" charset="0"/>
                <a:ea typeface="DengXian" panose="02010600030101010101" pitchFamily="2" charset="-122"/>
              </a:rPr>
              <a:t>elektrolit</a:t>
            </a:r>
            <a:r>
              <a:rPr lang="en-US" b="1" i="1" dirty="0">
                <a:latin typeface="Arial" panose="020B0604020202020204" pitchFamily="34" charset="0"/>
                <a:ea typeface="DengXian" panose="02010600030101010101" pitchFamily="2" charset="-122"/>
              </a:rPr>
              <a:t> imbalance dd </a:t>
            </a:r>
            <a:r>
              <a:rPr lang="en-US" b="1" i="1" dirty="0" err="1">
                <a:latin typeface="Arial" panose="020B0604020202020204" pitchFamily="34" charset="0"/>
                <a:ea typeface="DengXian" panose="02010600030101010101" pitchFamily="2" charset="-122"/>
              </a:rPr>
              <a:t>ensefalitis</a:t>
            </a:r>
            <a:endParaRPr lang="en-ID" b="1" i="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2"/>
          </p:nvPr>
        </p:nvSpPr>
        <p:spPr bwMode="auto">
          <a:noFill/>
          <a:ln>
            <a:miter lim="800000"/>
          </a:ln>
        </p:spPr>
        <p:txBody>
          <a:bodyPr wrap="square" numCol="1" compatLnSpc="1"/>
          <a:lstStyle/>
          <a:p>
            <a:pPr>
              <a:buFont typeface="Arial" panose="020B0604020202020204" pitchFamily="34" charset="0"/>
              <a:buNone/>
            </a:pPr>
            <a:fld id="{08A03F7C-C6D9-4310-A161-7BFB9486709A}" type="slidenum">
              <a:rPr lang="id-ID" altLang="en-US" sz="1400" smtClean="0">
                <a:cs typeface="Arial" panose="020B0604020202020204" pitchFamily="34" charset="0"/>
              </a:rPr>
            </a:fld>
            <a:endParaRPr lang="id-ID" altLang="en-US" sz="1400">
              <a:cs typeface="Arial" panose="020B0604020202020204" pitchFamily="34" charset="0"/>
            </a:endParaRPr>
          </a:p>
        </p:txBody>
      </p:sp>
      <p:cxnSp>
        <p:nvCxnSpPr>
          <p:cNvPr id="15364" name="AutoShape 2"/>
          <p:cNvCxnSpPr>
            <a:cxnSpLocks noChangeShapeType="1"/>
          </p:cNvCxnSpPr>
          <p:nvPr/>
        </p:nvCxnSpPr>
        <p:spPr bwMode="auto">
          <a:xfrm>
            <a:off x="-180330" y="1924934"/>
            <a:ext cx="8959850" cy="31750"/>
          </a:xfrm>
          <a:prstGeom prst="straightConnector1">
            <a:avLst/>
          </a:prstGeom>
          <a:noFill/>
          <a:ln w="50800">
            <a:solidFill>
              <a:srgbClr val="FFC000"/>
            </a:solidFill>
            <a:round/>
          </a:ln>
        </p:spPr>
      </p:cxnSp>
      <p:sp>
        <p:nvSpPr>
          <p:cNvPr id="11269" name="Text Box 3"/>
          <p:cNvSpPr txBox="1">
            <a:spLocks noChangeArrowheads="1"/>
          </p:cNvSpPr>
          <p:nvPr/>
        </p:nvSpPr>
        <p:spPr bwMode="auto">
          <a:xfrm>
            <a:off x="238195" y="721323"/>
            <a:ext cx="8720809" cy="935219"/>
          </a:xfrm>
          <a:prstGeom prst="rect">
            <a:avLst/>
          </a:prstGeom>
          <a:noFill/>
          <a:ln w="9525">
            <a:solidFill>
              <a:srgbClr val="FFC000"/>
            </a:solidFill>
            <a:miter lim="800000"/>
          </a:ln>
        </p:spPr>
        <p:txBody>
          <a:bodyPr/>
          <a:lstStyle/>
          <a:p>
            <a:pPr marL="85725" lvl="1" algn="ctr">
              <a:buClr>
                <a:schemeClr val="accent2">
                  <a:shade val="75000"/>
                </a:schemeClr>
              </a:buClr>
              <a:defRPr/>
            </a:pPr>
            <a:r>
              <a:rPr lang="en-US" sz="2000" dirty="0"/>
              <a:t>Px </a:t>
            </a:r>
            <a:r>
              <a:rPr lang="en-US" sz="2000" dirty="0" err="1"/>
              <a:t>Kejang</a:t>
            </a:r>
            <a:r>
              <a:rPr lang="en-US" sz="2000" dirty="0"/>
              <a:t> </a:t>
            </a:r>
            <a:r>
              <a:rPr lang="en-US" sz="2000" dirty="0" err="1"/>
              <a:t>lagi</a:t>
            </a:r>
            <a:r>
              <a:rPr lang="en-US" sz="2000" dirty="0"/>
              <a:t>, GCS 123, </a:t>
            </a:r>
            <a:r>
              <a:rPr lang="en-US" sz="2000" dirty="0" err="1"/>
              <a:t>Nadi</a:t>
            </a:r>
            <a:r>
              <a:rPr lang="en-US" sz="2000" dirty="0"/>
              <a:t> </a:t>
            </a:r>
            <a:r>
              <a:rPr lang="en-US" sz="2000" dirty="0" err="1"/>
              <a:t>tidak</a:t>
            </a:r>
            <a:r>
              <a:rPr lang="en-US" sz="2000" dirty="0"/>
              <a:t> </a:t>
            </a:r>
            <a:r>
              <a:rPr lang="en-US" sz="2000" dirty="0" err="1"/>
              <a:t>teraba</a:t>
            </a:r>
            <a:r>
              <a:rPr lang="en-US" sz="2000" dirty="0"/>
              <a:t>, HR </a:t>
            </a:r>
            <a:r>
              <a:rPr lang="en-US" sz="2000" dirty="0" err="1"/>
              <a:t>tidak</a:t>
            </a:r>
            <a:r>
              <a:rPr lang="en-US" sz="2000" dirty="0"/>
              <a:t> </a:t>
            </a:r>
            <a:r>
              <a:rPr lang="en-US" sz="2000" dirty="0" err="1"/>
              <a:t>terdeteksi</a:t>
            </a:r>
            <a:r>
              <a:rPr lang="en-US" sz="2000" dirty="0"/>
              <a:t> pada monitor, SpO2 </a:t>
            </a:r>
            <a:r>
              <a:rPr lang="en-US" sz="2000" dirty="0" err="1"/>
              <a:t>tidak</a:t>
            </a:r>
            <a:r>
              <a:rPr lang="en-US" sz="2000" dirty="0"/>
              <a:t> </a:t>
            </a:r>
            <a:r>
              <a:rPr lang="en-US" sz="2000" dirty="0" err="1"/>
              <a:t>terdeteksi</a:t>
            </a:r>
            <a:r>
              <a:rPr lang="en-US" sz="2000" dirty="0"/>
              <a:t> pada monitor, S 36,1, RR 34x/</a:t>
            </a:r>
            <a:r>
              <a:rPr lang="en-US" sz="2000" dirty="0" err="1"/>
              <a:t>mnt</a:t>
            </a:r>
            <a:r>
              <a:rPr lang="en-US" sz="2000" dirty="0"/>
              <a:t>, </a:t>
            </a:r>
            <a:r>
              <a:rPr lang="en-US" sz="2000" dirty="0" err="1"/>
              <a:t>pendarahan</a:t>
            </a:r>
            <a:r>
              <a:rPr lang="en-US" sz="2000" dirty="0"/>
              <a:t> </a:t>
            </a:r>
            <a:r>
              <a:rPr lang="en-US" sz="2000" dirty="0" err="1"/>
              <a:t>saluran</a:t>
            </a:r>
            <a:r>
              <a:rPr lang="en-US" sz="2000" dirty="0"/>
              <a:t> </a:t>
            </a:r>
            <a:r>
              <a:rPr lang="en-US" sz="2000" dirty="0" err="1"/>
              <a:t>cerna</a:t>
            </a:r>
            <a:r>
              <a:rPr lang="en-US" sz="2000" dirty="0"/>
              <a:t> </a:t>
            </a:r>
            <a:r>
              <a:rPr lang="en-US" sz="2000" dirty="0" err="1"/>
              <a:t>atas</a:t>
            </a:r>
            <a:r>
              <a:rPr lang="en-US" sz="2000" dirty="0"/>
              <a:t> (+)</a:t>
            </a:r>
            <a:endParaRPr lang="en-US" sz="2000" dirty="0"/>
          </a:p>
          <a:p>
            <a:pPr marL="85725" lvl="1" algn="ctr">
              <a:buClr>
                <a:schemeClr val="accent2">
                  <a:shade val="75000"/>
                </a:schemeClr>
              </a:buClr>
              <a:defRPr/>
            </a:pPr>
            <a:endParaRPr lang="id-ID" sz="2000" dirty="0"/>
          </a:p>
        </p:txBody>
      </p:sp>
      <p:sp>
        <p:nvSpPr>
          <p:cNvPr id="11273" name="Text Box 6"/>
          <p:cNvSpPr txBox="1">
            <a:spLocks noChangeArrowheads="1"/>
          </p:cNvSpPr>
          <p:nvPr/>
        </p:nvSpPr>
        <p:spPr bwMode="auto">
          <a:xfrm>
            <a:off x="3873287" y="1668643"/>
            <a:ext cx="1841713" cy="301625"/>
          </a:xfrm>
          <a:prstGeom prst="rect">
            <a:avLst/>
          </a:prstGeom>
          <a:solidFill>
            <a:schemeClr val="bg1"/>
          </a:solidFill>
          <a:ln w="9525">
            <a:solidFill>
              <a:schemeClr val="tx1"/>
            </a:solidFill>
            <a:miter lim="800000"/>
          </a:ln>
        </p:spPr>
        <p:txBody>
          <a:bodyPr/>
          <a:lstStyle/>
          <a:p>
            <a:pPr algn="ctr">
              <a:spcAft>
                <a:spcPts val="1000"/>
              </a:spcAft>
              <a:buFont typeface="Wingdings 2" panose="05020102010507070707" pitchFamily="18" charset="2"/>
              <a:buNone/>
              <a:defRPr/>
            </a:pPr>
            <a:r>
              <a:rPr lang="en-US" sz="1400" dirty="0">
                <a:cs typeface="Arial" panose="020B0604020202020204" pitchFamily="34" charset="0"/>
              </a:rPr>
              <a:t>18-6-2025 (15.10)</a:t>
            </a:r>
            <a:r>
              <a:rPr lang="id-ID" sz="1400" dirty="0">
                <a:cs typeface="Arial" panose="020B0604020202020204" pitchFamily="34" charset="0"/>
              </a:rPr>
              <a:t> </a:t>
            </a:r>
            <a:endParaRPr lang="en-US" sz="1400" dirty="0">
              <a:cs typeface="Arial" panose="020B0604020202020204" pitchFamily="34" charset="0"/>
            </a:endParaRPr>
          </a:p>
        </p:txBody>
      </p:sp>
      <p:sp>
        <p:nvSpPr>
          <p:cNvPr id="15367" name="Text Box 14"/>
          <p:cNvSpPr txBox="1">
            <a:spLocks noChangeArrowheads="1"/>
          </p:cNvSpPr>
          <p:nvPr/>
        </p:nvSpPr>
        <p:spPr bwMode="auto">
          <a:xfrm>
            <a:off x="3848736" y="381728"/>
            <a:ext cx="1512887" cy="266700"/>
          </a:xfrm>
          <a:prstGeom prst="rect">
            <a:avLst/>
          </a:prstGeom>
          <a:solidFill>
            <a:schemeClr val="bg2"/>
          </a:solidFill>
          <a:ln w="9525">
            <a:solidFill>
              <a:schemeClr val="tx1"/>
            </a:solidFill>
            <a:miter lim="800000"/>
          </a:ln>
        </p:spPr>
        <p:txBody>
          <a:bodyPr/>
          <a:lstStyle/>
          <a:p>
            <a:pPr algn="ctr">
              <a:lnSpc>
                <a:spcPct val="115000"/>
              </a:lnSpc>
            </a:pPr>
            <a:r>
              <a:rPr lang="en-US" altLang="en-US" sz="1400">
                <a:cs typeface="Arial" panose="020B0604020202020204" pitchFamily="34" charset="0"/>
              </a:rPr>
              <a:t>PICU </a:t>
            </a:r>
            <a:endParaRPr lang="id-ID" altLang="en-US" sz="1400">
              <a:cs typeface="Arial" panose="020B0604020202020204" pitchFamily="34" charset="0"/>
            </a:endParaRPr>
          </a:p>
        </p:txBody>
      </p:sp>
      <p:sp>
        <p:nvSpPr>
          <p:cNvPr id="23" name="Subtitle 2"/>
          <p:cNvSpPr txBox="1">
            <a:spLocks noChangeArrowheads="1"/>
          </p:cNvSpPr>
          <p:nvPr/>
        </p:nvSpPr>
        <p:spPr bwMode="auto">
          <a:xfrm>
            <a:off x="683730" y="-41679"/>
            <a:ext cx="7725633" cy="380241"/>
          </a:xfrm>
          <a:prstGeom prst="rect">
            <a:avLst/>
          </a:prstGeom>
          <a:noFill/>
          <a:ln w="9525">
            <a:noFill/>
            <a:miter lim="800000"/>
          </a:ln>
        </p:spPr>
        <p:txBody>
          <a:bodyPr vert="horz" wrap="square" lIns="91440" tIns="45720" rIns="91440" bIns="45720" numCol="1" anchor="t" anchorCtr="0" compatLnSpc="1"/>
          <a:lstStyle/>
          <a:p>
            <a:pPr algn="ctr" eaLnBrk="1" fontAlgn="auto" hangingPunct="1">
              <a:spcAft>
                <a:spcPts val="0"/>
              </a:spcAft>
              <a:defRPr/>
            </a:pPr>
            <a:endParaRPr lang="id-ID">
              <a:latin typeface="+mn-lt"/>
            </a:endParaRPr>
          </a:p>
        </p:txBody>
      </p:sp>
      <p:sp>
        <p:nvSpPr>
          <p:cNvPr id="30" name="Text Box 3"/>
          <p:cNvSpPr txBox="1">
            <a:spLocks noChangeArrowheads="1"/>
          </p:cNvSpPr>
          <p:nvPr/>
        </p:nvSpPr>
        <p:spPr bwMode="auto">
          <a:xfrm>
            <a:off x="-266" y="3040198"/>
            <a:ext cx="9838956" cy="5032571"/>
          </a:xfrm>
          <a:prstGeom prst="rect">
            <a:avLst/>
          </a:prstGeom>
          <a:noFill/>
          <a:ln w="9525">
            <a:solidFill>
              <a:srgbClr val="FFC000"/>
            </a:solidFill>
            <a:miter lim="800000"/>
          </a:ln>
        </p:spPr>
        <p:txBody>
          <a:bodyPr/>
          <a:lstStyle/>
          <a:p>
            <a:pPr>
              <a:spcAft>
                <a:spcPts val="1000"/>
              </a:spcAft>
              <a:buFont typeface="Wingdings 2" panose="05020102010507070707" pitchFamily="18" charset="2"/>
              <a:buNone/>
              <a:defRPr/>
            </a:pPr>
            <a:r>
              <a:rPr lang="en-US" sz="1000" dirty="0">
                <a:cs typeface="Arial" panose="020B0604020202020204" pitchFamily="34" charset="0"/>
              </a:rPr>
              <a:t>A/p DPJP</a:t>
            </a:r>
            <a:endParaRPr lang="en-US" sz="1000" dirty="0">
              <a:cs typeface="Arial" panose="020B0604020202020204" pitchFamily="34" charset="0"/>
            </a:endParaRPr>
          </a:p>
          <a:p>
            <a:pPr marL="342900" indent="-342900">
              <a:spcAft>
                <a:spcPts val="1000"/>
              </a:spcAft>
              <a:buFont typeface="Wingdings 2" panose="05020102010507070707" pitchFamily="18" charset="2"/>
              <a:buAutoNum type="arabicPeriod"/>
              <a:defRPr/>
            </a:pPr>
            <a:r>
              <a:rPr lang="en-US" sz="1000" dirty="0">
                <a:cs typeface="Arial" panose="020B0604020202020204" pitchFamily="34" charset="0"/>
              </a:rPr>
              <a:t>IV Diazepam 10 mg bolus </a:t>
            </a:r>
            <a:r>
              <a:rPr lang="en-US" sz="1000" dirty="0" err="1">
                <a:cs typeface="Arial" panose="020B0604020202020204" pitchFamily="34" charset="0"/>
              </a:rPr>
              <a:t>pelan</a:t>
            </a:r>
            <a:endParaRPr lang="en-US" sz="1000" dirty="0">
              <a:cs typeface="Arial" panose="020B0604020202020204" pitchFamily="34" charset="0"/>
            </a:endParaRPr>
          </a:p>
          <a:p>
            <a:pPr marL="342900" indent="-342900">
              <a:spcAft>
                <a:spcPts val="1000"/>
              </a:spcAft>
              <a:buFont typeface="Wingdings 2" panose="05020102010507070707" pitchFamily="18" charset="2"/>
              <a:buAutoNum type="arabicPeriod"/>
              <a:defRPr/>
            </a:pPr>
            <a:r>
              <a:rPr lang="en-US" sz="1000" dirty="0">
                <a:cs typeface="Arial" panose="020B0604020202020204" pitchFamily="34" charset="0"/>
              </a:rPr>
              <a:t>Pasang mayo =&gt; </a:t>
            </a:r>
            <a:r>
              <a:rPr lang="en-US" sz="1000" dirty="0" err="1">
                <a:cs typeface="Arial" panose="020B0604020202020204" pitchFamily="34" charset="0"/>
              </a:rPr>
              <a:t>keluar</a:t>
            </a:r>
            <a:r>
              <a:rPr lang="en-US" sz="1000" dirty="0">
                <a:cs typeface="Arial" panose="020B0604020202020204" pitchFamily="34" charset="0"/>
              </a:rPr>
              <a:t> </a:t>
            </a:r>
            <a:r>
              <a:rPr lang="en-US" sz="1000" dirty="0" err="1">
                <a:cs typeface="Arial" panose="020B0604020202020204" pitchFamily="34" charset="0"/>
              </a:rPr>
              <a:t>darah</a:t>
            </a:r>
            <a:r>
              <a:rPr lang="en-US" sz="1000" dirty="0">
                <a:cs typeface="Arial" panose="020B0604020202020204" pitchFamily="34" charset="0"/>
              </a:rPr>
              <a:t> </a:t>
            </a:r>
            <a:r>
              <a:rPr lang="en-US" sz="1000" dirty="0" err="1">
                <a:cs typeface="Arial" panose="020B0604020202020204" pitchFamily="34" charset="0"/>
              </a:rPr>
              <a:t>dari</a:t>
            </a:r>
            <a:r>
              <a:rPr lang="en-US" sz="1000" dirty="0">
                <a:cs typeface="Arial" panose="020B0604020202020204" pitchFamily="34" charset="0"/>
              </a:rPr>
              <a:t> </a:t>
            </a:r>
            <a:r>
              <a:rPr lang="en-US" sz="1000" dirty="0" err="1">
                <a:cs typeface="Arial" panose="020B0604020202020204" pitchFamily="34" charset="0"/>
              </a:rPr>
              <a:t>hidup</a:t>
            </a:r>
            <a:r>
              <a:rPr lang="en-US" sz="1000" dirty="0">
                <a:cs typeface="Arial" panose="020B0604020202020204" pitchFamily="34" charset="0"/>
              </a:rPr>
              <a:t> dan </a:t>
            </a:r>
            <a:r>
              <a:rPr lang="en-US" sz="1000" dirty="0" err="1">
                <a:cs typeface="Arial" panose="020B0604020202020204" pitchFamily="34" charset="0"/>
              </a:rPr>
              <a:t>mulut</a:t>
            </a:r>
            <a:r>
              <a:rPr lang="en-US" sz="1000" dirty="0">
                <a:cs typeface="Arial" panose="020B0604020202020204" pitchFamily="34" charset="0"/>
              </a:rPr>
              <a:t> </a:t>
            </a:r>
            <a:r>
              <a:rPr lang="en-US" sz="1000" dirty="0" err="1">
                <a:cs typeface="Arial" panose="020B0604020202020204" pitchFamily="34" charset="0"/>
              </a:rPr>
              <a:t>menyembur</a:t>
            </a:r>
            <a:endParaRPr lang="en-US" sz="1000" dirty="0">
              <a:cs typeface="Arial" panose="020B0604020202020204" pitchFamily="34" charset="0"/>
            </a:endParaRPr>
          </a:p>
          <a:p>
            <a:pPr marL="342900" indent="-342900">
              <a:spcAft>
                <a:spcPts val="1000"/>
              </a:spcAft>
              <a:buFont typeface="Wingdings 2" panose="05020102010507070707" pitchFamily="18" charset="2"/>
              <a:buAutoNum type="arabicPeriod"/>
              <a:defRPr/>
            </a:pPr>
            <a:r>
              <a:rPr lang="en-US" sz="1000" dirty="0">
                <a:cs typeface="Arial" panose="020B0604020202020204" pitchFamily="34" charset="0"/>
              </a:rPr>
              <a:t>Px di </a:t>
            </a:r>
            <a:r>
              <a:rPr lang="en-US" sz="1000" dirty="0" err="1">
                <a:cs typeface="Arial" panose="020B0604020202020204" pitchFamily="34" charset="0"/>
              </a:rPr>
              <a:t>puasakan</a:t>
            </a:r>
            <a:endParaRPr lang="en-US" sz="1000" dirty="0">
              <a:cs typeface="Arial" panose="020B0604020202020204" pitchFamily="34" charset="0"/>
            </a:endParaRPr>
          </a:p>
          <a:p>
            <a:pPr marL="342900" indent="-342900">
              <a:spcAft>
                <a:spcPts val="1000"/>
              </a:spcAft>
              <a:buFont typeface="Wingdings 2" panose="05020102010507070707" pitchFamily="18" charset="2"/>
              <a:buAutoNum type="arabicPeriod"/>
              <a:defRPr/>
            </a:pPr>
            <a:r>
              <a:rPr lang="en-US" sz="1000" dirty="0">
                <a:cs typeface="Arial" panose="020B0604020202020204" pitchFamily="34" charset="0"/>
              </a:rPr>
              <a:t>Pasang NGT, </a:t>
            </a:r>
            <a:r>
              <a:rPr lang="en-US" sz="1000" dirty="0" err="1">
                <a:cs typeface="Arial" panose="020B0604020202020204" pitchFamily="34" charset="0"/>
              </a:rPr>
              <a:t>bila</a:t>
            </a:r>
            <a:r>
              <a:rPr lang="en-US" sz="1000" dirty="0">
                <a:cs typeface="Arial" panose="020B0604020202020204" pitchFamily="34" charset="0"/>
              </a:rPr>
              <a:t> </a:t>
            </a:r>
            <a:r>
              <a:rPr lang="en-US" sz="1000" dirty="0" err="1">
                <a:cs typeface="Arial" panose="020B0604020202020204" pitchFamily="34" charset="0"/>
              </a:rPr>
              <a:t>produksi</a:t>
            </a:r>
            <a:r>
              <a:rPr lang="en-US" sz="1000" dirty="0">
                <a:cs typeface="Arial" panose="020B0604020202020204" pitchFamily="34" charset="0"/>
              </a:rPr>
              <a:t> NGT </a:t>
            </a:r>
            <a:r>
              <a:rPr lang="en-US" sz="1000" dirty="0" err="1">
                <a:cs typeface="Arial" panose="020B0604020202020204" pitchFamily="34" charset="0"/>
              </a:rPr>
              <a:t>terdapat</a:t>
            </a:r>
            <a:r>
              <a:rPr lang="en-US" sz="1000" dirty="0">
                <a:cs typeface="Arial" panose="020B0604020202020204" pitchFamily="34" charset="0"/>
              </a:rPr>
              <a:t> </a:t>
            </a:r>
            <a:r>
              <a:rPr lang="en-US" sz="1000" dirty="0" err="1">
                <a:cs typeface="Arial" panose="020B0604020202020204" pitchFamily="34" charset="0"/>
              </a:rPr>
              <a:t>pendarahan</a:t>
            </a:r>
            <a:r>
              <a:rPr lang="en-US" sz="1000" dirty="0">
                <a:cs typeface="Arial" panose="020B0604020202020204" pitchFamily="34" charset="0"/>
              </a:rPr>
              <a:t> =&gt; </a:t>
            </a:r>
            <a:r>
              <a:rPr lang="en-US" sz="1000" dirty="0" err="1">
                <a:cs typeface="Arial" panose="020B0604020202020204" pitchFamily="34" charset="0"/>
              </a:rPr>
              <a:t>kumbah</a:t>
            </a:r>
            <a:r>
              <a:rPr lang="en-US" sz="1000" dirty="0">
                <a:cs typeface="Arial" panose="020B0604020202020204" pitchFamily="34" charset="0"/>
              </a:rPr>
              <a:t> </a:t>
            </a:r>
            <a:r>
              <a:rPr lang="en-US" sz="1000" dirty="0" err="1">
                <a:cs typeface="Arial" panose="020B0604020202020204" pitchFamily="34" charset="0"/>
              </a:rPr>
              <a:t>lambung</a:t>
            </a:r>
            <a:endParaRPr lang="en-US" sz="1000" dirty="0">
              <a:cs typeface="Arial" panose="020B0604020202020204" pitchFamily="34" charset="0"/>
            </a:endParaRPr>
          </a:p>
          <a:p>
            <a:pPr marL="342900" indent="-342900">
              <a:spcAft>
                <a:spcPts val="1000"/>
              </a:spcAft>
              <a:buFont typeface="Wingdings 2" panose="05020102010507070707" pitchFamily="18" charset="2"/>
              <a:buAutoNum type="arabicPeriod"/>
              <a:defRPr/>
            </a:pPr>
            <a:r>
              <a:rPr lang="en-US" sz="1000" dirty="0">
                <a:cs typeface="Arial" panose="020B0604020202020204" pitchFamily="34" charset="0"/>
              </a:rPr>
              <a:t>R/ </a:t>
            </a:r>
            <a:r>
              <a:rPr lang="en-US" sz="1000" dirty="0" err="1">
                <a:cs typeface="Arial" panose="020B0604020202020204" pitchFamily="34" charset="0"/>
              </a:rPr>
              <a:t>cek</a:t>
            </a:r>
            <a:r>
              <a:rPr lang="en-US" sz="1000" dirty="0">
                <a:cs typeface="Arial" panose="020B0604020202020204" pitchFamily="34" charset="0"/>
              </a:rPr>
              <a:t> DL, GDS, SE</a:t>
            </a:r>
            <a:endParaRPr lang="en-US" sz="1000" dirty="0">
              <a:cs typeface="Arial" panose="020B0604020202020204" pitchFamily="34" charset="0"/>
            </a:endParaRPr>
          </a:p>
          <a:p>
            <a:pPr marL="342900" indent="-342900">
              <a:spcAft>
                <a:spcPts val="1000"/>
              </a:spcAft>
              <a:buFont typeface="Wingdings 2" panose="05020102010507070707" pitchFamily="18" charset="2"/>
              <a:buAutoNum type="arabicPeriod"/>
              <a:defRPr/>
            </a:pPr>
            <a:r>
              <a:rPr lang="en-US" sz="1000" dirty="0">
                <a:cs typeface="Arial" panose="020B0604020202020204" pitchFamily="34" charset="0"/>
              </a:rPr>
              <a:t>IV Furosemide di </a:t>
            </a:r>
            <a:r>
              <a:rPr lang="en-US" sz="1000" dirty="0" err="1">
                <a:cs typeface="Arial" panose="020B0604020202020204" pitchFamily="34" charset="0"/>
              </a:rPr>
              <a:t>rutinkan</a:t>
            </a:r>
            <a:r>
              <a:rPr lang="en-US" sz="1000" dirty="0">
                <a:cs typeface="Arial" panose="020B0604020202020204" pitchFamily="34" charset="0"/>
              </a:rPr>
              <a:t> 2x30mg</a:t>
            </a:r>
            <a:endParaRPr lang="en-US" sz="1000" dirty="0">
              <a:cs typeface="Arial" panose="020B0604020202020204" pitchFamily="34" charset="0"/>
            </a:endParaRPr>
          </a:p>
          <a:p>
            <a:pPr indent="0">
              <a:spcAft>
                <a:spcPts val="1000"/>
              </a:spcAft>
              <a:buFont typeface="Wingdings 2" panose="05020102010507070707" pitchFamily="18" charset="2"/>
              <a:buNone/>
              <a:defRPr/>
            </a:pPr>
            <a:r>
              <a:rPr lang="en-US" sz="1000" dirty="0">
                <a:cs typeface="Arial" panose="020B0604020202020204" pitchFamily="34" charset="0"/>
              </a:rPr>
              <a:t>7.        drib phenobarbital 200 mg dlm 20 cc ns habis dalam 20 menit selanjutnya  penobarbital 2 x 100 mg  dlm 20 cc ns habis dlm 20 menit</a:t>
            </a:r>
            <a:endParaRPr lang="en-US" sz="1000" dirty="0">
              <a:cs typeface="Arial" panose="020B0604020202020204" pitchFamily="34" charset="0"/>
            </a:endParaRPr>
          </a:p>
          <a:p>
            <a:pPr marL="342900" indent="-342900">
              <a:spcAft>
                <a:spcPts val="1000"/>
              </a:spcAft>
              <a:buFont typeface="Wingdings 2" panose="05020102010507070707" pitchFamily="18" charset="2"/>
              <a:buAutoNum type="arabicPeriod"/>
              <a:defRPr/>
            </a:pPr>
            <a:r>
              <a:rPr lang="en-US" sz="1000" dirty="0" err="1">
                <a:cs typeface="Arial" panose="020B0604020202020204" pitchFamily="34" charset="0"/>
              </a:rPr>
              <a:t>Pantau</a:t>
            </a:r>
            <a:r>
              <a:rPr lang="en-US" sz="1000" dirty="0">
                <a:cs typeface="Arial" panose="020B0604020202020204" pitchFamily="34" charset="0"/>
              </a:rPr>
              <a:t> </a:t>
            </a:r>
            <a:r>
              <a:rPr lang="en-US" sz="1000" dirty="0" err="1">
                <a:cs typeface="Arial" panose="020B0604020202020204" pitchFamily="34" charset="0"/>
              </a:rPr>
              <a:t>Produksi</a:t>
            </a:r>
            <a:r>
              <a:rPr lang="en-US" sz="1000" dirty="0">
                <a:cs typeface="Arial" panose="020B0604020202020204" pitchFamily="34" charset="0"/>
              </a:rPr>
              <a:t> urine</a:t>
            </a:r>
            <a:endParaRPr lang="en-US" sz="1000" dirty="0">
              <a:cs typeface="Arial" panose="020B0604020202020204" pitchFamily="34" charset="0"/>
            </a:endParaRPr>
          </a:p>
          <a:p>
            <a:pPr marL="342900" indent="-342900">
              <a:spcAft>
                <a:spcPts val="1000"/>
              </a:spcAft>
              <a:buFont typeface="Wingdings 2" panose="05020102010507070707" pitchFamily="18" charset="2"/>
              <a:buAutoNum type="arabicPeriod"/>
              <a:defRPr/>
            </a:pPr>
            <a:r>
              <a:rPr lang="en-US" sz="1000" dirty="0">
                <a:solidFill>
                  <a:schemeClr val="tx1"/>
                </a:solidFill>
                <a:cs typeface="Arial" panose="020B0604020202020204" pitchFamily="34" charset="0"/>
              </a:rPr>
              <a:t>IVFD </a:t>
            </a:r>
            <a:r>
              <a:rPr lang="en-US" sz="1000" dirty="0" err="1">
                <a:solidFill>
                  <a:schemeClr val="tx1"/>
                </a:solidFill>
                <a:cs typeface="Arial" panose="020B0604020202020204" pitchFamily="34" charset="0"/>
              </a:rPr>
              <a:t>ganti</a:t>
            </a:r>
            <a:r>
              <a:rPr lang="en-US" sz="1000" dirty="0">
                <a:solidFill>
                  <a:schemeClr val="tx1"/>
                </a:solidFill>
                <a:cs typeface="Arial" panose="020B0604020202020204" pitchFamily="34" charset="0"/>
              </a:rPr>
              <a:t> C1:1 2000cc/24 jam</a:t>
            </a:r>
            <a:endParaRPr lang="en-US" sz="1000" dirty="0">
              <a:solidFill>
                <a:schemeClr val="tx1"/>
              </a:solidFill>
              <a:cs typeface="Arial" panose="020B0604020202020204" pitchFamily="34" charset="0"/>
            </a:endParaRPr>
          </a:p>
          <a:p>
            <a:pPr marL="342900" indent="-342900">
              <a:spcAft>
                <a:spcPts val="1000"/>
              </a:spcAft>
              <a:buFont typeface="Wingdings 2" panose="05020102010507070707" pitchFamily="18" charset="2"/>
              <a:buAutoNum type="arabicPeriod"/>
              <a:defRPr/>
            </a:pPr>
            <a:r>
              <a:rPr lang="en-US" sz="1000" dirty="0" err="1">
                <a:solidFill>
                  <a:schemeClr val="tx1"/>
                </a:solidFill>
                <a:cs typeface="Arial" panose="020B0604020202020204" pitchFamily="34" charset="0"/>
              </a:rPr>
              <a:t>Pukul</a:t>
            </a:r>
            <a:r>
              <a:rPr lang="en-US" sz="1000" dirty="0">
                <a:solidFill>
                  <a:schemeClr val="tx1"/>
                </a:solidFill>
                <a:cs typeface="Arial" panose="020B0604020202020204" pitchFamily="34" charset="0"/>
              </a:rPr>
              <a:t> 15.30 </a:t>
            </a:r>
            <a:r>
              <a:rPr lang="en-US" sz="1000" dirty="0" err="1">
                <a:solidFill>
                  <a:schemeClr val="tx1"/>
                </a:solidFill>
                <a:cs typeface="Arial" panose="020B0604020202020204" pitchFamily="34" charset="0"/>
              </a:rPr>
              <a:t>pasien</a:t>
            </a:r>
            <a:r>
              <a:rPr lang="en-US" sz="1000" dirty="0">
                <a:solidFill>
                  <a:schemeClr val="tx1"/>
                </a:solidFill>
                <a:cs typeface="Arial" panose="020B0604020202020204" pitchFamily="34" charset="0"/>
              </a:rPr>
              <a:t> </a:t>
            </a:r>
            <a:r>
              <a:rPr lang="en-US" sz="1000" dirty="0" err="1">
                <a:solidFill>
                  <a:schemeClr val="tx1"/>
                </a:solidFill>
                <a:cs typeface="Arial" panose="020B0604020202020204" pitchFamily="34" charset="0"/>
              </a:rPr>
              <a:t>mulai</a:t>
            </a:r>
            <a:r>
              <a:rPr lang="en-US" sz="1000" dirty="0">
                <a:solidFill>
                  <a:schemeClr val="tx1"/>
                </a:solidFill>
                <a:cs typeface="Arial" panose="020B0604020202020204" pitchFamily="34" charset="0"/>
              </a:rPr>
              <a:t> </a:t>
            </a:r>
            <a:r>
              <a:rPr lang="en-US" sz="1000" dirty="0" err="1">
                <a:solidFill>
                  <a:schemeClr val="tx1"/>
                </a:solidFill>
                <a:cs typeface="Arial" panose="020B0604020202020204" pitchFamily="34" charset="0"/>
              </a:rPr>
              <a:t>sadar</a:t>
            </a:r>
            <a:r>
              <a:rPr lang="en-US" sz="1000" dirty="0">
                <a:solidFill>
                  <a:schemeClr val="tx1"/>
                </a:solidFill>
                <a:cs typeface="Arial" panose="020B0604020202020204" pitchFamily="34" charset="0"/>
              </a:rPr>
              <a:t>, GCS 456</a:t>
            </a:r>
            <a:endParaRPr lang="en-US" sz="1400" dirty="0">
              <a:solidFill>
                <a:schemeClr val="tx1"/>
              </a:solidFill>
              <a:cs typeface="Arial" panose="020B0604020202020204" pitchFamily="34" charset="0"/>
            </a:endParaRPr>
          </a:p>
        </p:txBody>
      </p:sp>
      <p:sp>
        <p:nvSpPr>
          <p:cNvPr id="14" name="Text Box 14"/>
          <p:cNvSpPr txBox="1">
            <a:spLocks noChangeArrowheads="1"/>
          </p:cNvSpPr>
          <p:nvPr/>
        </p:nvSpPr>
        <p:spPr bwMode="auto">
          <a:xfrm>
            <a:off x="67044" y="2039302"/>
            <a:ext cx="8959003" cy="932497"/>
          </a:xfrm>
          <a:prstGeom prst="rect">
            <a:avLst/>
          </a:prstGeom>
          <a:solidFill>
            <a:schemeClr val="bg2"/>
          </a:solidFill>
          <a:ln w="9525">
            <a:solidFill>
              <a:schemeClr val="tx1"/>
            </a:solidFill>
            <a:miter lim="800000"/>
          </a:ln>
        </p:spPr>
        <p:txBody>
          <a:bodyPr/>
          <a:lstStyle/>
          <a:p>
            <a:pPr algn="ctr"/>
            <a:r>
              <a:rPr lang="en-US" sz="2000" b="1" i="1" dirty="0">
                <a:effectLst/>
                <a:latin typeface="Arial" panose="020B0604020202020204" pitchFamily="34" charset="0"/>
                <a:ea typeface="DengXian" panose="02010600030101010101" pitchFamily="2" charset="-122"/>
              </a:rPr>
              <a:t>DSS + </a:t>
            </a:r>
            <a:r>
              <a:rPr lang="en-US" sz="2000" b="1" i="1" dirty="0">
                <a:latin typeface="Arial" panose="020B0604020202020204" pitchFamily="34" charset="0"/>
                <a:ea typeface="DengXian" panose="02010600030101010101" pitchFamily="2" charset="-122"/>
              </a:rPr>
              <a:t>Overweight</a:t>
            </a:r>
            <a:r>
              <a:rPr lang="en-US" sz="2000" b="1" i="1" dirty="0">
                <a:effectLst/>
                <a:latin typeface="Arial" panose="020B0604020202020204" pitchFamily="34" charset="0"/>
                <a:ea typeface="DengXian" panose="02010600030101010101" pitchFamily="2" charset="-122"/>
              </a:rPr>
              <a:t>+ Enteritis </a:t>
            </a:r>
            <a:endParaRPr lang="en-US" sz="2000" b="1" i="1" dirty="0">
              <a:effectLst/>
              <a:latin typeface="Arial" panose="020B0604020202020204" pitchFamily="34" charset="0"/>
              <a:ea typeface="DengXian" panose="02010600030101010101" pitchFamily="2" charset="-122"/>
            </a:endParaRPr>
          </a:p>
          <a:p>
            <a:pPr algn="ctr"/>
            <a:r>
              <a:rPr lang="en-US" sz="2000" b="1" i="1" dirty="0">
                <a:latin typeface="Arial" panose="020B0604020202020204" pitchFamily="34" charset="0"/>
                <a:ea typeface="DengXian" panose="02010600030101010101" pitchFamily="2" charset="-122"/>
              </a:rPr>
              <a:t>+</a:t>
            </a:r>
            <a:r>
              <a:rPr lang="en-US" sz="2000" b="1" i="1" dirty="0">
                <a:effectLst/>
                <a:latin typeface="Arial" panose="020B0604020202020204" pitchFamily="34" charset="0"/>
                <a:ea typeface="DengXian" panose="02010600030101010101" pitchFamily="2" charset="-122"/>
              </a:rPr>
              <a:t> transaminitis + Azotemia + </a:t>
            </a:r>
            <a:r>
              <a:rPr lang="en-US" sz="2000" b="1" i="1" dirty="0">
                <a:latin typeface="Arial" panose="020B0604020202020204" pitchFamily="34" charset="0"/>
                <a:ea typeface="DengXian" panose="02010600030101010101" pitchFamily="2" charset="-122"/>
              </a:rPr>
              <a:t>Upper GI B</a:t>
            </a:r>
            <a:r>
              <a:rPr lang="en-US" sz="2000" b="1" i="1" dirty="0">
                <a:effectLst/>
                <a:latin typeface="Arial" panose="020B0604020202020204" pitchFamily="34" charset="0"/>
                <a:ea typeface="DengXian" panose="02010600030101010101" pitchFamily="2" charset="-122"/>
              </a:rPr>
              <a:t>leeding + Status </a:t>
            </a:r>
            <a:r>
              <a:rPr lang="en-US" sz="2000" b="1" i="1" dirty="0" err="1">
                <a:effectLst/>
                <a:latin typeface="Arial" panose="020B0604020202020204" pitchFamily="34" charset="0"/>
                <a:ea typeface="DengXian" panose="02010600030101010101" pitchFamily="2" charset="-122"/>
              </a:rPr>
              <a:t>Epileptikus</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O.k</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perdarahan</a:t>
            </a:r>
            <a:r>
              <a:rPr lang="en-US" sz="2000" b="1" i="1" dirty="0">
                <a:effectLst/>
                <a:latin typeface="Arial" panose="020B0604020202020204" pitchFamily="34" charset="0"/>
                <a:ea typeface="DengXian" panose="02010600030101010101" pitchFamily="2" charset="-122"/>
              </a:rPr>
              <a:t> dd </a:t>
            </a:r>
            <a:r>
              <a:rPr lang="en-US" sz="2000" b="1" i="1" dirty="0" err="1">
                <a:latin typeface="Arial" panose="020B0604020202020204" pitchFamily="34" charset="0"/>
                <a:ea typeface="DengXian" panose="02010600030101010101" pitchFamily="2" charset="-122"/>
              </a:rPr>
              <a:t>elektrolit</a:t>
            </a:r>
            <a:r>
              <a:rPr lang="en-US" sz="2000" b="1" i="1" dirty="0">
                <a:latin typeface="Arial" panose="020B0604020202020204" pitchFamily="34" charset="0"/>
                <a:ea typeface="DengXian" panose="02010600030101010101" pitchFamily="2" charset="-122"/>
              </a:rPr>
              <a:t> imbalance dd </a:t>
            </a:r>
            <a:r>
              <a:rPr lang="en-US" sz="2000" b="1" i="1" dirty="0" err="1">
                <a:latin typeface="Arial" panose="020B0604020202020204" pitchFamily="34" charset="0"/>
                <a:ea typeface="DengXian" panose="02010600030101010101" pitchFamily="2" charset="-122"/>
              </a:rPr>
              <a:t>ensefalitis</a:t>
            </a:r>
            <a:endParaRPr lang="en-ID" sz="2000" b="1" i="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2"/>
          </p:nvPr>
        </p:nvSpPr>
        <p:spPr bwMode="auto">
          <a:noFill/>
          <a:ln>
            <a:miter lim="800000"/>
          </a:ln>
        </p:spPr>
        <p:txBody>
          <a:bodyPr wrap="square" numCol="1" compatLnSpc="1"/>
          <a:lstStyle/>
          <a:p>
            <a:pPr>
              <a:buFont typeface="Arial" panose="020B0604020202020204" pitchFamily="34" charset="0"/>
              <a:buNone/>
            </a:pPr>
            <a:fld id="{08A03F7C-C6D9-4310-A161-7BFB9486709A}" type="slidenum">
              <a:rPr lang="id-ID" altLang="en-US" sz="1400" smtClean="0">
                <a:cs typeface="Arial" panose="020B0604020202020204" pitchFamily="34" charset="0"/>
              </a:rPr>
            </a:fld>
            <a:endParaRPr lang="id-ID" altLang="en-US" sz="1400">
              <a:cs typeface="Arial" panose="020B0604020202020204" pitchFamily="34" charset="0"/>
            </a:endParaRPr>
          </a:p>
        </p:txBody>
      </p:sp>
      <p:cxnSp>
        <p:nvCxnSpPr>
          <p:cNvPr id="15364" name="AutoShape 2"/>
          <p:cNvCxnSpPr>
            <a:cxnSpLocks noChangeShapeType="1"/>
          </p:cNvCxnSpPr>
          <p:nvPr/>
        </p:nvCxnSpPr>
        <p:spPr bwMode="auto">
          <a:xfrm>
            <a:off x="-180330" y="1924934"/>
            <a:ext cx="8959850" cy="31750"/>
          </a:xfrm>
          <a:prstGeom prst="straightConnector1">
            <a:avLst/>
          </a:prstGeom>
          <a:noFill/>
          <a:ln w="50800">
            <a:solidFill>
              <a:srgbClr val="FFC000"/>
            </a:solidFill>
            <a:round/>
          </a:ln>
        </p:spPr>
      </p:cxnSp>
      <p:sp>
        <p:nvSpPr>
          <p:cNvPr id="11269" name="Text Box 3"/>
          <p:cNvSpPr txBox="1">
            <a:spLocks noChangeArrowheads="1"/>
          </p:cNvSpPr>
          <p:nvPr/>
        </p:nvSpPr>
        <p:spPr bwMode="auto">
          <a:xfrm>
            <a:off x="238195" y="721323"/>
            <a:ext cx="8720809" cy="935219"/>
          </a:xfrm>
          <a:prstGeom prst="rect">
            <a:avLst/>
          </a:prstGeom>
          <a:noFill/>
          <a:ln w="9525">
            <a:solidFill>
              <a:srgbClr val="FFC000"/>
            </a:solidFill>
            <a:miter lim="800000"/>
          </a:ln>
        </p:spPr>
        <p:txBody>
          <a:bodyPr/>
          <a:lstStyle/>
          <a:p>
            <a:pPr marL="85725" lvl="1" algn="ctr">
              <a:buClr>
                <a:schemeClr val="accent2">
                  <a:shade val="75000"/>
                </a:schemeClr>
              </a:buClr>
              <a:defRPr/>
            </a:pPr>
            <a:r>
              <a:rPr lang="en-US" sz="2000" dirty="0"/>
              <a:t>k/u </a:t>
            </a:r>
            <a:r>
              <a:rPr lang="en-US" sz="2000" dirty="0" err="1"/>
              <a:t>lemah</a:t>
            </a:r>
            <a:r>
              <a:rPr lang="en-US" sz="2000" dirty="0"/>
              <a:t>, GCS 456, </a:t>
            </a:r>
            <a:r>
              <a:rPr lang="en-US" sz="2000" dirty="0" err="1"/>
              <a:t>Nadi</a:t>
            </a:r>
            <a:r>
              <a:rPr lang="en-US" sz="2000" dirty="0"/>
              <a:t> </a:t>
            </a:r>
            <a:r>
              <a:rPr lang="en-US" sz="2000" dirty="0" err="1"/>
              <a:t>teraba</a:t>
            </a:r>
            <a:r>
              <a:rPr lang="en-US" sz="2000" dirty="0"/>
              <a:t> </a:t>
            </a:r>
            <a:r>
              <a:rPr lang="en-US" sz="2000" dirty="0" err="1"/>
              <a:t>dangkal</a:t>
            </a:r>
            <a:r>
              <a:rPr lang="en-US" sz="2000" dirty="0"/>
              <a:t>, HR 117, SpO2 98% , S 36,1, RR 30x/</a:t>
            </a:r>
            <a:r>
              <a:rPr lang="en-US" sz="2000" dirty="0" err="1"/>
              <a:t>mnt</a:t>
            </a:r>
            <a:r>
              <a:rPr lang="en-US" sz="2000" dirty="0"/>
              <a:t>, TD : 100/85 </a:t>
            </a:r>
            <a:r>
              <a:rPr lang="en-US" sz="2000" dirty="0" err="1"/>
              <a:t>pendarahan</a:t>
            </a:r>
            <a:r>
              <a:rPr lang="en-US" sz="2000" dirty="0"/>
              <a:t> </a:t>
            </a:r>
            <a:r>
              <a:rPr lang="en-US" sz="2000" dirty="0" err="1"/>
              <a:t>saluran</a:t>
            </a:r>
            <a:r>
              <a:rPr lang="en-US" sz="2000" dirty="0"/>
              <a:t> </a:t>
            </a:r>
            <a:r>
              <a:rPr lang="en-US" sz="2000" dirty="0" err="1"/>
              <a:t>cerna</a:t>
            </a:r>
            <a:r>
              <a:rPr lang="en-US" sz="2000" dirty="0"/>
              <a:t> </a:t>
            </a:r>
            <a:r>
              <a:rPr lang="en-US" sz="2000" dirty="0" err="1"/>
              <a:t>atas</a:t>
            </a:r>
            <a:r>
              <a:rPr lang="en-US" sz="2000" dirty="0"/>
              <a:t> (+), odema ekstremitas +</a:t>
            </a:r>
            <a:endParaRPr lang="en-US" sz="2000" dirty="0"/>
          </a:p>
        </p:txBody>
      </p:sp>
      <p:sp>
        <p:nvSpPr>
          <p:cNvPr id="11273" name="Text Box 6"/>
          <p:cNvSpPr txBox="1">
            <a:spLocks noChangeArrowheads="1"/>
          </p:cNvSpPr>
          <p:nvPr/>
        </p:nvSpPr>
        <p:spPr bwMode="auto">
          <a:xfrm>
            <a:off x="3873287" y="1668643"/>
            <a:ext cx="1841713" cy="301625"/>
          </a:xfrm>
          <a:prstGeom prst="rect">
            <a:avLst/>
          </a:prstGeom>
          <a:solidFill>
            <a:schemeClr val="bg1"/>
          </a:solidFill>
          <a:ln w="9525">
            <a:solidFill>
              <a:schemeClr val="tx1"/>
            </a:solidFill>
            <a:miter lim="800000"/>
          </a:ln>
        </p:spPr>
        <p:txBody>
          <a:bodyPr/>
          <a:lstStyle/>
          <a:p>
            <a:pPr algn="ctr">
              <a:spcAft>
                <a:spcPts val="1000"/>
              </a:spcAft>
              <a:buFont typeface="Wingdings 2" panose="05020102010507070707" pitchFamily="18" charset="2"/>
              <a:buNone/>
              <a:defRPr/>
            </a:pPr>
            <a:r>
              <a:rPr lang="en-US" sz="1400" dirty="0">
                <a:cs typeface="Arial" panose="020B0604020202020204" pitchFamily="34" charset="0"/>
              </a:rPr>
              <a:t>18-6-2025 (18.00)</a:t>
            </a:r>
            <a:endParaRPr lang="id-ID" altLang="en-US" sz="1400" b="1" dirty="0">
              <a:cs typeface="Arial" panose="020B0604020202020204" pitchFamily="34" charset="0"/>
            </a:endParaRPr>
          </a:p>
        </p:txBody>
      </p:sp>
      <p:sp>
        <p:nvSpPr>
          <p:cNvPr id="15367" name="Text Box 14"/>
          <p:cNvSpPr txBox="1">
            <a:spLocks noChangeArrowheads="1"/>
          </p:cNvSpPr>
          <p:nvPr/>
        </p:nvSpPr>
        <p:spPr bwMode="auto">
          <a:xfrm>
            <a:off x="3848736" y="381728"/>
            <a:ext cx="1512887" cy="266700"/>
          </a:xfrm>
          <a:prstGeom prst="rect">
            <a:avLst/>
          </a:prstGeom>
          <a:solidFill>
            <a:schemeClr val="bg2"/>
          </a:solidFill>
          <a:ln w="9525">
            <a:solidFill>
              <a:schemeClr val="tx1"/>
            </a:solidFill>
            <a:miter lim="800000"/>
          </a:ln>
        </p:spPr>
        <p:txBody>
          <a:bodyPr/>
          <a:lstStyle/>
          <a:p>
            <a:pPr algn="ctr">
              <a:lnSpc>
                <a:spcPct val="115000"/>
              </a:lnSpc>
            </a:pPr>
            <a:r>
              <a:rPr lang="en-US" altLang="en-US" sz="1400">
                <a:cs typeface="Arial" panose="020B0604020202020204" pitchFamily="34" charset="0"/>
              </a:rPr>
              <a:t>PICU </a:t>
            </a:r>
            <a:endParaRPr lang="id-ID" altLang="en-US" sz="1400">
              <a:cs typeface="Arial" panose="020B0604020202020204" pitchFamily="34" charset="0"/>
            </a:endParaRPr>
          </a:p>
        </p:txBody>
      </p:sp>
      <p:sp>
        <p:nvSpPr>
          <p:cNvPr id="23" name="Subtitle 2"/>
          <p:cNvSpPr txBox="1">
            <a:spLocks noChangeArrowheads="1"/>
          </p:cNvSpPr>
          <p:nvPr/>
        </p:nvSpPr>
        <p:spPr bwMode="auto">
          <a:xfrm>
            <a:off x="683730" y="-41679"/>
            <a:ext cx="7725633" cy="380241"/>
          </a:xfrm>
          <a:prstGeom prst="rect">
            <a:avLst/>
          </a:prstGeom>
          <a:noFill/>
          <a:ln w="9525">
            <a:noFill/>
            <a:miter lim="800000"/>
          </a:ln>
        </p:spPr>
        <p:txBody>
          <a:bodyPr vert="horz" wrap="square" lIns="91440" tIns="45720" rIns="91440" bIns="45720" numCol="1" anchor="t" anchorCtr="0" compatLnSpc="1"/>
          <a:lstStyle/>
          <a:p>
            <a:pPr algn="ctr" eaLnBrk="1" fontAlgn="auto" hangingPunct="1">
              <a:spcAft>
                <a:spcPts val="0"/>
              </a:spcAft>
              <a:defRPr/>
            </a:pPr>
            <a:endParaRPr lang="id-ID">
              <a:latin typeface="+mn-lt"/>
            </a:endParaRPr>
          </a:p>
        </p:txBody>
      </p:sp>
      <p:sp>
        <p:nvSpPr>
          <p:cNvPr id="30" name="Text Box 3"/>
          <p:cNvSpPr txBox="1">
            <a:spLocks noChangeArrowheads="1"/>
          </p:cNvSpPr>
          <p:nvPr/>
        </p:nvSpPr>
        <p:spPr bwMode="auto">
          <a:xfrm>
            <a:off x="164142" y="3040833"/>
            <a:ext cx="8764806" cy="3384235"/>
          </a:xfrm>
          <a:prstGeom prst="rect">
            <a:avLst/>
          </a:prstGeom>
          <a:noFill/>
          <a:ln w="9525">
            <a:solidFill>
              <a:srgbClr val="FFC000"/>
            </a:solidFill>
            <a:miter lim="800000"/>
          </a:ln>
        </p:spPr>
        <p:txBody>
          <a:bodyPr/>
          <a:lstStyle/>
          <a:p>
            <a:pPr marL="542925" lvl="1" indent="-457200">
              <a:buAutoNum type="arabicPeriod"/>
              <a:defRPr/>
            </a:pPr>
            <a:r>
              <a:rPr lang="en-US" dirty="0" err="1">
                <a:latin typeface="+mn-lt"/>
                <a:cs typeface="Arial" panose="020B0604020202020204" pitchFamily="34" charset="0"/>
              </a:rPr>
              <a:t>Memasang</a:t>
            </a:r>
            <a:r>
              <a:rPr lang="en-US" dirty="0">
                <a:latin typeface="+mn-lt"/>
                <a:cs typeface="Arial" panose="020B0604020202020204" pitchFamily="34" charset="0"/>
              </a:rPr>
              <a:t> NGT</a:t>
            </a:r>
            <a:endParaRPr lang="en-US" dirty="0">
              <a:latin typeface="+mn-lt"/>
              <a:cs typeface="Arial" panose="020B0604020202020204" pitchFamily="34" charset="0"/>
            </a:endParaRPr>
          </a:p>
          <a:p>
            <a:pPr marL="542925" lvl="1" indent="-457200">
              <a:buAutoNum type="arabicPeriod"/>
              <a:defRPr/>
            </a:pPr>
            <a:r>
              <a:rPr lang="en-US" dirty="0" err="1">
                <a:cs typeface="Arial" panose="020B0604020202020204" pitchFamily="34" charset="0"/>
              </a:rPr>
              <a:t>Prosuksi</a:t>
            </a:r>
            <a:r>
              <a:rPr lang="en-US" dirty="0">
                <a:cs typeface="Arial" panose="020B0604020202020204" pitchFamily="34" charset="0"/>
              </a:rPr>
              <a:t> NGT 400 cc </a:t>
            </a:r>
            <a:r>
              <a:rPr lang="en-US" dirty="0" err="1">
                <a:cs typeface="Arial" panose="020B0604020202020204" pitchFamily="34" charset="0"/>
              </a:rPr>
              <a:t>terdapat</a:t>
            </a:r>
            <a:r>
              <a:rPr lang="en-US" dirty="0">
                <a:cs typeface="Arial" panose="020B0604020202020204" pitchFamily="34" charset="0"/>
              </a:rPr>
              <a:t> </a:t>
            </a:r>
            <a:r>
              <a:rPr lang="en-US" dirty="0" err="1">
                <a:cs typeface="Arial" panose="020B0604020202020204" pitchFamily="34" charset="0"/>
              </a:rPr>
              <a:t>pendarahan</a:t>
            </a:r>
            <a:endParaRPr lang="en-US" dirty="0">
              <a:cs typeface="Arial" panose="020B0604020202020204" pitchFamily="34" charset="0"/>
            </a:endParaRPr>
          </a:p>
          <a:p>
            <a:pPr marL="542925" lvl="1" indent="-457200">
              <a:buAutoNum type="arabicPeriod"/>
              <a:defRPr/>
            </a:pPr>
            <a:r>
              <a:rPr lang="en-US" dirty="0" err="1">
                <a:latin typeface="+mn-lt"/>
                <a:cs typeface="Arial" panose="020B0604020202020204" pitchFamily="34" charset="0"/>
              </a:rPr>
              <a:t>Kumbah</a:t>
            </a:r>
            <a:r>
              <a:rPr lang="en-US" dirty="0">
                <a:latin typeface="+mn-lt"/>
                <a:cs typeface="Arial" panose="020B0604020202020204" pitchFamily="34" charset="0"/>
              </a:rPr>
              <a:t> </a:t>
            </a:r>
            <a:r>
              <a:rPr lang="en-US" dirty="0" err="1">
                <a:latin typeface="+mn-lt"/>
                <a:cs typeface="Arial" panose="020B0604020202020204" pitchFamily="34" charset="0"/>
              </a:rPr>
              <a:t>Lambung</a:t>
            </a:r>
            <a:r>
              <a:rPr lang="en-US" dirty="0">
                <a:latin typeface="+mn-lt"/>
                <a:cs typeface="Arial" panose="020B0604020202020204" pitchFamily="34" charset="0"/>
              </a:rPr>
              <a:t> 1x , darah dan stosel (+) </a:t>
            </a:r>
            <a:endParaRPr lang="en-US" dirty="0">
              <a:latin typeface="+mn-lt"/>
              <a:cs typeface="Arial" panose="020B0604020202020204" pitchFamily="34" charset="0"/>
            </a:endParaRPr>
          </a:p>
          <a:p>
            <a:pPr marL="542925" lvl="1" indent="-457200">
              <a:buAutoNum type="arabicPeriod"/>
              <a:defRPr/>
            </a:pPr>
            <a:r>
              <a:rPr lang="en-US" dirty="0">
                <a:latin typeface="+mn-lt"/>
                <a:cs typeface="Arial" panose="020B0604020202020204" pitchFamily="34" charset="0"/>
              </a:rPr>
              <a:t>Drib </a:t>
            </a:r>
            <a:r>
              <a:rPr lang="en-US" dirty="0" err="1">
                <a:latin typeface="+mn-lt"/>
                <a:cs typeface="Arial" panose="020B0604020202020204" pitchFamily="34" charset="0"/>
              </a:rPr>
              <a:t>Dobutamin</a:t>
            </a:r>
            <a:r>
              <a:rPr lang="en-US" dirty="0">
                <a:latin typeface="+mn-lt"/>
                <a:cs typeface="Arial" panose="020B0604020202020204" pitchFamily="34" charset="0"/>
              </a:rPr>
              <a:t> Stop</a:t>
            </a:r>
            <a:endParaRPr lang="en-US" dirty="0">
              <a:latin typeface="+mn-lt"/>
              <a:cs typeface="Arial" panose="020B0604020202020204" pitchFamily="34" charset="0"/>
            </a:endParaRPr>
          </a:p>
          <a:p>
            <a:pPr marL="542925" lvl="1" indent="-457200">
              <a:buAutoNum type="arabicPeriod"/>
              <a:defRPr/>
            </a:pPr>
            <a:r>
              <a:rPr lang="en-US" dirty="0">
                <a:latin typeface="+mn-lt"/>
                <a:cs typeface="Arial" panose="020B0604020202020204" pitchFamily="34" charset="0"/>
              </a:rPr>
              <a:t>produsi urine 400 cc</a:t>
            </a:r>
            <a:endParaRPr lang="en-US" dirty="0">
              <a:latin typeface="+mn-lt"/>
              <a:cs typeface="Arial" panose="020B0604020202020204" pitchFamily="34" charset="0"/>
            </a:endParaRPr>
          </a:p>
          <a:p>
            <a:pPr marL="542925" lvl="1" indent="-457200">
              <a:buAutoNum type="arabicPeriod"/>
              <a:defRPr/>
            </a:pPr>
            <a:r>
              <a:rPr lang="en-US" dirty="0">
                <a:latin typeface="+mn-lt"/>
                <a:cs typeface="Arial" panose="020B0604020202020204" pitchFamily="34" charset="0"/>
              </a:rPr>
              <a:t>nrbm 6 lpm</a:t>
            </a:r>
            <a:endParaRPr lang="en-US" dirty="0">
              <a:latin typeface="+mn-lt"/>
              <a:cs typeface="Arial" panose="020B0604020202020204" pitchFamily="34" charset="0"/>
            </a:endParaRPr>
          </a:p>
          <a:p>
            <a:pPr marL="85725" lvl="1" indent="0">
              <a:buNone/>
              <a:defRPr/>
            </a:pPr>
            <a:endParaRPr lang="en-US" dirty="0">
              <a:latin typeface="+mn-lt"/>
              <a:cs typeface="Arial" panose="020B0604020202020204" pitchFamily="34" charset="0"/>
            </a:endParaRPr>
          </a:p>
          <a:p>
            <a:pPr marL="542925" lvl="1" indent="-457200">
              <a:buAutoNum type="arabicPeriod"/>
              <a:defRPr/>
            </a:pPr>
            <a:endParaRPr lang="en-US" dirty="0">
              <a:cs typeface="Arial" panose="020B0604020202020204" pitchFamily="34" charset="0"/>
            </a:endParaRPr>
          </a:p>
          <a:p>
            <a:pPr marL="85725" lvl="1">
              <a:defRPr/>
            </a:pPr>
            <a:r>
              <a:rPr lang="en-US" dirty="0">
                <a:solidFill>
                  <a:schemeClr val="bg1"/>
                </a:solidFill>
                <a:highlight>
                  <a:srgbClr val="808000"/>
                </a:highlight>
                <a:latin typeface="+mn-lt"/>
                <a:cs typeface="Arial" panose="020B0604020202020204" pitchFamily="34" charset="0"/>
              </a:rPr>
              <a:t>23.40 </a:t>
            </a:r>
            <a:r>
              <a:rPr lang="en-US" dirty="0" err="1">
                <a:solidFill>
                  <a:schemeClr val="bg1"/>
                </a:solidFill>
                <a:highlight>
                  <a:srgbClr val="808000"/>
                </a:highlight>
                <a:latin typeface="+mn-lt"/>
                <a:cs typeface="Arial" panose="020B0604020202020204" pitchFamily="34" charset="0"/>
              </a:rPr>
              <a:t>Lapor</a:t>
            </a:r>
            <a:r>
              <a:rPr lang="en-US" dirty="0">
                <a:solidFill>
                  <a:schemeClr val="bg1"/>
                </a:solidFill>
                <a:highlight>
                  <a:srgbClr val="808000"/>
                </a:highlight>
                <a:latin typeface="+mn-lt"/>
                <a:cs typeface="Arial" panose="020B0604020202020204" pitchFamily="34" charset="0"/>
              </a:rPr>
              <a:t> TTV dan </a:t>
            </a:r>
            <a:r>
              <a:rPr lang="en-US" dirty="0" err="1">
                <a:solidFill>
                  <a:schemeClr val="bg1"/>
                </a:solidFill>
                <a:highlight>
                  <a:srgbClr val="808000"/>
                </a:highlight>
                <a:latin typeface="+mn-lt"/>
                <a:cs typeface="Arial" panose="020B0604020202020204" pitchFamily="34" charset="0"/>
              </a:rPr>
              <a:t>hasil</a:t>
            </a:r>
            <a:r>
              <a:rPr lang="en-US" dirty="0">
                <a:solidFill>
                  <a:schemeClr val="bg1"/>
                </a:solidFill>
                <a:highlight>
                  <a:srgbClr val="808000"/>
                </a:highlight>
                <a:latin typeface="+mn-lt"/>
                <a:cs typeface="Arial" panose="020B0604020202020204" pitchFamily="34" charset="0"/>
              </a:rPr>
              <a:t> DL, GDS, SE</a:t>
            </a:r>
            <a:endParaRPr lang="en-US" dirty="0">
              <a:solidFill>
                <a:schemeClr val="bg1"/>
              </a:solidFill>
              <a:highlight>
                <a:srgbClr val="808000"/>
              </a:highlight>
              <a:latin typeface="+mn-lt"/>
              <a:cs typeface="Arial" panose="020B0604020202020204" pitchFamily="34" charset="0"/>
            </a:endParaRPr>
          </a:p>
          <a:p>
            <a:pPr marL="85725" lvl="1">
              <a:defRPr/>
            </a:pPr>
            <a:r>
              <a:rPr lang="en-US" dirty="0">
                <a:solidFill>
                  <a:schemeClr val="bg1"/>
                </a:solidFill>
                <a:highlight>
                  <a:srgbClr val="808000"/>
                </a:highlight>
                <a:cs typeface="Arial" panose="020B0604020202020204" pitchFamily="34" charset="0"/>
              </a:rPr>
              <a:t>k/u </a:t>
            </a:r>
            <a:r>
              <a:rPr lang="en-US" dirty="0" err="1">
                <a:solidFill>
                  <a:schemeClr val="bg1"/>
                </a:solidFill>
                <a:highlight>
                  <a:srgbClr val="808000"/>
                </a:highlight>
                <a:cs typeface="Arial" panose="020B0604020202020204" pitchFamily="34" charset="0"/>
              </a:rPr>
              <a:t>cukup</a:t>
            </a:r>
            <a:r>
              <a:rPr lang="en-US" dirty="0">
                <a:solidFill>
                  <a:schemeClr val="bg1"/>
                </a:solidFill>
                <a:highlight>
                  <a:srgbClr val="808000"/>
                </a:highlight>
                <a:cs typeface="Arial" panose="020B0604020202020204" pitchFamily="34" charset="0"/>
              </a:rPr>
              <a:t>, GCS 456, </a:t>
            </a:r>
            <a:r>
              <a:rPr lang="en-US" dirty="0" err="1">
                <a:solidFill>
                  <a:schemeClr val="bg1"/>
                </a:solidFill>
                <a:highlight>
                  <a:srgbClr val="808000"/>
                </a:highlight>
                <a:cs typeface="Arial" panose="020B0604020202020204" pitchFamily="34" charset="0"/>
              </a:rPr>
              <a:t>mimisan</a:t>
            </a:r>
            <a:r>
              <a:rPr lang="en-US" dirty="0">
                <a:solidFill>
                  <a:schemeClr val="bg1"/>
                </a:solidFill>
                <a:highlight>
                  <a:srgbClr val="808000"/>
                </a:highlight>
                <a:cs typeface="Arial" panose="020B0604020202020204" pitchFamily="34" charset="0"/>
              </a:rPr>
              <a:t> +, </a:t>
            </a:r>
            <a:r>
              <a:rPr lang="en-US" dirty="0" err="1">
                <a:solidFill>
                  <a:schemeClr val="bg1"/>
                </a:solidFill>
                <a:highlight>
                  <a:srgbClr val="808000"/>
                </a:highlight>
                <a:cs typeface="Arial" panose="020B0604020202020204" pitchFamily="34" charset="0"/>
              </a:rPr>
              <a:t>produksi</a:t>
            </a:r>
            <a:r>
              <a:rPr lang="en-US" dirty="0">
                <a:solidFill>
                  <a:schemeClr val="bg1"/>
                </a:solidFill>
                <a:highlight>
                  <a:srgbClr val="808000"/>
                </a:highlight>
                <a:cs typeface="Arial" panose="020B0604020202020204" pitchFamily="34" charset="0"/>
              </a:rPr>
              <a:t> NGT </a:t>
            </a:r>
            <a:r>
              <a:rPr lang="en-US" dirty="0" err="1">
                <a:solidFill>
                  <a:schemeClr val="bg1"/>
                </a:solidFill>
                <a:highlight>
                  <a:srgbClr val="808000"/>
                </a:highlight>
                <a:cs typeface="Arial" panose="020B0604020202020204" pitchFamily="34" charset="0"/>
              </a:rPr>
              <a:t>darah</a:t>
            </a:r>
            <a:r>
              <a:rPr lang="en-US" dirty="0">
                <a:solidFill>
                  <a:schemeClr val="bg1"/>
                </a:solidFill>
                <a:highlight>
                  <a:srgbClr val="808000"/>
                </a:highlight>
                <a:cs typeface="Arial" panose="020B0604020202020204" pitchFamily="34" charset="0"/>
              </a:rPr>
              <a:t> +, TD : 100/60, S 36,3, SpO2 97%Nadi 117x/</a:t>
            </a:r>
            <a:r>
              <a:rPr lang="en-US" dirty="0" err="1">
                <a:solidFill>
                  <a:schemeClr val="bg1"/>
                </a:solidFill>
                <a:highlight>
                  <a:srgbClr val="808000"/>
                </a:highlight>
                <a:cs typeface="Arial" panose="020B0604020202020204" pitchFamily="34" charset="0"/>
              </a:rPr>
              <a:t>mnt</a:t>
            </a:r>
            <a:r>
              <a:rPr lang="en-US" dirty="0">
                <a:solidFill>
                  <a:schemeClr val="bg1"/>
                </a:solidFill>
                <a:highlight>
                  <a:srgbClr val="808000"/>
                </a:highlight>
                <a:cs typeface="Arial" panose="020B0604020202020204" pitchFamily="34" charset="0"/>
              </a:rPr>
              <a:t>.  </a:t>
            </a:r>
            <a:r>
              <a:rPr lang="id-ID" sz="1800" dirty="0">
                <a:solidFill>
                  <a:schemeClr val="bg1"/>
                </a:solidFill>
                <a:effectLst/>
                <a:highlight>
                  <a:srgbClr val="808000"/>
                </a:highlight>
              </a:rPr>
              <a:t>Na/k/ CL</a:t>
            </a:r>
            <a:r>
              <a:rPr lang="en-US" sz="1800" dirty="0">
                <a:solidFill>
                  <a:schemeClr val="bg1"/>
                </a:solidFill>
                <a:effectLst/>
                <a:highlight>
                  <a:srgbClr val="808000"/>
                </a:highlight>
              </a:rPr>
              <a:t>: </a:t>
            </a:r>
            <a:r>
              <a:rPr lang="en-US" sz="1800" dirty="0">
                <a:solidFill>
                  <a:schemeClr val="bg1"/>
                </a:solidFill>
                <a:effectLst/>
                <a:highlight>
                  <a:srgbClr val="808000"/>
                </a:highlight>
                <a:latin typeface="Calibri" panose="020F0502020204030204"/>
                <a:ea typeface="Calibri" panose="020F0502020204030204"/>
                <a:cs typeface="Times New Roman" panose="02020603050405020304"/>
              </a:rPr>
              <a:t>112/3,2/83, </a:t>
            </a:r>
            <a:r>
              <a:rPr lang="id-ID" sz="1800" dirty="0">
                <a:solidFill>
                  <a:schemeClr val="bg1"/>
                </a:solidFill>
                <a:effectLst/>
                <a:highlight>
                  <a:srgbClr val="808000"/>
                </a:highlight>
              </a:rPr>
              <a:t>Trombosit</a:t>
            </a:r>
            <a:r>
              <a:rPr lang="en-US" sz="1800" dirty="0">
                <a:solidFill>
                  <a:schemeClr val="bg1"/>
                </a:solidFill>
                <a:effectLst/>
                <a:highlight>
                  <a:srgbClr val="808000"/>
                </a:highlight>
              </a:rPr>
              <a:t> : 57.000, </a:t>
            </a:r>
            <a:r>
              <a:rPr lang="en-US" sz="1800" dirty="0" err="1">
                <a:solidFill>
                  <a:schemeClr val="bg1"/>
                </a:solidFill>
                <a:effectLst/>
                <a:highlight>
                  <a:srgbClr val="808000"/>
                </a:highlight>
              </a:rPr>
              <a:t>Leukosit</a:t>
            </a:r>
            <a:r>
              <a:rPr lang="en-US" sz="1800" dirty="0">
                <a:solidFill>
                  <a:schemeClr val="bg1"/>
                </a:solidFill>
                <a:effectLst/>
                <a:highlight>
                  <a:srgbClr val="808000"/>
                </a:highlight>
              </a:rPr>
              <a:t> :12.920.</a:t>
            </a:r>
            <a:endParaRPr lang="id-ID" sz="1800" dirty="0">
              <a:solidFill>
                <a:schemeClr val="bg1"/>
              </a:solidFill>
              <a:effectLst/>
              <a:highlight>
                <a:srgbClr val="808000"/>
              </a:highlight>
              <a:latin typeface="Calibri" panose="020F0502020204030204"/>
              <a:ea typeface="Calibri" panose="020F0502020204030204"/>
              <a:cs typeface="Times New Roman" panose="02020603050405020304"/>
            </a:endParaRPr>
          </a:p>
          <a:p>
            <a:pPr marL="85725" lvl="1">
              <a:defRPr/>
            </a:pPr>
            <a:endParaRPr lang="en-US" dirty="0">
              <a:latin typeface="+mn-lt"/>
              <a:cs typeface="Arial" panose="020B0604020202020204" pitchFamily="34" charset="0"/>
            </a:endParaRPr>
          </a:p>
          <a:p>
            <a:pPr marL="85725" lvl="1">
              <a:defRPr/>
            </a:pPr>
            <a:r>
              <a:rPr lang="en-US" dirty="0">
                <a:cs typeface="Arial" panose="020B0604020202020204" pitchFamily="34" charset="0"/>
              </a:rPr>
              <a:t>A/p DPJP:</a:t>
            </a:r>
            <a:endParaRPr lang="en-US" dirty="0">
              <a:cs typeface="Arial" panose="020B0604020202020204" pitchFamily="34" charset="0"/>
            </a:endParaRPr>
          </a:p>
          <a:p>
            <a:pPr marL="85725" lvl="1">
              <a:defRPr/>
            </a:pPr>
            <a:r>
              <a:rPr lang="en-US" dirty="0">
                <a:latin typeface="+mn-lt"/>
                <a:cs typeface="Arial" panose="020B0604020202020204" pitchFamily="34" charset="0"/>
              </a:rPr>
              <a:t>Masukkan NaCl 3 % 300 cc </a:t>
            </a:r>
            <a:r>
              <a:rPr lang="en-US" dirty="0" err="1">
                <a:latin typeface="+mn-lt"/>
                <a:cs typeface="Arial" panose="020B0604020202020204" pitchFamily="34" charset="0"/>
              </a:rPr>
              <a:t>dalam</a:t>
            </a:r>
            <a:r>
              <a:rPr lang="en-US" dirty="0">
                <a:latin typeface="+mn-lt"/>
                <a:cs typeface="Arial" panose="020B0604020202020204" pitchFamily="34" charset="0"/>
              </a:rPr>
              <a:t> 6 jam, </a:t>
            </a:r>
            <a:r>
              <a:rPr lang="en-US" dirty="0" err="1">
                <a:latin typeface="+mn-lt"/>
                <a:cs typeface="Arial" panose="020B0604020202020204" pitchFamily="34" charset="0"/>
              </a:rPr>
              <a:t>minum</a:t>
            </a:r>
            <a:r>
              <a:rPr lang="en-US" dirty="0">
                <a:latin typeface="+mn-lt"/>
                <a:cs typeface="Arial" panose="020B0604020202020204" pitchFamily="34" charset="0"/>
              </a:rPr>
              <a:t> air </a:t>
            </a:r>
            <a:r>
              <a:rPr lang="en-US" dirty="0" err="1">
                <a:latin typeface="+mn-lt"/>
                <a:cs typeface="Arial" panose="020B0604020202020204" pitchFamily="34" charset="0"/>
              </a:rPr>
              <a:t>sedikit</a:t>
            </a:r>
            <a:r>
              <a:rPr lang="en-US" dirty="0">
                <a:latin typeface="+mn-lt"/>
                <a:cs typeface="Arial" panose="020B0604020202020204" pitchFamily="34" charset="0"/>
              </a:rPr>
              <a:t> </a:t>
            </a:r>
            <a:r>
              <a:rPr lang="en-US" dirty="0" err="1">
                <a:latin typeface="+mn-lt"/>
                <a:cs typeface="Arial" panose="020B0604020202020204" pitchFamily="34" charset="0"/>
              </a:rPr>
              <a:t>saja</a:t>
            </a:r>
            <a:endParaRPr lang="en-US" dirty="0">
              <a:latin typeface="+mn-lt"/>
              <a:cs typeface="Arial" panose="020B0604020202020204" pitchFamily="34" charset="0"/>
            </a:endParaRPr>
          </a:p>
        </p:txBody>
      </p:sp>
      <p:sp>
        <p:nvSpPr>
          <p:cNvPr id="14" name="Text Box 14"/>
          <p:cNvSpPr txBox="1">
            <a:spLocks noChangeArrowheads="1"/>
          </p:cNvSpPr>
          <p:nvPr/>
        </p:nvSpPr>
        <p:spPr bwMode="auto">
          <a:xfrm>
            <a:off x="67044" y="2039302"/>
            <a:ext cx="8959003" cy="932497"/>
          </a:xfrm>
          <a:prstGeom prst="rect">
            <a:avLst/>
          </a:prstGeom>
          <a:solidFill>
            <a:schemeClr val="bg2"/>
          </a:solidFill>
          <a:ln w="9525">
            <a:solidFill>
              <a:schemeClr val="tx1"/>
            </a:solidFill>
            <a:miter lim="800000"/>
          </a:ln>
        </p:spPr>
        <p:txBody>
          <a:bodyPr/>
          <a:lstStyle/>
          <a:p>
            <a:pPr algn="ctr"/>
            <a:r>
              <a:rPr lang="en-US" sz="2000" b="1" i="1" dirty="0">
                <a:effectLst/>
                <a:latin typeface="Arial" panose="020B0604020202020204" pitchFamily="34" charset="0"/>
                <a:ea typeface="DengXian" panose="02010600030101010101" pitchFamily="2" charset="-122"/>
              </a:rPr>
              <a:t>DSS + </a:t>
            </a:r>
            <a:r>
              <a:rPr lang="en-US" sz="2000" b="1" i="1" dirty="0">
                <a:latin typeface="Arial" panose="020B0604020202020204" pitchFamily="34" charset="0"/>
                <a:ea typeface="DengXian" panose="02010600030101010101" pitchFamily="2" charset="-122"/>
              </a:rPr>
              <a:t>Overweight</a:t>
            </a:r>
            <a:r>
              <a:rPr lang="en-US" sz="2000" b="1" i="1" dirty="0">
                <a:effectLst/>
                <a:latin typeface="Arial" panose="020B0604020202020204" pitchFamily="34" charset="0"/>
                <a:ea typeface="DengXian" panose="02010600030101010101" pitchFamily="2" charset="-122"/>
              </a:rPr>
              <a:t>+ Enteritis </a:t>
            </a:r>
            <a:endParaRPr lang="en-US" sz="2000" b="1" i="1" dirty="0">
              <a:effectLst/>
              <a:latin typeface="Arial" panose="020B0604020202020204" pitchFamily="34" charset="0"/>
              <a:ea typeface="DengXian" panose="02010600030101010101" pitchFamily="2" charset="-122"/>
            </a:endParaRPr>
          </a:p>
          <a:p>
            <a:pPr algn="ctr"/>
            <a:r>
              <a:rPr lang="en-US" sz="2000" b="1" i="1" dirty="0">
                <a:latin typeface="Arial" panose="020B0604020202020204" pitchFamily="34" charset="0"/>
                <a:ea typeface="DengXian" panose="02010600030101010101" pitchFamily="2" charset="-122"/>
              </a:rPr>
              <a:t>+</a:t>
            </a:r>
            <a:r>
              <a:rPr lang="en-US" sz="2000" b="1" i="1" dirty="0">
                <a:effectLst/>
                <a:latin typeface="Arial" panose="020B0604020202020204" pitchFamily="34" charset="0"/>
                <a:ea typeface="DengXian" panose="02010600030101010101" pitchFamily="2" charset="-122"/>
              </a:rPr>
              <a:t> transaminitis + Azotemia + </a:t>
            </a:r>
            <a:r>
              <a:rPr lang="en-US" sz="2000" b="1" i="1" dirty="0">
                <a:latin typeface="Arial" panose="020B0604020202020204" pitchFamily="34" charset="0"/>
                <a:ea typeface="DengXian" panose="02010600030101010101" pitchFamily="2" charset="-122"/>
              </a:rPr>
              <a:t>Upper GI B</a:t>
            </a:r>
            <a:r>
              <a:rPr lang="en-US" sz="2000" b="1" i="1" dirty="0">
                <a:effectLst/>
                <a:latin typeface="Arial" panose="020B0604020202020204" pitchFamily="34" charset="0"/>
                <a:ea typeface="DengXian" panose="02010600030101010101" pitchFamily="2" charset="-122"/>
              </a:rPr>
              <a:t>leeding + Status </a:t>
            </a:r>
            <a:r>
              <a:rPr lang="en-US" sz="2000" b="1" i="1" dirty="0" err="1">
                <a:effectLst/>
                <a:latin typeface="Arial" panose="020B0604020202020204" pitchFamily="34" charset="0"/>
                <a:ea typeface="DengXian" panose="02010600030101010101" pitchFamily="2" charset="-122"/>
              </a:rPr>
              <a:t>Epileptikus</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O.k</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perdarahan</a:t>
            </a:r>
            <a:r>
              <a:rPr lang="en-US" sz="2000" b="1" i="1" dirty="0">
                <a:effectLst/>
                <a:latin typeface="Arial" panose="020B0604020202020204" pitchFamily="34" charset="0"/>
                <a:ea typeface="DengXian" panose="02010600030101010101" pitchFamily="2" charset="-122"/>
              </a:rPr>
              <a:t> dd </a:t>
            </a:r>
            <a:r>
              <a:rPr lang="en-US" sz="2000" b="1" i="1" dirty="0" err="1">
                <a:latin typeface="Arial" panose="020B0604020202020204" pitchFamily="34" charset="0"/>
                <a:ea typeface="DengXian" panose="02010600030101010101" pitchFamily="2" charset="-122"/>
              </a:rPr>
              <a:t>elektrolit</a:t>
            </a:r>
            <a:r>
              <a:rPr lang="en-US" sz="2000" b="1" i="1" dirty="0">
                <a:latin typeface="Arial" panose="020B0604020202020204" pitchFamily="34" charset="0"/>
                <a:ea typeface="DengXian" panose="02010600030101010101" pitchFamily="2" charset="-122"/>
              </a:rPr>
              <a:t> imbalance dd </a:t>
            </a:r>
            <a:r>
              <a:rPr lang="en-US" sz="2000" b="1" i="1" dirty="0" err="1">
                <a:latin typeface="Arial" panose="020B0604020202020204" pitchFamily="34" charset="0"/>
                <a:ea typeface="DengXian" panose="02010600030101010101" pitchFamily="2" charset="-122"/>
              </a:rPr>
              <a:t>ensefalitis</a:t>
            </a:r>
            <a:r>
              <a:rPr lang="en-US" sz="2000" b="1" i="1" dirty="0">
                <a:effectLst/>
                <a:latin typeface="Arial" panose="020B0604020202020204" pitchFamily="34" charset="0"/>
                <a:ea typeface="DengXian" panose="02010600030101010101" pitchFamily="2" charset="-122"/>
              </a:rPr>
              <a:t> + Hyponatremia </a:t>
            </a:r>
            <a:endParaRPr lang="en-ID" sz="2000" b="1" i="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364" name="AutoShape 2"/>
          <p:cNvCxnSpPr>
            <a:cxnSpLocks noChangeShapeType="1"/>
          </p:cNvCxnSpPr>
          <p:nvPr/>
        </p:nvCxnSpPr>
        <p:spPr bwMode="auto">
          <a:xfrm>
            <a:off x="-180330" y="1924934"/>
            <a:ext cx="8959850" cy="31750"/>
          </a:xfrm>
          <a:prstGeom prst="straightConnector1">
            <a:avLst/>
          </a:prstGeom>
          <a:noFill/>
          <a:ln w="50800">
            <a:solidFill>
              <a:srgbClr val="FFC000"/>
            </a:solidFill>
            <a:round/>
          </a:ln>
        </p:spPr>
      </p:cxnSp>
      <p:sp>
        <p:nvSpPr>
          <p:cNvPr id="11269" name="Text Box 3"/>
          <p:cNvSpPr txBox="1">
            <a:spLocks noChangeArrowheads="1"/>
          </p:cNvSpPr>
          <p:nvPr/>
        </p:nvSpPr>
        <p:spPr bwMode="auto">
          <a:xfrm>
            <a:off x="67044" y="717462"/>
            <a:ext cx="8720809" cy="935219"/>
          </a:xfrm>
          <a:prstGeom prst="rect">
            <a:avLst/>
          </a:prstGeom>
          <a:noFill/>
          <a:ln w="9525">
            <a:solidFill>
              <a:srgbClr val="FFC000"/>
            </a:solidFill>
            <a:miter lim="800000"/>
          </a:ln>
        </p:spPr>
        <p:txBody>
          <a:bodyPr/>
          <a:lstStyle/>
          <a:p>
            <a:pPr marL="85725" lvl="1" algn="ctr">
              <a:buClr>
                <a:schemeClr val="accent2">
                  <a:shade val="75000"/>
                </a:schemeClr>
              </a:buClr>
              <a:defRPr/>
            </a:pPr>
            <a:r>
              <a:rPr lang="en-US" sz="2000" dirty="0"/>
              <a:t>PX </a:t>
            </a:r>
            <a:r>
              <a:rPr lang="en-US" sz="2000" dirty="0" err="1"/>
              <a:t>mengeluh</a:t>
            </a:r>
            <a:r>
              <a:rPr lang="en-US" sz="2000" dirty="0"/>
              <a:t> </a:t>
            </a:r>
            <a:r>
              <a:rPr lang="en-US" sz="2000" dirty="0" err="1"/>
              <a:t>pusing</a:t>
            </a:r>
            <a:r>
              <a:rPr lang="en-US" sz="2000" dirty="0"/>
              <a:t>, dan </a:t>
            </a:r>
            <a:r>
              <a:rPr lang="en-US" sz="2000" dirty="0" err="1"/>
              <a:t>nyeri</a:t>
            </a:r>
            <a:r>
              <a:rPr lang="en-US" sz="2000" dirty="0"/>
              <a:t> </a:t>
            </a:r>
            <a:r>
              <a:rPr lang="en-US" sz="2000" dirty="0" err="1"/>
              <a:t>perut</a:t>
            </a:r>
            <a:r>
              <a:rPr lang="en-US" sz="2000" dirty="0"/>
              <a:t>. K/u </a:t>
            </a:r>
            <a:r>
              <a:rPr lang="en-US" sz="2000" dirty="0" err="1"/>
              <a:t>lemah</a:t>
            </a:r>
            <a:r>
              <a:rPr lang="en-US" sz="2000" dirty="0"/>
              <a:t>, GCS 456, ngosrong ,</a:t>
            </a:r>
            <a:r>
              <a:rPr lang="en-US" sz="2000" dirty="0" err="1"/>
              <a:t>sesak</a:t>
            </a:r>
            <a:r>
              <a:rPr lang="en-US" sz="2000" dirty="0"/>
              <a:t>, RR 36, S :36,5,  HR : 123x/</a:t>
            </a:r>
            <a:r>
              <a:rPr lang="en-US" sz="2000" dirty="0" err="1"/>
              <a:t>mnt</a:t>
            </a:r>
            <a:r>
              <a:rPr lang="en-US" sz="2000" dirty="0"/>
              <a:t>, SpO2 : 96%, TD : 116/83, edema </a:t>
            </a:r>
            <a:r>
              <a:rPr lang="en-US" sz="2000" dirty="0" err="1"/>
              <a:t>ekstermitas</a:t>
            </a:r>
            <a:r>
              <a:rPr lang="en-US" sz="2000" dirty="0"/>
              <a:t>  ++/++, Palpebrae </a:t>
            </a:r>
            <a:r>
              <a:rPr lang="en-US" sz="2000" dirty="0" err="1"/>
              <a:t>edem</a:t>
            </a:r>
            <a:r>
              <a:rPr lang="en-US" sz="2000" dirty="0"/>
              <a:t> (+), </a:t>
            </a:r>
            <a:r>
              <a:rPr lang="en-US" sz="2000" dirty="0" err="1"/>
              <a:t>mata</a:t>
            </a:r>
            <a:r>
              <a:rPr lang="en-US" sz="2000" dirty="0"/>
              <a:t> </a:t>
            </a:r>
            <a:r>
              <a:rPr lang="en-US" sz="2000" dirty="0" err="1"/>
              <a:t>merah</a:t>
            </a:r>
            <a:r>
              <a:rPr lang="en-US" sz="2000" dirty="0"/>
              <a:t> </a:t>
            </a:r>
            <a:r>
              <a:rPr lang="en-US" sz="2000" dirty="0" err="1"/>
              <a:t>keduanya</a:t>
            </a:r>
            <a:r>
              <a:rPr lang="en-US" sz="2000" dirty="0"/>
              <a:t>, </a:t>
            </a:r>
            <a:r>
              <a:rPr lang="en-US" sz="2000" dirty="0" err="1"/>
              <a:t>Diit</a:t>
            </a:r>
            <a:r>
              <a:rPr lang="en-US" sz="2000" dirty="0"/>
              <a:t> </a:t>
            </a:r>
            <a:r>
              <a:rPr lang="en-US" sz="2000" dirty="0" err="1"/>
              <a:t>cair</a:t>
            </a:r>
            <a:r>
              <a:rPr lang="en-US" sz="2000" dirty="0"/>
              <a:t> 3x300ml (+)</a:t>
            </a:r>
            <a:endParaRPr lang="id-ID" sz="2000" dirty="0"/>
          </a:p>
        </p:txBody>
      </p:sp>
      <p:sp>
        <p:nvSpPr>
          <p:cNvPr id="11273" name="Text Box 6"/>
          <p:cNvSpPr txBox="1">
            <a:spLocks noChangeArrowheads="1"/>
          </p:cNvSpPr>
          <p:nvPr/>
        </p:nvSpPr>
        <p:spPr bwMode="auto">
          <a:xfrm>
            <a:off x="3873287" y="1668643"/>
            <a:ext cx="1841713" cy="301625"/>
          </a:xfrm>
          <a:prstGeom prst="rect">
            <a:avLst/>
          </a:prstGeom>
          <a:solidFill>
            <a:schemeClr val="bg1"/>
          </a:solidFill>
          <a:ln w="9525">
            <a:solidFill>
              <a:schemeClr val="tx1"/>
            </a:solidFill>
            <a:miter lim="800000"/>
          </a:ln>
        </p:spPr>
        <p:txBody>
          <a:bodyPr/>
          <a:lstStyle/>
          <a:p>
            <a:pPr algn="ctr">
              <a:spcAft>
                <a:spcPts val="1000"/>
              </a:spcAft>
              <a:buFont typeface="Wingdings 2" panose="05020102010507070707" pitchFamily="18" charset="2"/>
              <a:buNone/>
              <a:defRPr/>
            </a:pPr>
            <a:r>
              <a:rPr lang="en-US" sz="1400" dirty="0">
                <a:cs typeface="Arial" panose="020B0604020202020204" pitchFamily="34" charset="0"/>
              </a:rPr>
              <a:t>19-6-2025(11.00)</a:t>
            </a:r>
            <a:r>
              <a:rPr lang="id-ID" sz="1400" dirty="0">
                <a:cs typeface="Arial" panose="020B0604020202020204" pitchFamily="34" charset="0"/>
              </a:rPr>
              <a:t> </a:t>
            </a:r>
            <a:endParaRPr lang="en-US" sz="1400" dirty="0">
              <a:cs typeface="Arial" panose="020B0604020202020204" pitchFamily="34" charset="0"/>
            </a:endParaRPr>
          </a:p>
          <a:p>
            <a:pPr algn="ctr">
              <a:spcAft>
                <a:spcPts val="1000"/>
              </a:spcAft>
              <a:buFont typeface="Arial" panose="020B0604020202020204" pitchFamily="34" charset="0"/>
              <a:buNone/>
              <a:defRPr/>
            </a:pPr>
            <a:endParaRPr lang="id-ID" altLang="en-US" sz="1400" b="1" dirty="0">
              <a:cs typeface="Arial" panose="020B0604020202020204" pitchFamily="34" charset="0"/>
            </a:endParaRPr>
          </a:p>
        </p:txBody>
      </p:sp>
      <p:sp>
        <p:nvSpPr>
          <p:cNvPr id="15367" name="Text Box 14"/>
          <p:cNvSpPr txBox="1">
            <a:spLocks noChangeArrowheads="1"/>
          </p:cNvSpPr>
          <p:nvPr/>
        </p:nvSpPr>
        <p:spPr bwMode="auto">
          <a:xfrm>
            <a:off x="3848736" y="381728"/>
            <a:ext cx="1512887" cy="266700"/>
          </a:xfrm>
          <a:prstGeom prst="rect">
            <a:avLst/>
          </a:prstGeom>
          <a:solidFill>
            <a:schemeClr val="bg2"/>
          </a:solidFill>
          <a:ln w="9525">
            <a:solidFill>
              <a:schemeClr val="tx1"/>
            </a:solidFill>
            <a:miter lim="800000"/>
          </a:ln>
        </p:spPr>
        <p:txBody>
          <a:bodyPr/>
          <a:lstStyle/>
          <a:p>
            <a:pPr algn="ctr">
              <a:lnSpc>
                <a:spcPct val="115000"/>
              </a:lnSpc>
            </a:pPr>
            <a:r>
              <a:rPr lang="en-US" altLang="en-US" sz="1400" dirty="0">
                <a:cs typeface="Arial" panose="020B0604020202020204" pitchFamily="34" charset="0"/>
              </a:rPr>
              <a:t>PICU</a:t>
            </a:r>
            <a:endParaRPr lang="id-ID" altLang="en-US" sz="1400" dirty="0">
              <a:cs typeface="Arial" panose="020B0604020202020204" pitchFamily="34" charset="0"/>
            </a:endParaRPr>
          </a:p>
        </p:txBody>
      </p:sp>
      <p:sp>
        <p:nvSpPr>
          <p:cNvPr id="23" name="Subtitle 2"/>
          <p:cNvSpPr txBox="1">
            <a:spLocks noChangeArrowheads="1"/>
          </p:cNvSpPr>
          <p:nvPr/>
        </p:nvSpPr>
        <p:spPr bwMode="auto">
          <a:xfrm>
            <a:off x="683730" y="-41679"/>
            <a:ext cx="7725633" cy="380241"/>
          </a:xfrm>
          <a:prstGeom prst="rect">
            <a:avLst/>
          </a:prstGeom>
          <a:noFill/>
          <a:ln w="9525">
            <a:noFill/>
            <a:miter lim="800000"/>
          </a:ln>
        </p:spPr>
        <p:txBody>
          <a:bodyPr vert="horz" wrap="square" lIns="91440" tIns="45720" rIns="91440" bIns="45720" numCol="1" anchor="t" anchorCtr="0" compatLnSpc="1"/>
          <a:lstStyle/>
          <a:p>
            <a:pPr algn="ctr" eaLnBrk="1" fontAlgn="auto" hangingPunct="1">
              <a:spcAft>
                <a:spcPts val="0"/>
              </a:spcAft>
              <a:defRPr/>
            </a:pPr>
            <a:endParaRPr lang="id-ID">
              <a:latin typeface="+mn-lt"/>
            </a:endParaRPr>
          </a:p>
        </p:txBody>
      </p:sp>
      <p:sp>
        <p:nvSpPr>
          <p:cNvPr id="30" name="Text Box 3"/>
          <p:cNvSpPr txBox="1">
            <a:spLocks noChangeArrowheads="1"/>
          </p:cNvSpPr>
          <p:nvPr/>
        </p:nvSpPr>
        <p:spPr bwMode="auto">
          <a:xfrm>
            <a:off x="194310" y="3124200"/>
            <a:ext cx="8764905" cy="3480435"/>
          </a:xfrm>
          <a:prstGeom prst="rect">
            <a:avLst/>
          </a:prstGeom>
          <a:noFill/>
          <a:ln w="9525">
            <a:solidFill>
              <a:srgbClr val="FFC000"/>
            </a:solidFill>
            <a:miter lim="800000"/>
          </a:ln>
        </p:spPr>
        <p:txBody>
          <a:bodyPr/>
          <a:lstStyle/>
          <a:p>
            <a:pPr marL="85725" lvl="1">
              <a:defRPr/>
            </a:pPr>
            <a:r>
              <a:rPr lang="en-US" sz="1600" dirty="0" err="1">
                <a:cs typeface="Arial" panose="020B0604020202020204" pitchFamily="34" charset="0"/>
              </a:rPr>
              <a:t>Lapor</a:t>
            </a:r>
            <a:r>
              <a:rPr lang="en-US" sz="1600" dirty="0">
                <a:cs typeface="Arial" panose="020B0604020202020204" pitchFamily="34" charset="0"/>
              </a:rPr>
              <a:t> </a:t>
            </a:r>
            <a:r>
              <a:rPr lang="en-US" sz="1600" dirty="0" err="1">
                <a:cs typeface="Arial" panose="020B0604020202020204" pitchFamily="34" charset="0"/>
              </a:rPr>
              <a:t>kondisi</a:t>
            </a:r>
            <a:r>
              <a:rPr lang="en-US" sz="1600" dirty="0">
                <a:cs typeface="Arial" panose="020B0604020202020204" pitchFamily="34" charset="0"/>
              </a:rPr>
              <a:t> </a:t>
            </a:r>
            <a:r>
              <a:rPr lang="en-US" sz="1600" dirty="0" err="1">
                <a:cs typeface="Arial" panose="020B0604020202020204" pitchFamily="34" charset="0"/>
              </a:rPr>
              <a:t>pasien</a:t>
            </a:r>
            <a:r>
              <a:rPr lang="en-US" sz="1600" dirty="0">
                <a:cs typeface="Arial" panose="020B0604020202020204" pitchFamily="34" charset="0"/>
              </a:rPr>
              <a:t> via WA</a:t>
            </a:r>
            <a:endParaRPr lang="en-US" sz="1600" dirty="0">
              <a:cs typeface="Arial" panose="020B0604020202020204" pitchFamily="34"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Ku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lemah</a:t>
            </a:r>
            <a:r>
              <a:rPr lang="en-US" sz="1400" dirty="0">
                <a:effectLst/>
                <a:latin typeface="Arial" panose="020B0604020202020204" pitchFamily="34" charset="0"/>
                <a:ea typeface="DengXian" panose="02010600030101010101" pitchFamily="2" charset="-122"/>
                <a:cs typeface="Times New Roman" panose="02020603050405020304" pitchFamily="18" charset="0"/>
              </a:rPr>
              <a:t> ,sesak, gelisah, GCS 456</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N : 119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Spo</a:t>
            </a:r>
            <a:r>
              <a:rPr lang="en-US" sz="1400" dirty="0">
                <a:effectLst/>
                <a:latin typeface="Arial" panose="020B0604020202020204" pitchFamily="34" charset="0"/>
                <a:ea typeface="DengXian" panose="02010600030101010101" pitchFamily="2" charset="-122"/>
                <a:cs typeface="Times New Roman" panose="02020603050405020304" pitchFamily="18" charset="0"/>
              </a:rPr>
              <a:t> : 96%,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Nafas</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Spontan</a:t>
            </a:r>
            <a:r>
              <a:rPr lang="en-US" sz="1400" dirty="0">
                <a:effectLst/>
                <a:latin typeface="Arial" panose="020B0604020202020204" pitchFamily="34" charset="0"/>
                <a:ea typeface="DengXian" panose="02010600030101010101" pitchFamily="2" charset="-122"/>
                <a:cs typeface="Times New Roman" panose="02020603050405020304" pitchFamily="18" charset="0"/>
              </a:rPr>
              <a:t> Support O2 NRBM 6 lpm </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TD : 116/83   	S : 36,3 </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pPr marL="85725" lvl="1">
              <a:defRPr/>
            </a:pPr>
            <a:r>
              <a:rPr lang="en-US" sz="1600" dirty="0">
                <a:cs typeface="Arial" panose="020B0604020202020204" pitchFamily="34" charset="0"/>
              </a:rPr>
              <a:t>A/p :</a:t>
            </a:r>
            <a:endParaRPr lang="en-US" sz="1600" dirty="0">
              <a:cs typeface="Arial" panose="020B0604020202020204" pitchFamily="34" charset="0"/>
            </a:endParaRPr>
          </a:p>
          <a:p>
            <a:pPr marL="542925" lvl="1" indent="-457200">
              <a:buAutoNum type="arabicPeriod"/>
              <a:defRPr/>
            </a:pPr>
            <a:r>
              <a:rPr lang="en-US" sz="1600" dirty="0">
                <a:latin typeface="+mn-lt"/>
                <a:cs typeface="Arial" panose="020B0604020202020204" pitchFamily="34" charset="0"/>
              </a:rPr>
              <a:t>R/</a:t>
            </a:r>
            <a:r>
              <a:rPr lang="en-US" sz="1600" dirty="0" err="1">
                <a:latin typeface="+mn-lt"/>
                <a:cs typeface="Arial" panose="020B0604020202020204" pitchFamily="34" charset="0"/>
              </a:rPr>
              <a:t>Foto</a:t>
            </a:r>
            <a:r>
              <a:rPr lang="en-US" sz="1600" dirty="0">
                <a:latin typeface="+mn-lt"/>
                <a:cs typeface="Arial" panose="020B0604020202020204" pitchFamily="34" charset="0"/>
              </a:rPr>
              <a:t> Thorax (-) </a:t>
            </a:r>
            <a:r>
              <a:rPr lang="en-US" sz="1600" dirty="0">
                <a:cs typeface="Arial" panose="020B0604020202020204" pitchFamily="34" charset="0"/>
              </a:rPr>
              <a:t> (</a:t>
            </a:r>
            <a:r>
              <a:rPr lang="en-US" sz="1600" dirty="0" err="1">
                <a:cs typeface="Arial" panose="020B0604020202020204" pitchFamily="34" charset="0"/>
              </a:rPr>
              <a:t>pasien</a:t>
            </a:r>
            <a:r>
              <a:rPr lang="en-US" sz="1600" dirty="0">
                <a:cs typeface="Arial" panose="020B0604020202020204" pitchFamily="34" charset="0"/>
              </a:rPr>
              <a:t> </a:t>
            </a:r>
            <a:r>
              <a:rPr lang="en-US" sz="1600" dirty="0" err="1">
                <a:cs typeface="Arial" panose="020B0604020202020204" pitchFamily="34" charset="0"/>
              </a:rPr>
              <a:t>tidak</a:t>
            </a:r>
            <a:r>
              <a:rPr lang="en-US" sz="1600" dirty="0">
                <a:cs typeface="Arial" panose="020B0604020202020204" pitchFamily="34" charset="0"/>
              </a:rPr>
              <a:t> transportable)</a:t>
            </a:r>
            <a:endParaRPr lang="en-US" sz="1600" dirty="0">
              <a:cs typeface="Arial" panose="020B0604020202020204" pitchFamily="34" charset="0"/>
            </a:endParaRPr>
          </a:p>
          <a:p>
            <a:pPr marL="542925" lvl="1" indent="-457200">
              <a:buAutoNum type="arabicPeriod"/>
              <a:defRPr/>
            </a:pPr>
            <a:r>
              <a:rPr lang="en-US" sz="1600" dirty="0">
                <a:latin typeface="+mn-lt"/>
                <a:cs typeface="Arial" panose="020B0604020202020204" pitchFamily="34" charset="0"/>
              </a:rPr>
              <a:t>GDS =&gt; 150 mg/dl jam 11.30</a:t>
            </a:r>
            <a:endParaRPr lang="en-US" sz="1600" dirty="0">
              <a:cs typeface="Arial" panose="020B0604020202020204" pitchFamily="34" charset="0"/>
            </a:endParaRPr>
          </a:p>
          <a:p>
            <a:pPr marL="542925" lvl="1" indent="-457200">
              <a:buAutoNum type="arabicPeriod"/>
              <a:defRPr/>
            </a:pPr>
            <a:r>
              <a:rPr lang="en-US" sz="1400" dirty="0">
                <a:effectLst/>
                <a:latin typeface="Arial" panose="020B0604020202020204" pitchFamily="34" charset="0"/>
                <a:ea typeface="DengXian" panose="02010600030101010101" pitchFamily="2" charset="-122"/>
                <a:cs typeface="Times New Roman" panose="02020603050405020304" pitchFamily="18" charset="0"/>
              </a:rPr>
              <a:t>⁠inf C1.1 1000cc/24 </a:t>
            </a:r>
            <a:endParaRPr lang="en-US" sz="1400" dirty="0">
              <a:effectLst/>
              <a:latin typeface="Arial" panose="020B0604020202020204" pitchFamily="34" charset="0"/>
              <a:ea typeface="DengXian" panose="02010600030101010101" pitchFamily="2" charset="-122"/>
              <a:cs typeface="Times New Roman" panose="02020603050405020304" pitchFamily="18" charset="0"/>
            </a:endParaRPr>
          </a:p>
          <a:p>
            <a:pPr marL="542925" lvl="1" indent="-457200">
              <a:buAutoNum type="arabicPeriod"/>
              <a:defRPr/>
            </a:pPr>
            <a:r>
              <a:rPr lang="en-US" sz="1400" dirty="0">
                <a:effectLst/>
                <a:latin typeface="Arial" panose="020B0604020202020204" pitchFamily="34" charset="0"/>
                <a:ea typeface="DengXian" panose="02010600030101010101" pitchFamily="2" charset="-122"/>
                <a:cs typeface="Times New Roman" panose="02020603050405020304" pitchFamily="18" charset="0"/>
              </a:rPr>
              <a:t>jam diet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cair</a:t>
            </a:r>
            <a:r>
              <a:rPr lang="en-US" sz="1400" dirty="0">
                <a:effectLst/>
                <a:latin typeface="Arial" panose="020B0604020202020204" pitchFamily="34" charset="0"/>
                <a:ea typeface="DengXian" panose="02010600030101010101" pitchFamily="2" charset="-122"/>
                <a:cs typeface="Times New Roman" panose="02020603050405020304" pitchFamily="18" charset="0"/>
              </a:rPr>
              <a:t> 3x300 cc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boleh</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minum</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tapi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jangan</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banyak</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banyak</a:t>
            </a:r>
            <a:endParaRPr lang="en-ID" sz="1400" dirty="0">
              <a:latin typeface="Calibri" panose="020F0502020204030204" charset="0"/>
              <a:ea typeface="DengXian" panose="02010600030101010101" pitchFamily="2" charset="-122"/>
              <a:cs typeface="Times New Roman" panose="02020603050405020304" pitchFamily="18" charset="0"/>
            </a:endParaRPr>
          </a:p>
          <a:p>
            <a:pPr marL="542925" lvl="1" indent="-457200">
              <a:buAutoNum type="arabicPeriod"/>
              <a:defRPr/>
            </a:pPr>
            <a:r>
              <a:rPr lang="en-US" sz="1400" dirty="0" err="1">
                <a:effectLst/>
                <a:latin typeface="Arial" panose="020B0604020202020204" pitchFamily="34" charset="0"/>
                <a:ea typeface="DengXian" panose="02010600030101010101" pitchFamily="2" charset="-122"/>
                <a:cs typeface="Times New Roman" panose="02020603050405020304" pitchFamily="18" charset="0"/>
              </a:rPr>
              <a:t>naikan</a:t>
            </a:r>
            <a:r>
              <a:rPr lang="en-US" sz="1400" dirty="0">
                <a:effectLst/>
                <a:latin typeface="Arial" panose="020B0604020202020204" pitchFamily="34" charset="0"/>
                <a:ea typeface="DengXian" panose="02010600030101010101" pitchFamily="2" charset="-122"/>
                <a:cs typeface="Times New Roman" panose="02020603050405020304" pitchFamily="18" charset="0"/>
              </a:rPr>
              <a:t> 8 lpm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kalau</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masih</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sesak</a:t>
            </a:r>
            <a:endParaRPr lang="en-ID" sz="1400" dirty="0">
              <a:latin typeface="Calibri" panose="020F0502020204030204" charset="0"/>
              <a:ea typeface="DengXian" panose="02010600030101010101" pitchFamily="2" charset="-122"/>
              <a:cs typeface="Times New Roman" panose="02020603050405020304" pitchFamily="18" charset="0"/>
            </a:endParaRPr>
          </a:p>
          <a:p>
            <a:pPr marL="542925" lvl="1" indent="-457200">
              <a:buAutoNum type="arabicPeriod"/>
              <a:defRPr/>
            </a:pPr>
            <a:r>
              <a:rPr lang="en-US" sz="1400" dirty="0">
                <a:effectLst/>
                <a:latin typeface="Arial" panose="020B0604020202020204" pitchFamily="34" charset="0"/>
                <a:ea typeface="DengXian" panose="02010600030101010101" pitchFamily="2" charset="-122"/>
                <a:cs typeface="Times New Roman" panose="02020603050405020304" pitchFamily="18" charset="0"/>
              </a:rPr>
              <a:t>KIE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perburukan</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kondisi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hingga</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meninggal</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endParaRPr lang="en-US" sz="1400" dirty="0">
              <a:effectLst/>
              <a:latin typeface="Arial" panose="020B0604020202020204" pitchFamily="34" charset="0"/>
              <a:ea typeface="DengXian" panose="02010600030101010101" pitchFamily="2" charset="-122"/>
              <a:cs typeface="Times New Roman" panose="02020603050405020304" pitchFamily="18" charset="0"/>
            </a:endParaRPr>
          </a:p>
          <a:p>
            <a:pPr marL="85725" lvl="1" indent="0">
              <a:buNone/>
              <a:defRPr/>
            </a:pPr>
            <a:endParaRPr lang="en-US" altLang="en-ID" sz="1600" dirty="0">
              <a:effectLst/>
              <a:latin typeface="Calibri" panose="020F0502020204030204" charset="0"/>
              <a:ea typeface="DengXian" panose="02010600030101010101" pitchFamily="2" charset="-122"/>
              <a:cs typeface="Times New Roman" panose="02020603050405020304" pitchFamily="18" charset="0"/>
            </a:endParaRPr>
          </a:p>
          <a:p>
            <a:pPr marL="85725" lvl="1" indent="0">
              <a:buNone/>
              <a:defRPr/>
            </a:pPr>
            <a:r>
              <a:rPr lang="en-US" altLang="en-ID" sz="1600" dirty="0">
                <a:effectLst/>
                <a:latin typeface="Calibri" panose="020F0502020204030204" charset="0"/>
                <a:ea typeface="DengXian" panose="02010600030101010101" pitchFamily="2" charset="-122"/>
                <a:cs typeface="Times New Roman" panose="02020603050405020304" pitchFamily="18" charset="0"/>
              </a:rPr>
              <a:t>pukul 12.00 obs kondisi ku lemah , sesak , ngosrong hr 119 , rr 38 , suhu 36 , 2 , spo2 95% o2 nrbm 8 lpm , odema extremitas (+), odema palpebra (+) , terdapat bercak merah dimata , dc + , produksi urine minimal kuning keruh 200 cc cc</a:t>
            </a:r>
            <a:endParaRPr lang="en-ID" sz="16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 </a:t>
            </a:r>
            <a:endParaRPr lang="en-ID" sz="1400" dirty="0">
              <a:effectLst/>
              <a:latin typeface="Calibri" panose="020F0502020204030204" charset="0"/>
              <a:ea typeface="DengXian" panose="02010600030101010101" pitchFamily="2" charset="-122"/>
              <a:cs typeface="Times New Roman" panose="02020603050405020304" pitchFamily="18" charset="0"/>
            </a:endParaRPr>
          </a:p>
        </p:txBody>
      </p:sp>
      <p:sp>
        <p:nvSpPr>
          <p:cNvPr id="14" name="Text Box 14"/>
          <p:cNvSpPr txBox="1">
            <a:spLocks noChangeArrowheads="1"/>
          </p:cNvSpPr>
          <p:nvPr/>
        </p:nvSpPr>
        <p:spPr bwMode="auto">
          <a:xfrm>
            <a:off x="67044" y="2039302"/>
            <a:ext cx="8959003" cy="932497"/>
          </a:xfrm>
          <a:prstGeom prst="rect">
            <a:avLst/>
          </a:prstGeom>
          <a:solidFill>
            <a:schemeClr val="bg2"/>
          </a:solidFill>
          <a:ln w="9525">
            <a:solidFill>
              <a:schemeClr val="tx1"/>
            </a:solidFill>
            <a:miter lim="800000"/>
          </a:ln>
        </p:spPr>
        <p:txBody>
          <a:bodyPr/>
          <a:lstStyle/>
          <a:p>
            <a:pPr algn="ctr"/>
            <a:r>
              <a:rPr lang="en-US" sz="2000" b="1" i="1" dirty="0">
                <a:effectLst/>
                <a:latin typeface="Arial" panose="020B0604020202020204" pitchFamily="34" charset="0"/>
                <a:ea typeface="DengXian" panose="02010600030101010101" pitchFamily="2" charset="-122"/>
              </a:rPr>
              <a:t>DSS + </a:t>
            </a:r>
            <a:r>
              <a:rPr lang="en-US" sz="2000" b="1" i="1" dirty="0">
                <a:latin typeface="Arial" panose="020B0604020202020204" pitchFamily="34" charset="0"/>
                <a:ea typeface="DengXian" panose="02010600030101010101" pitchFamily="2" charset="-122"/>
              </a:rPr>
              <a:t>Overweight</a:t>
            </a:r>
            <a:r>
              <a:rPr lang="en-US" sz="2000" b="1" i="1" dirty="0">
                <a:effectLst/>
                <a:latin typeface="Arial" panose="020B0604020202020204" pitchFamily="34" charset="0"/>
                <a:ea typeface="DengXian" panose="02010600030101010101" pitchFamily="2" charset="-122"/>
              </a:rPr>
              <a:t>+ Enteritis </a:t>
            </a:r>
            <a:endParaRPr lang="en-US" sz="2000" b="1" i="1" dirty="0">
              <a:effectLst/>
              <a:latin typeface="Arial" panose="020B0604020202020204" pitchFamily="34" charset="0"/>
              <a:ea typeface="DengXian" panose="02010600030101010101" pitchFamily="2" charset="-122"/>
            </a:endParaRPr>
          </a:p>
          <a:p>
            <a:pPr algn="ctr"/>
            <a:r>
              <a:rPr lang="en-US" sz="2000" b="1" i="1" dirty="0">
                <a:latin typeface="Arial" panose="020B0604020202020204" pitchFamily="34" charset="0"/>
                <a:ea typeface="DengXian" panose="02010600030101010101" pitchFamily="2" charset="-122"/>
              </a:rPr>
              <a:t>+</a:t>
            </a:r>
            <a:r>
              <a:rPr lang="en-US" sz="2000" b="1" i="1" dirty="0">
                <a:effectLst/>
                <a:latin typeface="Arial" panose="020B0604020202020204" pitchFamily="34" charset="0"/>
                <a:ea typeface="DengXian" panose="02010600030101010101" pitchFamily="2" charset="-122"/>
              </a:rPr>
              <a:t> transaminitis + Azotemia + </a:t>
            </a:r>
            <a:r>
              <a:rPr lang="en-US" sz="2000" b="1" i="1" dirty="0">
                <a:latin typeface="Arial" panose="020B0604020202020204" pitchFamily="34" charset="0"/>
                <a:ea typeface="DengXian" panose="02010600030101010101" pitchFamily="2" charset="-122"/>
              </a:rPr>
              <a:t>Upper GI B</a:t>
            </a:r>
            <a:r>
              <a:rPr lang="en-US" sz="2000" b="1" i="1" dirty="0">
                <a:effectLst/>
                <a:latin typeface="Arial" panose="020B0604020202020204" pitchFamily="34" charset="0"/>
                <a:ea typeface="DengXian" panose="02010600030101010101" pitchFamily="2" charset="-122"/>
              </a:rPr>
              <a:t>leeding + Status </a:t>
            </a:r>
            <a:r>
              <a:rPr lang="en-US" sz="2000" b="1" i="1" dirty="0" err="1">
                <a:effectLst/>
                <a:latin typeface="Arial" panose="020B0604020202020204" pitchFamily="34" charset="0"/>
                <a:ea typeface="DengXian" panose="02010600030101010101" pitchFamily="2" charset="-122"/>
              </a:rPr>
              <a:t>Epileptikus</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O.k</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perdarahan</a:t>
            </a:r>
            <a:r>
              <a:rPr lang="en-US" sz="2000" b="1" i="1" dirty="0">
                <a:effectLst/>
                <a:latin typeface="Arial" panose="020B0604020202020204" pitchFamily="34" charset="0"/>
                <a:ea typeface="DengXian" panose="02010600030101010101" pitchFamily="2" charset="-122"/>
              </a:rPr>
              <a:t> dd </a:t>
            </a:r>
            <a:r>
              <a:rPr lang="en-US" sz="2000" b="1" i="1" dirty="0" err="1">
                <a:latin typeface="Arial" panose="020B0604020202020204" pitchFamily="34" charset="0"/>
                <a:ea typeface="DengXian" panose="02010600030101010101" pitchFamily="2" charset="-122"/>
              </a:rPr>
              <a:t>elektrolit</a:t>
            </a:r>
            <a:r>
              <a:rPr lang="en-US" sz="2000" b="1" i="1" dirty="0">
                <a:latin typeface="Arial" panose="020B0604020202020204" pitchFamily="34" charset="0"/>
                <a:ea typeface="DengXian" panose="02010600030101010101" pitchFamily="2" charset="-122"/>
              </a:rPr>
              <a:t> imbalance dd </a:t>
            </a:r>
            <a:r>
              <a:rPr lang="en-US" sz="2000" b="1" i="1" dirty="0" err="1">
                <a:latin typeface="Arial" panose="020B0604020202020204" pitchFamily="34" charset="0"/>
                <a:ea typeface="DengXian" panose="02010600030101010101" pitchFamily="2" charset="-122"/>
              </a:rPr>
              <a:t>ensefalitis</a:t>
            </a:r>
            <a:r>
              <a:rPr lang="en-US" sz="2000" b="1" i="1" dirty="0">
                <a:effectLst/>
                <a:latin typeface="Arial" panose="020B0604020202020204" pitchFamily="34" charset="0"/>
                <a:ea typeface="DengXian" panose="02010600030101010101" pitchFamily="2" charset="-122"/>
              </a:rPr>
              <a:t> + Hyponatremia </a:t>
            </a:r>
            <a:endParaRPr lang="en-ID" sz="2000" b="1" i="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2"/>
          </p:nvPr>
        </p:nvSpPr>
        <p:spPr bwMode="auto">
          <a:noFill/>
          <a:ln>
            <a:miter lim="800000"/>
          </a:ln>
        </p:spPr>
        <p:txBody>
          <a:bodyPr wrap="square" numCol="1" compatLnSpc="1"/>
          <a:lstStyle/>
          <a:p>
            <a:pPr>
              <a:buFont typeface="Arial" panose="020B0604020202020204" pitchFamily="34" charset="0"/>
              <a:buNone/>
            </a:pPr>
            <a:fld id="{08A03F7C-C6D9-4310-A161-7BFB9486709A}" type="slidenum">
              <a:rPr lang="id-ID" altLang="en-US" sz="1400" smtClean="0">
                <a:cs typeface="Arial" panose="020B0604020202020204" pitchFamily="34" charset="0"/>
              </a:rPr>
            </a:fld>
            <a:endParaRPr lang="id-ID" altLang="en-US" sz="1400">
              <a:cs typeface="Arial" panose="020B0604020202020204" pitchFamily="34" charset="0"/>
            </a:endParaRPr>
          </a:p>
        </p:txBody>
      </p:sp>
      <p:cxnSp>
        <p:nvCxnSpPr>
          <p:cNvPr id="15364" name="AutoShape 2"/>
          <p:cNvCxnSpPr>
            <a:cxnSpLocks noChangeShapeType="1"/>
          </p:cNvCxnSpPr>
          <p:nvPr/>
        </p:nvCxnSpPr>
        <p:spPr bwMode="auto">
          <a:xfrm>
            <a:off x="-180330" y="1924934"/>
            <a:ext cx="8959850" cy="31750"/>
          </a:xfrm>
          <a:prstGeom prst="straightConnector1">
            <a:avLst/>
          </a:prstGeom>
          <a:noFill/>
          <a:ln w="50800">
            <a:solidFill>
              <a:srgbClr val="FFC000"/>
            </a:solidFill>
            <a:round/>
          </a:ln>
        </p:spPr>
      </p:cxnSp>
      <p:sp>
        <p:nvSpPr>
          <p:cNvPr id="11269" name="Text Box 3"/>
          <p:cNvSpPr txBox="1">
            <a:spLocks noChangeArrowheads="1"/>
          </p:cNvSpPr>
          <p:nvPr/>
        </p:nvSpPr>
        <p:spPr bwMode="auto">
          <a:xfrm>
            <a:off x="238125" y="598805"/>
            <a:ext cx="8721090" cy="1057910"/>
          </a:xfrm>
          <a:prstGeom prst="rect">
            <a:avLst/>
          </a:prstGeom>
          <a:noFill/>
          <a:ln w="9525">
            <a:solidFill>
              <a:srgbClr val="FFC000"/>
            </a:solidFill>
            <a:miter lim="800000"/>
          </a:ln>
        </p:spPr>
        <p:txBody>
          <a:bodyPr/>
          <a:lstStyle/>
          <a:p>
            <a:pPr algn="ctr"/>
            <a:r>
              <a:rPr lang="en-US" sz="1400" dirty="0">
                <a:effectLst/>
                <a:latin typeface="Arial" panose="020B0604020202020204" pitchFamily="34" charset="0"/>
                <a:ea typeface="DengXian" panose="02010600030101010101" pitchFamily="2" charset="-122"/>
                <a:cs typeface="Times New Roman" panose="02020603050405020304" pitchFamily="18" charset="0"/>
              </a:rPr>
              <a:t>pukul 12.10 Px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penurunan</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kesadaran</a:t>
            </a:r>
            <a:r>
              <a:rPr lang="en-US" sz="1400" dirty="0">
                <a:effectLst/>
                <a:latin typeface="Arial" panose="020B0604020202020204" pitchFamily="34" charset="0"/>
                <a:ea typeface="DengXian" panose="02010600030101010101" pitchFamily="2" charset="-122"/>
                <a:cs typeface="Times New Roman" panose="02020603050405020304" pitchFamily="18" charset="0"/>
              </a:rPr>
              <a:t> , </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pPr algn="ctr"/>
            <a:r>
              <a:rPr lang="en-US" sz="1400" dirty="0" err="1">
                <a:effectLst/>
                <a:latin typeface="Arial" panose="020B0604020202020204" pitchFamily="34" charset="0"/>
                <a:ea typeface="DengXian" panose="02010600030101010101" pitchFamily="2" charset="-122"/>
                <a:cs typeface="Times New Roman" panose="02020603050405020304" pitchFamily="18" charset="0"/>
              </a:rPr>
              <a:t>Kejang</a:t>
            </a:r>
            <a:r>
              <a:rPr lang="en-US" sz="1400" dirty="0">
                <a:effectLst/>
                <a:latin typeface="Arial" panose="020B0604020202020204" pitchFamily="34" charset="0"/>
                <a:ea typeface="DengXian" panose="02010600030101010101" pitchFamily="2" charset="-122"/>
                <a:cs typeface="Times New Roman" panose="02020603050405020304" pitchFamily="18" charset="0"/>
              </a:rPr>
              <a:t> (+) mata mlirik kaku seluruh tubuh,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nadi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teraba</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lemah</a:t>
            </a:r>
            <a:r>
              <a:rPr lang="en-US" sz="1400" dirty="0">
                <a:effectLst/>
                <a:latin typeface="Arial" panose="020B0604020202020204" pitchFamily="34" charset="0"/>
                <a:ea typeface="DengXian" panose="02010600030101010101" pitchFamily="2" charset="-122"/>
                <a:cs typeface="Times New Roman" panose="02020603050405020304" pitchFamily="18" charset="0"/>
              </a:rPr>
              <a:t>, SpO2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tidak</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terdeteksi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nadi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tidak</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terdeteksi alat</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pPr algn="ctr"/>
            <a:r>
              <a:rPr lang="en-US" sz="1400" dirty="0" err="1">
                <a:effectLst/>
                <a:latin typeface="Arial" panose="020B0604020202020204" pitchFamily="34" charset="0"/>
                <a:ea typeface="DengXian" panose="02010600030101010101" pitchFamily="2" charset="-122"/>
                <a:cs typeface="Times New Roman" panose="02020603050405020304" pitchFamily="18" charset="0"/>
              </a:rPr>
              <a:t>Nafas</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spontan</a:t>
            </a:r>
            <a:r>
              <a:rPr lang="en-US" sz="1400" dirty="0">
                <a:effectLst/>
                <a:latin typeface="Arial" panose="020B0604020202020204" pitchFamily="34" charset="0"/>
                <a:ea typeface="DengXian" panose="02010600030101010101" pitchFamily="2" charset="-122"/>
                <a:cs typeface="Times New Roman" panose="02020603050405020304" pitchFamily="18" charset="0"/>
              </a:rPr>
              <a:t> support O2 NRBM 10 lpm, TD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tidak</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terdeteksi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terpasang</a:t>
            </a:r>
            <a:r>
              <a:rPr lang="en-US" sz="1400" dirty="0">
                <a:effectLst/>
                <a:latin typeface="Arial" panose="020B0604020202020204" pitchFamily="34" charset="0"/>
                <a:ea typeface="DengXian" panose="02010600030101010101" pitchFamily="2" charset="-122"/>
                <a:cs typeface="Times New Roman" panose="02020603050405020304" pitchFamily="18" charset="0"/>
              </a:rPr>
              <a:t> IV line C1:1 1000cc/24 jam</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pPr algn="ct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endParaRPr lang="en-ID" sz="1400" dirty="0">
              <a:effectLst/>
              <a:latin typeface="Calibri" panose="020F0502020204030204" charset="0"/>
              <a:ea typeface="DengXian" panose="02010600030101010101" pitchFamily="2" charset="-122"/>
              <a:cs typeface="Times New Roman" panose="02020603050405020304" pitchFamily="18" charset="0"/>
            </a:endParaRPr>
          </a:p>
        </p:txBody>
      </p:sp>
      <p:sp>
        <p:nvSpPr>
          <p:cNvPr id="11273" name="Text Box 6"/>
          <p:cNvSpPr txBox="1">
            <a:spLocks noChangeArrowheads="1"/>
          </p:cNvSpPr>
          <p:nvPr/>
        </p:nvSpPr>
        <p:spPr bwMode="auto">
          <a:xfrm>
            <a:off x="3873287" y="1668643"/>
            <a:ext cx="1841713" cy="301625"/>
          </a:xfrm>
          <a:prstGeom prst="rect">
            <a:avLst/>
          </a:prstGeom>
          <a:solidFill>
            <a:schemeClr val="bg1"/>
          </a:solidFill>
          <a:ln w="9525">
            <a:solidFill>
              <a:schemeClr val="tx1"/>
            </a:solidFill>
            <a:miter lim="800000"/>
          </a:ln>
        </p:spPr>
        <p:txBody>
          <a:bodyPr/>
          <a:lstStyle/>
          <a:p>
            <a:pPr algn="ctr">
              <a:spcAft>
                <a:spcPts val="1000"/>
              </a:spcAft>
              <a:buFont typeface="Wingdings 2" panose="05020102010507070707" pitchFamily="18" charset="2"/>
              <a:buNone/>
              <a:defRPr/>
            </a:pPr>
            <a:r>
              <a:rPr lang="en-US" sz="1400" dirty="0">
                <a:cs typeface="Arial" panose="020B0604020202020204" pitchFamily="34" charset="0"/>
              </a:rPr>
              <a:t>19-6-2025(12.10)</a:t>
            </a:r>
            <a:endParaRPr lang="id-ID" altLang="en-US" sz="1400" b="1" dirty="0">
              <a:cs typeface="Arial" panose="020B0604020202020204" pitchFamily="34" charset="0"/>
            </a:endParaRPr>
          </a:p>
        </p:txBody>
      </p:sp>
      <p:sp>
        <p:nvSpPr>
          <p:cNvPr id="15367" name="Text Box 14"/>
          <p:cNvSpPr txBox="1">
            <a:spLocks noChangeArrowheads="1"/>
          </p:cNvSpPr>
          <p:nvPr/>
        </p:nvSpPr>
        <p:spPr bwMode="auto">
          <a:xfrm>
            <a:off x="3873287" y="338562"/>
            <a:ext cx="1512887" cy="266700"/>
          </a:xfrm>
          <a:prstGeom prst="rect">
            <a:avLst/>
          </a:prstGeom>
          <a:solidFill>
            <a:schemeClr val="bg2"/>
          </a:solidFill>
          <a:ln w="9525">
            <a:solidFill>
              <a:schemeClr val="tx1"/>
            </a:solidFill>
            <a:miter lim="800000"/>
          </a:ln>
        </p:spPr>
        <p:txBody>
          <a:bodyPr/>
          <a:lstStyle/>
          <a:p>
            <a:pPr algn="ctr">
              <a:lnSpc>
                <a:spcPct val="115000"/>
              </a:lnSpc>
            </a:pPr>
            <a:r>
              <a:rPr lang="en-US" altLang="en-US" sz="1400" dirty="0">
                <a:cs typeface="Arial" panose="020B0604020202020204" pitchFamily="34" charset="0"/>
              </a:rPr>
              <a:t>PICU </a:t>
            </a:r>
            <a:endParaRPr lang="id-ID" altLang="en-US" sz="1400" dirty="0">
              <a:cs typeface="Arial" panose="020B0604020202020204" pitchFamily="34" charset="0"/>
            </a:endParaRPr>
          </a:p>
        </p:txBody>
      </p:sp>
      <p:sp>
        <p:nvSpPr>
          <p:cNvPr id="23" name="Subtitle 2"/>
          <p:cNvSpPr txBox="1">
            <a:spLocks noChangeArrowheads="1"/>
          </p:cNvSpPr>
          <p:nvPr/>
        </p:nvSpPr>
        <p:spPr bwMode="auto">
          <a:xfrm>
            <a:off x="683730" y="-41679"/>
            <a:ext cx="7725633" cy="380241"/>
          </a:xfrm>
          <a:prstGeom prst="rect">
            <a:avLst/>
          </a:prstGeom>
          <a:noFill/>
          <a:ln w="9525">
            <a:noFill/>
            <a:miter lim="800000"/>
          </a:ln>
        </p:spPr>
        <p:txBody>
          <a:bodyPr vert="horz" wrap="square" lIns="91440" tIns="45720" rIns="91440" bIns="45720" numCol="1" anchor="t" anchorCtr="0" compatLnSpc="1"/>
          <a:lstStyle/>
          <a:p>
            <a:pPr algn="ctr" eaLnBrk="1" fontAlgn="auto" hangingPunct="1">
              <a:spcAft>
                <a:spcPts val="0"/>
              </a:spcAft>
              <a:defRPr/>
            </a:pPr>
            <a:endParaRPr lang="id-ID">
              <a:latin typeface="+mn-lt"/>
            </a:endParaRPr>
          </a:p>
        </p:txBody>
      </p:sp>
      <p:sp>
        <p:nvSpPr>
          <p:cNvPr id="30" name="Text Box 3"/>
          <p:cNvSpPr txBox="1">
            <a:spLocks noChangeArrowheads="1"/>
          </p:cNvSpPr>
          <p:nvPr/>
        </p:nvSpPr>
        <p:spPr bwMode="auto">
          <a:xfrm>
            <a:off x="216196" y="3054417"/>
            <a:ext cx="8764806" cy="3505200"/>
          </a:xfrm>
          <a:prstGeom prst="rect">
            <a:avLst/>
          </a:prstGeom>
          <a:noFill/>
          <a:ln w="9525">
            <a:solidFill>
              <a:srgbClr val="FFC000"/>
            </a:solidFill>
            <a:miter lim="800000"/>
          </a:ln>
        </p:spPr>
        <p:txBody>
          <a:bodyPr/>
          <a:lstStyle/>
          <a:p>
            <a:r>
              <a:rPr lang="en-US" sz="1600" dirty="0">
                <a:effectLst/>
                <a:latin typeface="Arial" panose="020B0604020202020204" pitchFamily="34" charset="0"/>
                <a:ea typeface="DengXian" panose="02010600030101010101" pitchFamily="2" charset="-122"/>
                <a:cs typeface="Times New Roman" panose="02020603050405020304" pitchFamily="18" charset="0"/>
              </a:rPr>
              <a:t>A/p </a:t>
            </a:r>
            <a:r>
              <a:rPr lang="en-US" sz="1600" dirty="0" err="1">
                <a:effectLst/>
                <a:latin typeface="Arial" panose="020B0604020202020204" pitchFamily="34" charset="0"/>
                <a:ea typeface="DengXian" panose="02010600030101010101" pitchFamily="2" charset="-122"/>
                <a:cs typeface="Times New Roman" panose="02020603050405020304" pitchFamily="18" charset="0"/>
              </a:rPr>
              <a:t>dr</a:t>
            </a:r>
            <a:r>
              <a:rPr lang="en-US" sz="1600" dirty="0">
                <a:effectLst/>
                <a:latin typeface="Arial" panose="020B0604020202020204" pitchFamily="34" charset="0"/>
                <a:ea typeface="DengXian" panose="02010600030101010101" pitchFamily="2" charset="-122"/>
                <a:cs typeface="Times New Roman" panose="02020603050405020304" pitchFamily="18" charset="0"/>
              </a:rPr>
              <a:t> Olive</a:t>
            </a:r>
            <a:endParaRPr lang="en-ID" sz="1600" dirty="0">
              <a:effectLst/>
              <a:latin typeface="Calibri" panose="020F0502020204030204" charset="0"/>
              <a:ea typeface="DengXian" panose="02010600030101010101" pitchFamily="2" charset="-122"/>
              <a:cs typeface="Times New Roman" panose="02020603050405020304" pitchFamily="18" charset="0"/>
            </a:endParaRPr>
          </a:p>
          <a:p>
            <a:r>
              <a:rPr lang="en-US" sz="1600" dirty="0">
                <a:effectLst/>
                <a:latin typeface="Arial" panose="020B0604020202020204" pitchFamily="34" charset="0"/>
                <a:ea typeface="DengXian" panose="02010600030101010101" pitchFamily="2" charset="-122"/>
                <a:cs typeface="Times New Roman" panose="02020603050405020304" pitchFamily="18" charset="0"/>
              </a:rPr>
              <a:t>12.10 Diazepam IV bolus </a:t>
            </a:r>
            <a:r>
              <a:rPr lang="en-US" sz="1600" dirty="0" err="1">
                <a:effectLst/>
                <a:latin typeface="Arial" panose="020B0604020202020204" pitchFamily="34" charset="0"/>
                <a:ea typeface="DengXian" panose="02010600030101010101" pitchFamily="2" charset="-122"/>
                <a:cs typeface="Times New Roman" panose="02020603050405020304" pitchFamily="18" charset="0"/>
              </a:rPr>
              <a:t>pelan</a:t>
            </a:r>
            <a:r>
              <a:rPr lang="en-US" sz="1600" dirty="0">
                <a:effectLst/>
                <a:latin typeface="Arial" panose="020B0604020202020204" pitchFamily="34" charset="0"/>
                <a:ea typeface="DengXian" panose="02010600030101010101" pitchFamily="2" charset="-122"/>
                <a:cs typeface="Times New Roman" panose="02020603050405020304" pitchFamily="18" charset="0"/>
              </a:rPr>
              <a:t> 10mg</a:t>
            </a:r>
            <a:endParaRPr lang="en-ID" sz="1600" dirty="0">
              <a:effectLst/>
              <a:latin typeface="Calibri" panose="020F0502020204030204" charset="0"/>
              <a:ea typeface="DengXian" panose="02010600030101010101" pitchFamily="2" charset="-122"/>
              <a:cs typeface="Times New Roman" panose="02020603050405020304" pitchFamily="18" charset="0"/>
            </a:endParaRPr>
          </a:p>
          <a:p>
            <a:r>
              <a:rPr lang="en-US" sz="1600" dirty="0">
                <a:effectLst/>
                <a:latin typeface="Arial" panose="020B0604020202020204" pitchFamily="34" charset="0"/>
                <a:ea typeface="DengXian" panose="02010600030101010101" pitchFamily="2" charset="-122"/>
                <a:cs typeface="Times New Roman" panose="02020603050405020304" pitchFamily="18" charset="0"/>
              </a:rPr>
              <a:t>Bagging O2 15 lpm</a:t>
            </a:r>
            <a:endParaRPr lang="en-ID" sz="1600" dirty="0">
              <a:effectLst/>
              <a:latin typeface="Calibri" panose="020F0502020204030204" charset="0"/>
              <a:ea typeface="DengXian" panose="02010600030101010101" pitchFamily="2" charset="-122"/>
              <a:cs typeface="Times New Roman" panose="02020603050405020304" pitchFamily="18" charset="0"/>
            </a:endParaRPr>
          </a:p>
          <a:p>
            <a:r>
              <a:rPr lang="en-US" sz="1600" dirty="0" err="1">
                <a:effectLst/>
                <a:latin typeface="Arial" panose="020B0604020202020204" pitchFamily="34" charset="0"/>
                <a:ea typeface="DengXian" panose="02010600030101010101" pitchFamily="2" charset="-122"/>
                <a:cs typeface="Times New Roman" panose="02020603050405020304" pitchFamily="18" charset="0"/>
              </a:rPr>
              <a:t>Pasien</a:t>
            </a:r>
            <a:r>
              <a:rPr lang="en-US" sz="1600" dirty="0">
                <a:effectLst/>
                <a:latin typeface="Arial" panose="020B0604020202020204" pitchFamily="34" charset="0"/>
                <a:ea typeface="DengXian" panose="02010600030101010101" pitchFamily="2" charset="-122"/>
                <a:cs typeface="Times New Roman" panose="02020603050405020304" pitchFamily="18" charset="0"/>
              </a:rPr>
              <a:t> di </a:t>
            </a:r>
            <a:r>
              <a:rPr lang="en-US" sz="1600" dirty="0" err="1">
                <a:effectLst/>
                <a:latin typeface="Arial" panose="020B0604020202020204" pitchFamily="34" charset="0"/>
                <a:ea typeface="DengXian" panose="02010600030101010101" pitchFamily="2" charset="-122"/>
                <a:cs typeface="Times New Roman" panose="02020603050405020304" pitchFamily="18" charset="0"/>
              </a:rPr>
              <a:t>posisikan</a:t>
            </a:r>
            <a:r>
              <a:rPr lang="en-US" sz="1600" dirty="0">
                <a:effectLst/>
                <a:latin typeface="Arial" panose="020B0604020202020204" pitchFamily="34" charset="0"/>
                <a:ea typeface="DengXian" panose="02010600030101010101" pitchFamily="2" charset="-122"/>
                <a:cs typeface="Times New Roman" panose="02020603050405020304" pitchFamily="18" charset="0"/>
              </a:rPr>
              <a:t> </a:t>
            </a:r>
            <a:r>
              <a:rPr lang="en-US" sz="1600" dirty="0" err="1">
                <a:effectLst/>
                <a:latin typeface="Arial" panose="020B0604020202020204" pitchFamily="34" charset="0"/>
                <a:ea typeface="DengXian" panose="02010600030101010101" pitchFamily="2" charset="-122"/>
                <a:cs typeface="Times New Roman" panose="02020603050405020304" pitchFamily="18" charset="0"/>
              </a:rPr>
              <a:t>terlentang</a:t>
            </a:r>
            <a:endParaRPr lang="en-ID" sz="1600" dirty="0">
              <a:effectLst/>
              <a:latin typeface="Calibri" panose="020F0502020204030204" charset="0"/>
              <a:ea typeface="DengXian" panose="02010600030101010101" pitchFamily="2" charset="-122"/>
              <a:cs typeface="Times New Roman" panose="02020603050405020304" pitchFamily="18" charset="0"/>
            </a:endParaRPr>
          </a:p>
          <a:p>
            <a:r>
              <a:rPr lang="en-US" sz="1600" dirty="0">
                <a:effectLst/>
                <a:latin typeface="Arial" panose="020B0604020202020204" pitchFamily="34" charset="0"/>
                <a:ea typeface="DengXian" panose="02010600030101010101" pitchFamily="2" charset="-122"/>
                <a:cs typeface="Times New Roman" panose="02020603050405020304" pitchFamily="18" charset="0"/>
              </a:rPr>
              <a:t> </a:t>
            </a:r>
            <a:endParaRPr lang="en-ID" sz="1600" dirty="0">
              <a:effectLst/>
              <a:latin typeface="Calibri" panose="020F0502020204030204" charset="0"/>
              <a:ea typeface="DengXian" panose="02010600030101010101" pitchFamily="2" charset="-122"/>
              <a:cs typeface="Times New Roman" panose="02020603050405020304" pitchFamily="18" charset="0"/>
            </a:endParaRPr>
          </a:p>
          <a:p>
            <a:r>
              <a:rPr lang="en-US" sz="1600" dirty="0">
                <a:effectLst/>
                <a:latin typeface="Arial" panose="020B0604020202020204" pitchFamily="34" charset="0"/>
                <a:ea typeface="DengXian" panose="02010600030101010101" pitchFamily="2" charset="-122"/>
                <a:cs typeface="Times New Roman" panose="02020603050405020304" pitchFamily="18" charset="0"/>
              </a:rPr>
              <a:t> </a:t>
            </a:r>
            <a:endParaRPr lang="en-ID" sz="1600" dirty="0">
              <a:effectLst/>
              <a:latin typeface="Calibri" panose="020F0502020204030204" charset="0"/>
              <a:ea typeface="DengXian" panose="02010600030101010101" pitchFamily="2" charset="-122"/>
              <a:cs typeface="Times New Roman" panose="02020603050405020304" pitchFamily="18" charset="0"/>
            </a:endParaRPr>
          </a:p>
          <a:p>
            <a:r>
              <a:rPr lang="en-US" sz="1600" dirty="0">
                <a:effectLst/>
                <a:latin typeface="Arial" panose="020B0604020202020204" pitchFamily="34" charset="0"/>
                <a:ea typeface="DengXian" panose="02010600030101010101" pitchFamily="2" charset="-122"/>
                <a:cs typeface="Times New Roman" panose="02020603050405020304" pitchFamily="18" charset="0"/>
              </a:rPr>
              <a:t>=&gt; 12.15</a:t>
            </a:r>
            <a:endParaRPr lang="en-ID" sz="1600" dirty="0">
              <a:effectLst/>
              <a:latin typeface="Calibri" panose="020F0502020204030204" charset="0"/>
              <a:ea typeface="DengXian" panose="02010600030101010101" pitchFamily="2" charset="-122"/>
              <a:cs typeface="Times New Roman" panose="02020603050405020304" pitchFamily="18" charset="0"/>
            </a:endParaRPr>
          </a:p>
          <a:p>
            <a:r>
              <a:rPr lang="en-US" sz="1600" dirty="0" err="1">
                <a:effectLst/>
                <a:latin typeface="Arial" panose="020B0604020202020204" pitchFamily="34" charset="0"/>
                <a:ea typeface="DengXian" panose="02010600030101010101" pitchFamily="2" charset="-122"/>
                <a:cs typeface="Times New Roman" panose="02020603050405020304" pitchFamily="18" charset="0"/>
              </a:rPr>
              <a:t>Evaluasi</a:t>
            </a:r>
            <a:r>
              <a:rPr lang="en-US" sz="1600" dirty="0">
                <a:effectLst/>
                <a:latin typeface="Arial" panose="020B0604020202020204" pitchFamily="34" charset="0"/>
                <a:ea typeface="DengXian" panose="02010600030101010101" pitchFamily="2" charset="-122"/>
                <a:cs typeface="Times New Roman" panose="02020603050405020304" pitchFamily="18" charset="0"/>
              </a:rPr>
              <a:t>, px </a:t>
            </a:r>
            <a:r>
              <a:rPr lang="en-US" sz="1600" dirty="0" err="1">
                <a:effectLst/>
                <a:latin typeface="Arial" panose="020B0604020202020204" pitchFamily="34" charset="0"/>
                <a:ea typeface="DengXian" panose="02010600030101010101" pitchFamily="2" charset="-122"/>
                <a:cs typeface="Times New Roman" panose="02020603050405020304" pitchFamily="18" charset="0"/>
              </a:rPr>
              <a:t>masih</a:t>
            </a:r>
            <a:r>
              <a:rPr lang="en-US" sz="1600" dirty="0">
                <a:effectLst/>
                <a:latin typeface="Arial" panose="020B0604020202020204" pitchFamily="34" charset="0"/>
                <a:ea typeface="DengXian" panose="02010600030101010101" pitchFamily="2" charset="-122"/>
                <a:cs typeface="Times New Roman" panose="02020603050405020304" pitchFamily="18" charset="0"/>
              </a:rPr>
              <a:t> </a:t>
            </a:r>
            <a:r>
              <a:rPr lang="en-US" sz="1600" dirty="0" err="1">
                <a:effectLst/>
                <a:latin typeface="Arial" panose="020B0604020202020204" pitchFamily="34" charset="0"/>
                <a:ea typeface="DengXian" panose="02010600030101010101" pitchFamily="2" charset="-122"/>
                <a:cs typeface="Times New Roman" panose="02020603050405020304" pitchFamily="18" charset="0"/>
              </a:rPr>
              <a:t>kejang</a:t>
            </a:r>
            <a:endParaRPr lang="en-ID" sz="1600" dirty="0">
              <a:effectLst/>
              <a:latin typeface="Calibri" panose="020F0502020204030204" charset="0"/>
              <a:ea typeface="DengXian" panose="02010600030101010101" pitchFamily="2" charset="-122"/>
              <a:cs typeface="Times New Roman" panose="02020603050405020304" pitchFamily="18" charset="0"/>
            </a:endParaRPr>
          </a:p>
          <a:p>
            <a:r>
              <a:rPr lang="en-US" sz="1600" dirty="0">
                <a:effectLst/>
                <a:latin typeface="Arial" panose="020B0604020202020204" pitchFamily="34" charset="0"/>
                <a:ea typeface="DengXian" panose="02010600030101010101" pitchFamily="2" charset="-122"/>
                <a:cs typeface="Times New Roman" panose="02020603050405020304" pitchFamily="18" charset="0"/>
              </a:rPr>
              <a:t>A/p </a:t>
            </a:r>
            <a:r>
              <a:rPr lang="en-US" sz="1600" dirty="0" err="1">
                <a:effectLst/>
                <a:latin typeface="Arial" panose="020B0604020202020204" pitchFamily="34" charset="0"/>
                <a:ea typeface="DengXian" panose="02010600030101010101" pitchFamily="2" charset="-122"/>
                <a:cs typeface="Times New Roman" panose="02020603050405020304" pitchFamily="18" charset="0"/>
              </a:rPr>
              <a:t>dr</a:t>
            </a:r>
            <a:r>
              <a:rPr lang="en-US" sz="1600" dirty="0">
                <a:effectLst/>
                <a:latin typeface="Arial" panose="020B0604020202020204" pitchFamily="34" charset="0"/>
                <a:ea typeface="DengXian" panose="02010600030101010101" pitchFamily="2" charset="-122"/>
                <a:cs typeface="Times New Roman" panose="02020603050405020304" pitchFamily="18" charset="0"/>
              </a:rPr>
              <a:t> Olive </a:t>
            </a:r>
            <a:endParaRPr lang="en-ID" sz="1600" dirty="0">
              <a:effectLst/>
              <a:latin typeface="Calibri" panose="020F0502020204030204" charset="0"/>
              <a:ea typeface="DengXian" panose="02010600030101010101" pitchFamily="2" charset="-122"/>
              <a:cs typeface="Times New Roman" panose="02020603050405020304" pitchFamily="18" charset="0"/>
            </a:endParaRPr>
          </a:p>
          <a:p>
            <a:r>
              <a:rPr lang="en-US" sz="1600" dirty="0">
                <a:effectLst/>
                <a:latin typeface="Arial" panose="020B0604020202020204" pitchFamily="34" charset="0"/>
                <a:ea typeface="DengXian" panose="02010600030101010101" pitchFamily="2" charset="-122"/>
                <a:cs typeface="Times New Roman" panose="02020603050405020304" pitchFamily="18" charset="0"/>
              </a:rPr>
              <a:t>Bolus </a:t>
            </a:r>
            <a:r>
              <a:rPr lang="en-US" sz="1600" dirty="0" err="1">
                <a:effectLst/>
                <a:latin typeface="Arial" panose="020B0604020202020204" pitchFamily="34" charset="0"/>
                <a:ea typeface="DengXian" panose="02010600030101010101" pitchFamily="2" charset="-122"/>
                <a:cs typeface="Times New Roman" panose="02020603050405020304" pitchFamily="18" charset="0"/>
              </a:rPr>
              <a:t>pelan</a:t>
            </a:r>
            <a:r>
              <a:rPr lang="en-US" sz="1600" dirty="0">
                <a:effectLst/>
                <a:latin typeface="Arial" panose="020B0604020202020204" pitchFamily="34" charset="0"/>
                <a:ea typeface="DengXian" panose="02010600030101010101" pitchFamily="2" charset="-122"/>
                <a:cs typeface="Times New Roman" panose="02020603050405020304" pitchFamily="18" charset="0"/>
              </a:rPr>
              <a:t> diazepam 5mg, </a:t>
            </a:r>
            <a:r>
              <a:rPr lang="en-US" sz="1600" dirty="0" err="1">
                <a:effectLst/>
                <a:latin typeface="Arial" panose="020B0604020202020204" pitchFamily="34" charset="0"/>
                <a:ea typeface="DengXian" panose="02010600030101010101" pitchFamily="2" charset="-122"/>
                <a:cs typeface="Times New Roman" panose="02020603050405020304" pitchFamily="18" charset="0"/>
              </a:rPr>
              <a:t>lanjut</a:t>
            </a:r>
            <a:r>
              <a:rPr lang="en-US" sz="1600" dirty="0">
                <a:effectLst/>
                <a:latin typeface="Arial" panose="020B0604020202020204" pitchFamily="34" charset="0"/>
                <a:ea typeface="DengXian" panose="02010600030101010101" pitchFamily="2" charset="-122"/>
                <a:cs typeface="Times New Roman" panose="02020603050405020304" pitchFamily="18" charset="0"/>
              </a:rPr>
              <a:t> 5 mg</a:t>
            </a:r>
            <a:endParaRPr lang="en-ID" sz="1600" dirty="0">
              <a:effectLst/>
              <a:latin typeface="Calibri" panose="020F0502020204030204" charset="0"/>
              <a:ea typeface="DengXian" panose="02010600030101010101" pitchFamily="2" charset="-122"/>
              <a:cs typeface="Times New Roman" panose="02020603050405020304" pitchFamily="18" charset="0"/>
            </a:endParaRPr>
          </a:p>
          <a:p>
            <a:r>
              <a:rPr lang="en-US" sz="1050" dirty="0">
                <a:effectLst/>
                <a:latin typeface="Arial" panose="020B0604020202020204" pitchFamily="34" charset="0"/>
                <a:ea typeface="DengXian" panose="02010600030101010101" pitchFamily="2" charset="-122"/>
                <a:cs typeface="Times New Roman" panose="02020603050405020304" pitchFamily="18" charset="0"/>
              </a:rPr>
              <a:t> </a:t>
            </a:r>
            <a:endParaRPr lang="en-ID" sz="1050" dirty="0">
              <a:effectLst/>
              <a:latin typeface="Calibri" panose="020F0502020204030204" charset="0"/>
              <a:ea typeface="DengXian" panose="02010600030101010101" pitchFamily="2" charset="-122"/>
              <a:cs typeface="Times New Roman" panose="02020603050405020304" pitchFamily="18" charset="0"/>
            </a:endParaRPr>
          </a:p>
          <a:p>
            <a:r>
              <a:rPr lang="en-US" sz="1050" dirty="0">
                <a:effectLst/>
                <a:latin typeface="Arial" panose="020B0604020202020204" pitchFamily="34" charset="0"/>
                <a:ea typeface="DengXian" panose="02010600030101010101" pitchFamily="2" charset="-122"/>
                <a:cs typeface="Times New Roman" panose="02020603050405020304" pitchFamily="18" charset="0"/>
              </a:rPr>
              <a:t> </a:t>
            </a:r>
            <a:endParaRPr lang="en-ID" sz="1050" dirty="0">
              <a:effectLst/>
              <a:latin typeface="Calibri" panose="020F0502020204030204" charset="0"/>
              <a:ea typeface="DengXian" panose="02010600030101010101" pitchFamily="2" charset="-122"/>
              <a:cs typeface="Times New Roman" panose="02020603050405020304" pitchFamily="18" charset="0"/>
            </a:endParaRPr>
          </a:p>
          <a:p>
            <a:endParaRPr lang="en-ID" sz="1050" dirty="0">
              <a:effectLst/>
              <a:latin typeface="Calibri" panose="020F0502020204030204" charset="0"/>
              <a:ea typeface="DengXian" panose="02010600030101010101" pitchFamily="2" charset="-122"/>
              <a:cs typeface="Times New Roman" panose="02020603050405020304" pitchFamily="18" charset="0"/>
            </a:endParaRPr>
          </a:p>
        </p:txBody>
      </p:sp>
      <p:sp>
        <p:nvSpPr>
          <p:cNvPr id="14" name="Text Box 14"/>
          <p:cNvSpPr txBox="1">
            <a:spLocks noChangeArrowheads="1"/>
          </p:cNvSpPr>
          <p:nvPr/>
        </p:nvSpPr>
        <p:spPr bwMode="auto">
          <a:xfrm>
            <a:off x="67044" y="2039302"/>
            <a:ext cx="8959003" cy="932497"/>
          </a:xfrm>
          <a:prstGeom prst="rect">
            <a:avLst/>
          </a:prstGeom>
          <a:solidFill>
            <a:schemeClr val="bg2"/>
          </a:solidFill>
          <a:ln w="9525">
            <a:solidFill>
              <a:schemeClr val="tx1"/>
            </a:solidFill>
            <a:miter lim="800000"/>
          </a:ln>
        </p:spPr>
        <p:txBody>
          <a:bodyPr/>
          <a:lstStyle/>
          <a:p>
            <a:pPr algn="ctr"/>
            <a:r>
              <a:rPr lang="en-US" sz="2000" b="1" i="1" dirty="0">
                <a:effectLst/>
                <a:latin typeface="Arial" panose="020B0604020202020204" pitchFamily="34" charset="0"/>
                <a:ea typeface="DengXian" panose="02010600030101010101" pitchFamily="2" charset="-122"/>
              </a:rPr>
              <a:t>DSS + </a:t>
            </a:r>
            <a:r>
              <a:rPr lang="en-US" sz="2000" b="1" i="1" dirty="0">
                <a:latin typeface="Arial" panose="020B0604020202020204" pitchFamily="34" charset="0"/>
                <a:ea typeface="DengXian" panose="02010600030101010101" pitchFamily="2" charset="-122"/>
              </a:rPr>
              <a:t>Overweight</a:t>
            </a:r>
            <a:r>
              <a:rPr lang="en-US" sz="2000" b="1" i="1" dirty="0">
                <a:effectLst/>
                <a:latin typeface="Arial" panose="020B0604020202020204" pitchFamily="34" charset="0"/>
                <a:ea typeface="DengXian" panose="02010600030101010101" pitchFamily="2" charset="-122"/>
              </a:rPr>
              <a:t>+ Enteritis </a:t>
            </a:r>
            <a:endParaRPr lang="en-US" sz="2000" b="1" i="1" dirty="0">
              <a:effectLst/>
              <a:latin typeface="Arial" panose="020B0604020202020204" pitchFamily="34" charset="0"/>
              <a:ea typeface="DengXian" panose="02010600030101010101" pitchFamily="2" charset="-122"/>
            </a:endParaRPr>
          </a:p>
          <a:p>
            <a:pPr algn="ctr"/>
            <a:r>
              <a:rPr lang="en-US" sz="2000" b="1" i="1" dirty="0">
                <a:latin typeface="Arial" panose="020B0604020202020204" pitchFamily="34" charset="0"/>
                <a:ea typeface="DengXian" panose="02010600030101010101" pitchFamily="2" charset="-122"/>
              </a:rPr>
              <a:t>+</a:t>
            </a:r>
            <a:r>
              <a:rPr lang="en-US" sz="2000" b="1" i="1" dirty="0">
                <a:effectLst/>
                <a:latin typeface="Arial" panose="020B0604020202020204" pitchFamily="34" charset="0"/>
                <a:ea typeface="DengXian" panose="02010600030101010101" pitchFamily="2" charset="-122"/>
              </a:rPr>
              <a:t> transaminitis + Azotemia + </a:t>
            </a:r>
            <a:r>
              <a:rPr lang="en-US" sz="2000" b="1" i="1" dirty="0">
                <a:latin typeface="Arial" panose="020B0604020202020204" pitchFamily="34" charset="0"/>
                <a:ea typeface="DengXian" panose="02010600030101010101" pitchFamily="2" charset="-122"/>
              </a:rPr>
              <a:t>Upper GI B</a:t>
            </a:r>
            <a:r>
              <a:rPr lang="en-US" sz="2000" b="1" i="1" dirty="0">
                <a:effectLst/>
                <a:latin typeface="Arial" panose="020B0604020202020204" pitchFamily="34" charset="0"/>
                <a:ea typeface="DengXian" panose="02010600030101010101" pitchFamily="2" charset="-122"/>
              </a:rPr>
              <a:t>leeding + Status </a:t>
            </a:r>
            <a:r>
              <a:rPr lang="en-US" sz="2000" b="1" i="1" dirty="0" err="1">
                <a:effectLst/>
                <a:latin typeface="Arial" panose="020B0604020202020204" pitchFamily="34" charset="0"/>
                <a:ea typeface="DengXian" panose="02010600030101010101" pitchFamily="2" charset="-122"/>
              </a:rPr>
              <a:t>Epileptikus</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O.k</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perdarahan</a:t>
            </a:r>
            <a:r>
              <a:rPr lang="en-US" sz="2000" b="1" i="1" dirty="0">
                <a:effectLst/>
                <a:latin typeface="Arial" panose="020B0604020202020204" pitchFamily="34" charset="0"/>
                <a:ea typeface="DengXian" panose="02010600030101010101" pitchFamily="2" charset="-122"/>
              </a:rPr>
              <a:t> dd </a:t>
            </a:r>
            <a:r>
              <a:rPr lang="en-US" sz="2000" b="1" i="1" dirty="0" err="1">
                <a:latin typeface="Arial" panose="020B0604020202020204" pitchFamily="34" charset="0"/>
                <a:ea typeface="DengXian" panose="02010600030101010101" pitchFamily="2" charset="-122"/>
              </a:rPr>
              <a:t>elektrolit</a:t>
            </a:r>
            <a:r>
              <a:rPr lang="en-US" sz="2000" b="1" i="1" dirty="0">
                <a:latin typeface="Arial" panose="020B0604020202020204" pitchFamily="34" charset="0"/>
                <a:ea typeface="DengXian" panose="02010600030101010101" pitchFamily="2" charset="-122"/>
              </a:rPr>
              <a:t> imbalance dd </a:t>
            </a:r>
            <a:r>
              <a:rPr lang="en-US" sz="2000" b="1" i="1" dirty="0" err="1">
                <a:latin typeface="Arial" panose="020B0604020202020204" pitchFamily="34" charset="0"/>
                <a:ea typeface="DengXian" panose="02010600030101010101" pitchFamily="2" charset="-122"/>
              </a:rPr>
              <a:t>ensefalitis</a:t>
            </a:r>
            <a:r>
              <a:rPr lang="en-US" sz="2000" b="1" i="1" dirty="0">
                <a:effectLst/>
                <a:latin typeface="Arial" panose="020B0604020202020204" pitchFamily="34" charset="0"/>
                <a:ea typeface="DengXian" panose="02010600030101010101" pitchFamily="2" charset="-122"/>
              </a:rPr>
              <a:t> + Hyponatremia </a:t>
            </a:r>
            <a:endParaRPr lang="en-ID" sz="2000" b="1" i="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2"/>
          </p:nvPr>
        </p:nvSpPr>
        <p:spPr bwMode="auto">
          <a:noFill/>
          <a:ln>
            <a:miter lim="800000"/>
          </a:ln>
        </p:spPr>
        <p:txBody>
          <a:bodyPr wrap="square" numCol="1" compatLnSpc="1"/>
          <a:lstStyle/>
          <a:p>
            <a:pPr>
              <a:buFont typeface="Arial" panose="020B0604020202020204" pitchFamily="34" charset="0"/>
              <a:buNone/>
            </a:pPr>
            <a:fld id="{08A03F7C-C6D9-4310-A161-7BFB9486709A}" type="slidenum">
              <a:rPr lang="id-ID" altLang="en-US" sz="1400" smtClean="0">
                <a:cs typeface="Arial" panose="020B0604020202020204" pitchFamily="34" charset="0"/>
              </a:rPr>
            </a:fld>
            <a:endParaRPr lang="id-ID" altLang="en-US" sz="1400">
              <a:cs typeface="Arial" panose="020B0604020202020204" pitchFamily="34" charset="0"/>
            </a:endParaRPr>
          </a:p>
        </p:txBody>
      </p:sp>
      <p:cxnSp>
        <p:nvCxnSpPr>
          <p:cNvPr id="15364" name="AutoShape 2"/>
          <p:cNvCxnSpPr>
            <a:cxnSpLocks noChangeShapeType="1"/>
          </p:cNvCxnSpPr>
          <p:nvPr/>
        </p:nvCxnSpPr>
        <p:spPr bwMode="auto">
          <a:xfrm>
            <a:off x="-180330" y="1924934"/>
            <a:ext cx="8959850" cy="31750"/>
          </a:xfrm>
          <a:prstGeom prst="straightConnector1">
            <a:avLst/>
          </a:prstGeom>
          <a:noFill/>
          <a:ln w="50800">
            <a:solidFill>
              <a:srgbClr val="FFC000"/>
            </a:solidFill>
            <a:round/>
          </a:ln>
        </p:spPr>
      </p:cxnSp>
      <p:sp>
        <p:nvSpPr>
          <p:cNvPr id="11269" name="Text Box 3"/>
          <p:cNvSpPr txBox="1">
            <a:spLocks noChangeArrowheads="1"/>
          </p:cNvSpPr>
          <p:nvPr/>
        </p:nvSpPr>
        <p:spPr bwMode="auto">
          <a:xfrm>
            <a:off x="238195" y="721323"/>
            <a:ext cx="8720809" cy="935219"/>
          </a:xfrm>
          <a:prstGeom prst="rect">
            <a:avLst/>
          </a:prstGeom>
          <a:noFill/>
          <a:ln w="9525">
            <a:solidFill>
              <a:srgbClr val="FFC000"/>
            </a:solidFill>
            <a:miter lim="800000"/>
          </a:ln>
        </p:spPr>
        <p:txBody>
          <a:bodyPr/>
          <a:lstStyle/>
          <a:p>
            <a:pPr marL="85725" lvl="1" algn="ctr">
              <a:buClr>
                <a:schemeClr val="accent2">
                  <a:shade val="75000"/>
                </a:schemeClr>
              </a:buClr>
              <a:defRPr/>
            </a:pPr>
            <a:r>
              <a:rPr lang="en-US" sz="2000" dirty="0" err="1"/>
              <a:t>Nafas</a:t>
            </a:r>
            <a:r>
              <a:rPr lang="en-US" sz="2000" dirty="0"/>
              <a:t> </a:t>
            </a:r>
            <a:r>
              <a:rPr lang="en-US" sz="2000" dirty="0" err="1"/>
              <a:t>Spontan</a:t>
            </a:r>
            <a:r>
              <a:rPr lang="en-US" sz="2000" dirty="0"/>
              <a:t> (-), </a:t>
            </a:r>
            <a:r>
              <a:rPr lang="en-US" sz="2000" dirty="0" err="1"/>
              <a:t>Nadi</a:t>
            </a:r>
            <a:r>
              <a:rPr lang="en-US" sz="2000" dirty="0"/>
              <a:t> </a:t>
            </a:r>
            <a:r>
              <a:rPr lang="en-US" sz="2000" dirty="0" err="1"/>
              <a:t>tidak</a:t>
            </a:r>
            <a:r>
              <a:rPr lang="en-US" sz="2000" dirty="0"/>
              <a:t> </a:t>
            </a:r>
            <a:r>
              <a:rPr lang="en-US" sz="2000" dirty="0" err="1"/>
              <a:t>teraba</a:t>
            </a:r>
            <a:r>
              <a:rPr lang="en-US" sz="2000" dirty="0"/>
              <a:t>, </a:t>
            </a:r>
            <a:r>
              <a:rPr lang="en-US" sz="2000" dirty="0" err="1"/>
              <a:t>Sianosis</a:t>
            </a:r>
            <a:r>
              <a:rPr lang="en-US" sz="2000" dirty="0"/>
              <a:t>(+), </a:t>
            </a:r>
            <a:r>
              <a:rPr lang="en-US" sz="2000" dirty="0" err="1"/>
              <a:t>Mimisan</a:t>
            </a:r>
            <a:r>
              <a:rPr lang="en-US" sz="2000" dirty="0"/>
              <a:t> (+), SpO2 </a:t>
            </a:r>
            <a:r>
              <a:rPr lang="en-US" sz="2000" dirty="0" err="1"/>
              <a:t>tidak</a:t>
            </a:r>
            <a:r>
              <a:rPr lang="en-US" sz="2000" dirty="0"/>
              <a:t> </a:t>
            </a:r>
            <a:r>
              <a:rPr lang="en-US" sz="2000" dirty="0" err="1"/>
              <a:t>terdeteksi</a:t>
            </a:r>
            <a:r>
              <a:rPr lang="en-US" sz="2000" dirty="0"/>
              <a:t>, TD </a:t>
            </a:r>
            <a:r>
              <a:rPr lang="en-US" sz="2000" dirty="0" err="1"/>
              <a:t>tidak</a:t>
            </a:r>
            <a:r>
              <a:rPr lang="en-US" sz="2000" dirty="0"/>
              <a:t> </a:t>
            </a:r>
            <a:r>
              <a:rPr lang="en-US" sz="2000" dirty="0" err="1"/>
              <a:t>terdeteksi</a:t>
            </a:r>
            <a:endParaRPr lang="id-ID" sz="2000" dirty="0"/>
          </a:p>
        </p:txBody>
      </p:sp>
      <p:sp>
        <p:nvSpPr>
          <p:cNvPr id="11273" name="Text Box 6"/>
          <p:cNvSpPr txBox="1">
            <a:spLocks noChangeArrowheads="1"/>
          </p:cNvSpPr>
          <p:nvPr/>
        </p:nvSpPr>
        <p:spPr bwMode="auto">
          <a:xfrm>
            <a:off x="3873287" y="1668643"/>
            <a:ext cx="1841713" cy="301625"/>
          </a:xfrm>
          <a:prstGeom prst="rect">
            <a:avLst/>
          </a:prstGeom>
          <a:solidFill>
            <a:schemeClr val="bg1"/>
          </a:solidFill>
          <a:ln w="9525">
            <a:solidFill>
              <a:schemeClr val="tx1"/>
            </a:solidFill>
            <a:miter lim="800000"/>
          </a:ln>
        </p:spPr>
        <p:txBody>
          <a:bodyPr/>
          <a:lstStyle/>
          <a:p>
            <a:pPr algn="ctr">
              <a:spcAft>
                <a:spcPts val="1000"/>
              </a:spcAft>
              <a:buFont typeface="Wingdings 2" panose="05020102010507070707" pitchFamily="18" charset="2"/>
              <a:buNone/>
              <a:defRPr/>
            </a:pPr>
            <a:r>
              <a:rPr lang="en-US" sz="1400" dirty="0">
                <a:cs typeface="Arial" panose="020B0604020202020204" pitchFamily="34" charset="0"/>
              </a:rPr>
              <a:t>19-6-2025</a:t>
            </a:r>
            <a:endParaRPr lang="id-ID" altLang="en-US" sz="1400" b="1" dirty="0">
              <a:cs typeface="Arial" panose="020B0604020202020204" pitchFamily="34" charset="0"/>
            </a:endParaRPr>
          </a:p>
        </p:txBody>
      </p:sp>
      <p:sp>
        <p:nvSpPr>
          <p:cNvPr id="15367" name="Text Box 14"/>
          <p:cNvSpPr txBox="1">
            <a:spLocks noChangeArrowheads="1"/>
          </p:cNvSpPr>
          <p:nvPr/>
        </p:nvSpPr>
        <p:spPr bwMode="auto">
          <a:xfrm>
            <a:off x="3848736" y="381728"/>
            <a:ext cx="1512887" cy="266700"/>
          </a:xfrm>
          <a:prstGeom prst="rect">
            <a:avLst/>
          </a:prstGeom>
          <a:solidFill>
            <a:schemeClr val="bg2"/>
          </a:solidFill>
          <a:ln w="9525">
            <a:solidFill>
              <a:schemeClr val="tx1"/>
            </a:solidFill>
            <a:miter lim="800000"/>
          </a:ln>
        </p:spPr>
        <p:txBody>
          <a:bodyPr/>
          <a:lstStyle/>
          <a:p>
            <a:pPr algn="ctr">
              <a:lnSpc>
                <a:spcPct val="115000"/>
              </a:lnSpc>
            </a:pPr>
            <a:r>
              <a:rPr lang="en-US" altLang="en-US" sz="1400">
                <a:cs typeface="Arial" panose="020B0604020202020204" pitchFamily="34" charset="0"/>
              </a:rPr>
              <a:t>PICU </a:t>
            </a:r>
            <a:endParaRPr lang="id-ID" altLang="en-US" sz="1400">
              <a:cs typeface="Arial" panose="020B0604020202020204" pitchFamily="34" charset="0"/>
            </a:endParaRPr>
          </a:p>
        </p:txBody>
      </p:sp>
      <p:sp>
        <p:nvSpPr>
          <p:cNvPr id="23" name="Subtitle 2"/>
          <p:cNvSpPr txBox="1">
            <a:spLocks noChangeArrowheads="1"/>
          </p:cNvSpPr>
          <p:nvPr/>
        </p:nvSpPr>
        <p:spPr bwMode="auto">
          <a:xfrm>
            <a:off x="683730" y="-41679"/>
            <a:ext cx="7725633" cy="380241"/>
          </a:xfrm>
          <a:prstGeom prst="rect">
            <a:avLst/>
          </a:prstGeom>
          <a:noFill/>
          <a:ln w="9525">
            <a:noFill/>
            <a:miter lim="800000"/>
          </a:ln>
        </p:spPr>
        <p:txBody>
          <a:bodyPr vert="horz" wrap="square" lIns="91440" tIns="45720" rIns="91440" bIns="45720" numCol="1" anchor="t" anchorCtr="0" compatLnSpc="1"/>
          <a:lstStyle/>
          <a:p>
            <a:pPr algn="ctr" eaLnBrk="1" fontAlgn="auto" hangingPunct="1">
              <a:spcAft>
                <a:spcPts val="0"/>
              </a:spcAft>
              <a:defRPr/>
            </a:pPr>
            <a:endParaRPr lang="id-ID">
              <a:latin typeface="+mn-lt"/>
            </a:endParaRPr>
          </a:p>
        </p:txBody>
      </p:sp>
      <p:sp>
        <p:nvSpPr>
          <p:cNvPr id="30" name="Text Box 3"/>
          <p:cNvSpPr txBox="1">
            <a:spLocks noChangeArrowheads="1"/>
          </p:cNvSpPr>
          <p:nvPr/>
        </p:nvSpPr>
        <p:spPr bwMode="auto">
          <a:xfrm>
            <a:off x="194198" y="3124200"/>
            <a:ext cx="8764806" cy="3505200"/>
          </a:xfrm>
          <a:prstGeom prst="rect">
            <a:avLst/>
          </a:prstGeom>
          <a:noFill/>
          <a:ln w="9525">
            <a:solidFill>
              <a:srgbClr val="FFC000"/>
            </a:solidFill>
            <a:miter lim="800000"/>
          </a:ln>
        </p:spPr>
        <p:txBody>
          <a:bodyPr/>
          <a:lstStyle/>
          <a:p>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=&gt;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Pukul</a:t>
            </a:r>
            <a:r>
              <a:rPr lang="en-US" sz="1400" dirty="0">
                <a:effectLst/>
                <a:latin typeface="Arial" panose="020B0604020202020204" pitchFamily="34" charset="0"/>
                <a:ea typeface="DengXian" panose="02010600030101010101" pitchFamily="2" charset="-122"/>
                <a:cs typeface="Times New Roman" panose="02020603050405020304" pitchFamily="18" charset="0"/>
              </a:rPr>
              <a:t> 12.17</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Px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henti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jantung</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henti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nafas</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 </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=&gt; RJP 30:2 5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siklus</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err="1">
                <a:effectLst/>
                <a:latin typeface="Arial" panose="020B0604020202020204" pitchFamily="34" charset="0"/>
                <a:ea typeface="DengXian" panose="02010600030101010101" pitchFamily="2" charset="-122"/>
                <a:cs typeface="Times New Roman" panose="02020603050405020304" pitchFamily="18" charset="0"/>
              </a:rPr>
              <a:t>Evaluasi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nadi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tidak</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teraba</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err="1">
                <a:effectLst/>
                <a:latin typeface="Arial" panose="020B0604020202020204" pitchFamily="34" charset="0"/>
                <a:ea typeface="DengXian" panose="02010600030101010101" pitchFamily="2" charset="-122"/>
                <a:cs typeface="Times New Roman" panose="02020603050405020304" pitchFamily="18" charset="0"/>
              </a:rPr>
              <a:t>Nafas</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spontan</a:t>
            </a:r>
            <a:r>
              <a:rPr lang="en-US" sz="1400" dirty="0">
                <a:effectLst/>
                <a:latin typeface="Arial" panose="020B0604020202020204" pitchFamily="34" charset="0"/>
                <a:ea typeface="DengXian" panose="02010600030101010101" pitchFamily="2" charset="-122"/>
                <a:cs typeface="Times New Roman" panose="02020603050405020304" pitchFamily="18" charset="0"/>
              </a:rPr>
              <a:t> (-) </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TD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tidak</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terdeteksi</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err="1">
                <a:effectLst/>
                <a:latin typeface="Arial" panose="020B0604020202020204" pitchFamily="34" charset="0"/>
                <a:ea typeface="DengXian" panose="02010600030101010101" pitchFamily="2" charset="-122"/>
                <a:cs typeface="Times New Roman" panose="02020603050405020304" pitchFamily="18" charset="0"/>
              </a:rPr>
              <a:t>Injeksi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epinefrin</a:t>
            </a:r>
            <a:r>
              <a:rPr lang="en-US" sz="1400" dirty="0">
                <a:effectLst/>
                <a:latin typeface="Arial" panose="020B0604020202020204" pitchFamily="34" charset="0"/>
                <a:ea typeface="DengXian" panose="02010600030101010101" pitchFamily="2" charset="-122"/>
                <a:cs typeface="Times New Roman" panose="02020603050405020304" pitchFamily="18" charset="0"/>
              </a:rPr>
              <a:t> 1 ampul</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 </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=&gt; RJP 30:2 5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siklus</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err="1">
                <a:effectLst/>
                <a:latin typeface="Arial" panose="020B0604020202020204" pitchFamily="34" charset="0"/>
                <a:ea typeface="DengXian" panose="02010600030101010101" pitchFamily="2" charset="-122"/>
                <a:cs typeface="Times New Roman" panose="02020603050405020304" pitchFamily="18" charset="0"/>
              </a:rPr>
              <a:t>Evaluasi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nadi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tidak</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teraba</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nafas</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spontan</a:t>
            </a:r>
            <a:r>
              <a:rPr lang="en-US" sz="1400" dirty="0">
                <a:effectLst/>
                <a:latin typeface="Arial" panose="020B0604020202020204" pitchFamily="34" charset="0"/>
                <a:ea typeface="DengXian" panose="02010600030101010101" pitchFamily="2" charset="-122"/>
                <a:cs typeface="Times New Roman" panose="02020603050405020304" pitchFamily="18" charset="0"/>
              </a:rPr>
              <a:t> (-), TD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tidak</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terdeteksi</a:t>
            </a:r>
            <a:r>
              <a:rPr lang="en-US" sz="1400" dirty="0">
                <a:effectLst/>
                <a:latin typeface="Arial" panose="020B0604020202020204" pitchFamily="34" charset="0"/>
                <a:ea typeface="DengXian" panose="02010600030101010101" pitchFamily="2" charset="-122"/>
                <a:cs typeface="Times New Roman" panose="02020603050405020304" pitchFamily="18" charset="0"/>
              </a:rPr>
              <a:t>, Spo2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tidak</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terdeteksi</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EKG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asistole</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 </a:t>
            </a:r>
            <a:endParaRPr lang="en-ID" sz="1400" dirty="0">
              <a:effectLst/>
              <a:latin typeface="Calibri" panose="020F0502020204030204" charset="0"/>
              <a:ea typeface="DengXian" panose="02010600030101010101" pitchFamily="2" charset="-122"/>
              <a:cs typeface="Times New Roman" panose="02020603050405020304" pitchFamily="18" charset="0"/>
            </a:endParaRPr>
          </a:p>
        </p:txBody>
      </p:sp>
      <p:sp>
        <p:nvSpPr>
          <p:cNvPr id="14" name="Text Box 14"/>
          <p:cNvSpPr txBox="1">
            <a:spLocks noChangeArrowheads="1"/>
          </p:cNvSpPr>
          <p:nvPr/>
        </p:nvSpPr>
        <p:spPr bwMode="auto">
          <a:xfrm>
            <a:off x="67044" y="2039302"/>
            <a:ext cx="8959003" cy="932497"/>
          </a:xfrm>
          <a:prstGeom prst="rect">
            <a:avLst/>
          </a:prstGeom>
          <a:solidFill>
            <a:schemeClr val="bg2"/>
          </a:solidFill>
          <a:ln w="9525">
            <a:solidFill>
              <a:schemeClr val="tx1"/>
            </a:solidFill>
            <a:miter lim="800000"/>
          </a:ln>
        </p:spPr>
        <p:txBody>
          <a:bodyPr/>
          <a:lstStyle/>
          <a:p>
            <a:pPr algn="ctr"/>
            <a:r>
              <a:rPr lang="en-US" sz="2000" b="1" i="1" dirty="0">
                <a:effectLst/>
                <a:latin typeface="Arial" panose="020B0604020202020204" pitchFamily="34" charset="0"/>
                <a:ea typeface="DengXian" panose="02010600030101010101" pitchFamily="2" charset="-122"/>
              </a:rPr>
              <a:t>DSS + </a:t>
            </a:r>
            <a:r>
              <a:rPr lang="en-US" sz="2000" b="1" i="1" dirty="0">
                <a:latin typeface="Arial" panose="020B0604020202020204" pitchFamily="34" charset="0"/>
                <a:ea typeface="DengXian" panose="02010600030101010101" pitchFamily="2" charset="-122"/>
              </a:rPr>
              <a:t>Overweight</a:t>
            </a:r>
            <a:r>
              <a:rPr lang="en-US" sz="2000" b="1" i="1" dirty="0">
                <a:effectLst/>
                <a:latin typeface="Arial" panose="020B0604020202020204" pitchFamily="34" charset="0"/>
                <a:ea typeface="DengXian" panose="02010600030101010101" pitchFamily="2" charset="-122"/>
              </a:rPr>
              <a:t>+ Enteritis </a:t>
            </a:r>
            <a:endParaRPr lang="en-US" sz="2000" b="1" i="1" dirty="0">
              <a:effectLst/>
              <a:latin typeface="Arial" panose="020B0604020202020204" pitchFamily="34" charset="0"/>
              <a:ea typeface="DengXian" panose="02010600030101010101" pitchFamily="2" charset="-122"/>
            </a:endParaRPr>
          </a:p>
          <a:p>
            <a:pPr algn="ctr"/>
            <a:r>
              <a:rPr lang="en-US" sz="2000" b="1" i="1" dirty="0">
                <a:latin typeface="Arial" panose="020B0604020202020204" pitchFamily="34" charset="0"/>
                <a:ea typeface="DengXian" panose="02010600030101010101" pitchFamily="2" charset="-122"/>
              </a:rPr>
              <a:t>+</a:t>
            </a:r>
            <a:r>
              <a:rPr lang="en-US" sz="2000" b="1" i="1" dirty="0">
                <a:effectLst/>
                <a:latin typeface="Arial" panose="020B0604020202020204" pitchFamily="34" charset="0"/>
                <a:ea typeface="DengXian" panose="02010600030101010101" pitchFamily="2" charset="-122"/>
              </a:rPr>
              <a:t> transaminitis + Azotemia + </a:t>
            </a:r>
            <a:r>
              <a:rPr lang="en-US" sz="2000" b="1" i="1" dirty="0">
                <a:latin typeface="Arial" panose="020B0604020202020204" pitchFamily="34" charset="0"/>
                <a:ea typeface="DengXian" panose="02010600030101010101" pitchFamily="2" charset="-122"/>
              </a:rPr>
              <a:t>Upper GI B</a:t>
            </a:r>
            <a:r>
              <a:rPr lang="en-US" sz="2000" b="1" i="1" dirty="0">
                <a:effectLst/>
                <a:latin typeface="Arial" panose="020B0604020202020204" pitchFamily="34" charset="0"/>
                <a:ea typeface="DengXian" panose="02010600030101010101" pitchFamily="2" charset="-122"/>
              </a:rPr>
              <a:t>leeding + Status </a:t>
            </a:r>
            <a:r>
              <a:rPr lang="en-US" sz="2000" b="1" i="1" dirty="0" err="1">
                <a:effectLst/>
                <a:latin typeface="Arial" panose="020B0604020202020204" pitchFamily="34" charset="0"/>
                <a:ea typeface="DengXian" panose="02010600030101010101" pitchFamily="2" charset="-122"/>
              </a:rPr>
              <a:t>Epileptikus</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O.k</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perdarahan</a:t>
            </a:r>
            <a:r>
              <a:rPr lang="en-US" sz="2000" b="1" i="1" dirty="0">
                <a:effectLst/>
                <a:latin typeface="Arial" panose="020B0604020202020204" pitchFamily="34" charset="0"/>
                <a:ea typeface="DengXian" panose="02010600030101010101" pitchFamily="2" charset="-122"/>
              </a:rPr>
              <a:t> dd </a:t>
            </a:r>
            <a:r>
              <a:rPr lang="en-US" sz="2000" b="1" i="1" dirty="0" err="1">
                <a:latin typeface="Arial" panose="020B0604020202020204" pitchFamily="34" charset="0"/>
                <a:ea typeface="DengXian" panose="02010600030101010101" pitchFamily="2" charset="-122"/>
              </a:rPr>
              <a:t>elektrolit</a:t>
            </a:r>
            <a:r>
              <a:rPr lang="en-US" sz="2000" b="1" i="1" dirty="0">
                <a:latin typeface="Arial" panose="020B0604020202020204" pitchFamily="34" charset="0"/>
                <a:ea typeface="DengXian" panose="02010600030101010101" pitchFamily="2" charset="-122"/>
              </a:rPr>
              <a:t> imbalance dd </a:t>
            </a:r>
            <a:r>
              <a:rPr lang="en-US" sz="2000" b="1" i="1" dirty="0" err="1">
                <a:latin typeface="Arial" panose="020B0604020202020204" pitchFamily="34" charset="0"/>
                <a:ea typeface="DengXian" panose="02010600030101010101" pitchFamily="2" charset="-122"/>
              </a:rPr>
              <a:t>ensefalitis</a:t>
            </a:r>
            <a:r>
              <a:rPr lang="en-US" sz="2000" b="1" i="1" dirty="0">
                <a:effectLst/>
                <a:latin typeface="Arial" panose="020B0604020202020204" pitchFamily="34" charset="0"/>
                <a:ea typeface="DengXian" panose="02010600030101010101" pitchFamily="2" charset="-122"/>
              </a:rPr>
              <a:t> + Hyponatremia </a:t>
            </a:r>
            <a:endParaRPr lang="en-ID" sz="2000" b="1" i="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364" name="AutoShape 2"/>
          <p:cNvCxnSpPr>
            <a:cxnSpLocks noChangeShapeType="1"/>
          </p:cNvCxnSpPr>
          <p:nvPr/>
        </p:nvCxnSpPr>
        <p:spPr bwMode="auto">
          <a:xfrm>
            <a:off x="-180330" y="1924934"/>
            <a:ext cx="8959850" cy="31750"/>
          </a:xfrm>
          <a:prstGeom prst="straightConnector1">
            <a:avLst/>
          </a:prstGeom>
          <a:noFill/>
          <a:ln w="50800">
            <a:solidFill>
              <a:srgbClr val="FFC000"/>
            </a:solidFill>
            <a:round/>
          </a:ln>
        </p:spPr>
      </p:cxnSp>
      <p:sp>
        <p:nvSpPr>
          <p:cNvPr id="11269" name="Text Box 3"/>
          <p:cNvSpPr txBox="1">
            <a:spLocks noChangeArrowheads="1"/>
          </p:cNvSpPr>
          <p:nvPr/>
        </p:nvSpPr>
        <p:spPr bwMode="auto">
          <a:xfrm>
            <a:off x="194198" y="792284"/>
            <a:ext cx="8720809" cy="935219"/>
          </a:xfrm>
          <a:prstGeom prst="rect">
            <a:avLst/>
          </a:prstGeom>
          <a:noFill/>
          <a:ln w="9525">
            <a:solidFill>
              <a:srgbClr val="FFC000"/>
            </a:solidFill>
            <a:miter lim="800000"/>
          </a:ln>
        </p:spPr>
        <p:txBody>
          <a:bodyPr/>
          <a:lstStyle/>
          <a:p>
            <a:r>
              <a:rPr lang="en-US" sz="1400" dirty="0">
                <a:effectLst/>
                <a:latin typeface="Arial" panose="020B0604020202020204" pitchFamily="34" charset="0"/>
                <a:ea typeface="DengXian" panose="02010600030101010101" pitchFamily="2" charset="-122"/>
                <a:cs typeface="Times New Roman" panose="02020603050405020304" pitchFamily="18" charset="0"/>
              </a:rPr>
              <a:t>=&gt; RJP 30:2 5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siklus</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err="1">
                <a:effectLst/>
                <a:latin typeface="Arial" panose="020B0604020202020204" pitchFamily="34" charset="0"/>
                <a:ea typeface="DengXian" panose="02010600030101010101" pitchFamily="2" charset="-122"/>
                <a:cs typeface="Times New Roman" panose="02020603050405020304" pitchFamily="18" charset="0"/>
              </a:rPr>
              <a:t>Evaluasi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nadi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tidak</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terba</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nafas</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spontan</a:t>
            </a:r>
            <a:r>
              <a:rPr lang="en-US" sz="1400" dirty="0">
                <a:effectLst/>
                <a:latin typeface="Arial" panose="020B0604020202020204" pitchFamily="34" charset="0"/>
                <a:ea typeface="DengXian" panose="02010600030101010101" pitchFamily="2" charset="-122"/>
                <a:cs typeface="Times New Roman" panose="02020603050405020304" pitchFamily="18" charset="0"/>
              </a:rPr>
              <a:t> (-), SpO2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tidak</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terdeteksi</a:t>
            </a:r>
            <a:r>
              <a:rPr lang="en-US" sz="1400" dirty="0">
                <a:effectLst/>
                <a:latin typeface="Arial" panose="020B0604020202020204" pitchFamily="34" charset="0"/>
                <a:ea typeface="DengXian" panose="02010600030101010101" pitchFamily="2" charset="-122"/>
                <a:cs typeface="Times New Roman" panose="02020603050405020304" pitchFamily="18" charset="0"/>
              </a:rPr>
              <a:t>, TD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tidak</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terdeteksi</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err="1">
                <a:effectLst/>
                <a:latin typeface="Arial" panose="020B0604020202020204" pitchFamily="34" charset="0"/>
                <a:ea typeface="DengXian" panose="02010600030101010101" pitchFamily="2" charset="-122"/>
                <a:cs typeface="Times New Roman" panose="02020603050405020304" pitchFamily="18" charset="0"/>
              </a:rPr>
              <a:t>Evaluasi</a:t>
            </a:r>
            <a:r>
              <a:rPr lang="en-US" sz="1400" dirty="0">
                <a:effectLst/>
                <a:latin typeface="Arial" panose="020B0604020202020204" pitchFamily="34" charset="0"/>
                <a:ea typeface="DengXian" panose="02010600030101010101" pitchFamily="2" charset="-122"/>
                <a:cs typeface="Times New Roman" panose="02020603050405020304" pitchFamily="18" charset="0"/>
              </a:rPr>
              <a:t> EKG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asistole</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600" dirty="0">
                <a:effectLst/>
                <a:latin typeface="Arial" panose="020B0604020202020204" pitchFamily="34" charset="0"/>
                <a:ea typeface="DengXian" panose="02010600030101010101" pitchFamily="2" charset="-122"/>
                <a:cs typeface="Times New Roman" panose="02020603050405020304" pitchFamily="18" charset="0"/>
              </a:rPr>
              <a:t>Mata </a:t>
            </a:r>
            <a:r>
              <a:rPr lang="en-US" sz="1600" dirty="0" err="1">
                <a:effectLst/>
                <a:latin typeface="Arial" panose="020B0604020202020204" pitchFamily="34" charset="0"/>
                <a:ea typeface="DengXian" panose="02010600030101010101" pitchFamily="2" charset="-122"/>
                <a:cs typeface="Times New Roman" panose="02020603050405020304" pitchFamily="18" charset="0"/>
              </a:rPr>
              <a:t>midriasis</a:t>
            </a:r>
            <a:r>
              <a:rPr lang="en-US" sz="1600" dirty="0">
                <a:effectLst/>
                <a:latin typeface="Arial" panose="020B0604020202020204" pitchFamily="34" charset="0"/>
                <a:ea typeface="DengXian" panose="02010600030101010101" pitchFamily="2" charset="-122"/>
                <a:cs typeface="Times New Roman" panose="02020603050405020304" pitchFamily="18" charset="0"/>
              </a:rPr>
              <a:t> total Rp-/-, </a:t>
            </a:r>
            <a:r>
              <a:rPr lang="en-US" sz="1600" dirty="0" err="1">
                <a:effectLst/>
                <a:latin typeface="Arial" panose="020B0604020202020204" pitchFamily="34" charset="0"/>
                <a:ea typeface="DengXian" panose="02010600030101010101" pitchFamily="2" charset="-122"/>
                <a:cs typeface="Times New Roman" panose="02020603050405020304" pitchFamily="18" charset="0"/>
              </a:rPr>
              <a:t>Rc</a:t>
            </a:r>
            <a:r>
              <a:rPr lang="en-US" sz="1600" dirty="0">
                <a:effectLst/>
                <a:latin typeface="Arial" panose="020B0604020202020204" pitchFamily="34" charset="0"/>
                <a:ea typeface="DengXian" panose="02010600030101010101" pitchFamily="2" charset="-122"/>
                <a:cs typeface="Times New Roman" panose="02020603050405020304" pitchFamily="18" charset="0"/>
              </a:rPr>
              <a:t> -/-</a:t>
            </a:r>
            <a:endParaRPr lang="en-US" sz="2400" dirty="0">
              <a:latin typeface="+mn-lt"/>
              <a:cs typeface="Arial" panose="020B0604020202020204" pitchFamily="34" charset="0"/>
            </a:endParaRPr>
          </a:p>
        </p:txBody>
      </p:sp>
      <p:sp>
        <p:nvSpPr>
          <p:cNvPr id="11273" name="Text Box 6"/>
          <p:cNvSpPr txBox="1">
            <a:spLocks noChangeArrowheads="1"/>
          </p:cNvSpPr>
          <p:nvPr/>
        </p:nvSpPr>
        <p:spPr bwMode="auto">
          <a:xfrm>
            <a:off x="3873287" y="1668643"/>
            <a:ext cx="1841713" cy="301625"/>
          </a:xfrm>
          <a:prstGeom prst="rect">
            <a:avLst/>
          </a:prstGeom>
          <a:solidFill>
            <a:schemeClr val="bg1"/>
          </a:solidFill>
          <a:ln w="9525">
            <a:solidFill>
              <a:schemeClr val="tx1"/>
            </a:solidFill>
            <a:miter lim="800000"/>
          </a:ln>
        </p:spPr>
        <p:txBody>
          <a:bodyPr/>
          <a:lstStyle/>
          <a:p>
            <a:pPr algn="ctr">
              <a:spcAft>
                <a:spcPts val="1000"/>
              </a:spcAft>
              <a:buFont typeface="Wingdings 2" panose="05020102010507070707" pitchFamily="18" charset="2"/>
              <a:buNone/>
              <a:defRPr/>
            </a:pPr>
            <a:r>
              <a:rPr lang="en-US" sz="1400" dirty="0">
                <a:cs typeface="Arial" panose="020B0604020202020204" pitchFamily="34" charset="0"/>
              </a:rPr>
              <a:t>19-6-2025 12,26</a:t>
            </a:r>
            <a:endParaRPr lang="id-ID" altLang="en-US" sz="1400" b="1" dirty="0">
              <a:cs typeface="Arial" panose="020B0604020202020204" pitchFamily="34" charset="0"/>
            </a:endParaRPr>
          </a:p>
        </p:txBody>
      </p:sp>
      <p:sp>
        <p:nvSpPr>
          <p:cNvPr id="15367" name="Text Box 14"/>
          <p:cNvSpPr txBox="1">
            <a:spLocks noChangeArrowheads="1"/>
          </p:cNvSpPr>
          <p:nvPr/>
        </p:nvSpPr>
        <p:spPr bwMode="auto">
          <a:xfrm>
            <a:off x="3848736" y="381728"/>
            <a:ext cx="1512887" cy="266700"/>
          </a:xfrm>
          <a:prstGeom prst="rect">
            <a:avLst/>
          </a:prstGeom>
          <a:solidFill>
            <a:schemeClr val="bg2"/>
          </a:solidFill>
          <a:ln w="9525">
            <a:solidFill>
              <a:schemeClr val="tx1"/>
            </a:solidFill>
            <a:miter lim="800000"/>
          </a:ln>
        </p:spPr>
        <p:txBody>
          <a:bodyPr/>
          <a:lstStyle/>
          <a:p>
            <a:pPr algn="ctr">
              <a:lnSpc>
                <a:spcPct val="115000"/>
              </a:lnSpc>
            </a:pPr>
            <a:r>
              <a:rPr lang="en-US" altLang="en-US" sz="1400" dirty="0">
                <a:cs typeface="Arial" panose="020B0604020202020204" pitchFamily="34" charset="0"/>
              </a:rPr>
              <a:t>PICU</a:t>
            </a:r>
            <a:endParaRPr lang="id-ID" altLang="en-US" sz="1400" dirty="0">
              <a:cs typeface="Arial" panose="020B0604020202020204" pitchFamily="34" charset="0"/>
            </a:endParaRPr>
          </a:p>
        </p:txBody>
      </p:sp>
      <p:sp>
        <p:nvSpPr>
          <p:cNvPr id="23" name="Subtitle 2"/>
          <p:cNvSpPr txBox="1">
            <a:spLocks noChangeArrowheads="1"/>
          </p:cNvSpPr>
          <p:nvPr/>
        </p:nvSpPr>
        <p:spPr bwMode="auto">
          <a:xfrm>
            <a:off x="683730" y="-41679"/>
            <a:ext cx="7725633" cy="380241"/>
          </a:xfrm>
          <a:prstGeom prst="rect">
            <a:avLst/>
          </a:prstGeom>
          <a:noFill/>
          <a:ln w="9525">
            <a:noFill/>
            <a:miter lim="800000"/>
          </a:ln>
        </p:spPr>
        <p:txBody>
          <a:bodyPr vert="horz" wrap="square" lIns="91440" tIns="45720" rIns="91440" bIns="45720" numCol="1" anchor="t" anchorCtr="0" compatLnSpc="1"/>
          <a:lstStyle/>
          <a:p>
            <a:pPr algn="ctr" eaLnBrk="1" fontAlgn="auto" hangingPunct="1">
              <a:spcAft>
                <a:spcPts val="0"/>
              </a:spcAft>
              <a:defRPr/>
            </a:pPr>
            <a:endParaRPr lang="id-ID">
              <a:latin typeface="+mn-lt"/>
            </a:endParaRPr>
          </a:p>
        </p:txBody>
      </p:sp>
      <p:sp>
        <p:nvSpPr>
          <p:cNvPr id="30" name="Text Box 3"/>
          <p:cNvSpPr txBox="1">
            <a:spLocks noChangeArrowheads="1"/>
          </p:cNvSpPr>
          <p:nvPr/>
        </p:nvSpPr>
        <p:spPr bwMode="auto">
          <a:xfrm>
            <a:off x="194198" y="3124200"/>
            <a:ext cx="8764806" cy="3505200"/>
          </a:xfrm>
          <a:prstGeom prst="rect">
            <a:avLst/>
          </a:prstGeom>
          <a:noFill/>
          <a:ln w="9525">
            <a:solidFill>
              <a:srgbClr val="FFC000"/>
            </a:solidFill>
            <a:miter lim="800000"/>
          </a:ln>
        </p:spPr>
        <p:txBody>
          <a:bodyPr/>
          <a:lstStyle/>
          <a:p>
            <a:r>
              <a:rPr lang="en-US" sz="1400" dirty="0">
                <a:effectLst/>
                <a:latin typeface="Arial" panose="020B0604020202020204" pitchFamily="34" charset="0"/>
                <a:ea typeface="DengXian" panose="02010600030101010101" pitchFamily="2" charset="-122"/>
                <a:cs typeface="Times New Roman" panose="02020603050405020304" pitchFamily="18" charset="0"/>
              </a:rPr>
              <a:t>Px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dinyatakan</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meninggal</a:t>
            </a:r>
            <a:r>
              <a:rPr lang="en-US" sz="1400" dirty="0">
                <a:effectLst/>
                <a:latin typeface="Arial" panose="020B0604020202020204" pitchFamily="34" charset="0"/>
                <a:ea typeface="DengXian" panose="02010600030101010101" pitchFamily="2" charset="-122"/>
                <a:cs typeface="Times New Roman" panose="02020603050405020304" pitchFamily="18" charset="0"/>
              </a:rPr>
              <a:t> dunia oleh dr. Jaga IGD (dr. Olive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pukul</a:t>
            </a:r>
            <a:r>
              <a:rPr lang="en-US" sz="1400" dirty="0">
                <a:effectLst/>
                <a:latin typeface="Arial" panose="020B0604020202020204" pitchFamily="34" charset="0"/>
                <a:ea typeface="DengXian" panose="02010600030101010101" pitchFamily="2" charset="-122"/>
                <a:cs typeface="Times New Roman" panose="02020603050405020304" pitchFamily="18" charset="0"/>
              </a:rPr>
              <a:t> 12.26) </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 </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err="1">
                <a:effectLst/>
                <a:latin typeface="Arial" panose="020B0604020202020204" pitchFamily="34" charset="0"/>
                <a:ea typeface="DengXian" panose="02010600030101010101" pitchFamily="2" charset="-122"/>
                <a:cs typeface="Times New Roman" panose="02020603050405020304" pitchFamily="18" charset="0"/>
              </a:rPr>
              <a:t>Lapor</a:t>
            </a:r>
            <a:r>
              <a:rPr lang="en-US" sz="1400" dirty="0">
                <a:effectLst/>
                <a:latin typeface="Arial" panose="020B0604020202020204" pitchFamily="34" charset="0"/>
                <a:ea typeface="DengXian" panose="02010600030101010101" pitchFamily="2" charset="-122"/>
                <a:cs typeface="Times New Roman" panose="02020603050405020304" pitchFamily="18" charset="0"/>
              </a:rPr>
              <a:t> dr.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Haykal</a:t>
            </a:r>
            <a:r>
              <a:rPr lang="en-US" sz="1400" dirty="0">
                <a:effectLst/>
                <a:latin typeface="Arial" panose="020B0604020202020204" pitchFamily="34" charset="0"/>
                <a:ea typeface="DengXian" panose="02010600030101010101" pitchFamily="2" charset="-122"/>
                <a:cs typeface="Times New Roman" panose="02020603050405020304" pitchFamily="18" charset="0"/>
              </a:rPr>
              <a:t> (+) </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 </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KIE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keluarga</a:t>
            </a:r>
            <a:r>
              <a:rPr lang="en-US" sz="1400" dirty="0">
                <a:effectLst/>
                <a:latin typeface="Arial" panose="020B0604020202020204" pitchFamily="34" charset="0"/>
                <a:ea typeface="DengXian" panose="02010600030101010101" pitchFamily="2" charset="-122"/>
                <a:cs typeface="Times New Roman" panose="02020603050405020304" pitchFamily="18" charset="0"/>
              </a:rPr>
              <a:t> px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meninggal</a:t>
            </a:r>
            <a:r>
              <a:rPr lang="en-US" sz="1400" dirty="0">
                <a:effectLst/>
                <a:latin typeface="Arial" panose="020B0604020202020204" pitchFamily="34" charset="0"/>
                <a:ea typeface="DengXian" panose="02010600030101010101" pitchFamily="2" charset="-122"/>
                <a:cs typeface="Times New Roman" panose="02020603050405020304" pitchFamily="18" charset="0"/>
              </a:rPr>
              <a:t> dunia oleh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dr</a:t>
            </a:r>
            <a:r>
              <a:rPr lang="en-US" sz="1400" dirty="0">
                <a:effectLst/>
                <a:latin typeface="Arial" panose="020B0604020202020204" pitchFamily="34" charset="0"/>
                <a:ea typeface="DengXian" panose="02010600030101010101" pitchFamily="2" charset="-122"/>
                <a:cs typeface="Times New Roman" panose="02020603050405020304" pitchFamily="18" charset="0"/>
              </a:rPr>
              <a:t> jaga IGD</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err="1">
                <a:effectLst/>
                <a:latin typeface="Arial" panose="020B0604020202020204" pitchFamily="34" charset="0"/>
                <a:ea typeface="DengXian" panose="02010600030101010101" pitchFamily="2" charset="-122"/>
                <a:cs typeface="Times New Roman" panose="02020603050405020304" pitchFamily="18" charset="0"/>
              </a:rPr>
              <a:t>Kie</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r>
              <a:rPr lang="en-US" sz="1400" dirty="0" err="1">
                <a:effectLst/>
                <a:latin typeface="Arial" panose="020B0604020202020204" pitchFamily="34" charset="0"/>
                <a:ea typeface="DengXian" panose="02010600030101010101" pitchFamily="2" charset="-122"/>
                <a:cs typeface="Times New Roman" panose="02020603050405020304" pitchFamily="18" charset="0"/>
              </a:rPr>
              <a:t>Keluarga</a:t>
            </a:r>
            <a:r>
              <a:rPr lang="en-US" sz="1400" dirty="0">
                <a:effectLst/>
                <a:latin typeface="Arial" panose="020B0604020202020204" pitchFamily="34" charset="0"/>
                <a:ea typeface="DengXian" panose="02010600030101010101" pitchFamily="2" charset="-122"/>
                <a:cs typeface="Times New Roman" panose="02020603050405020304" pitchFamily="18" charset="0"/>
              </a:rPr>
              <a:t> (+)</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Arial" panose="020B0604020202020204" pitchFamily="34" charset="0"/>
                <a:ea typeface="DengXian" panose="02010600030101010101" pitchFamily="2" charset="-122"/>
                <a:cs typeface="Times New Roman" panose="02020603050405020304" pitchFamily="18" charset="0"/>
              </a:rPr>
              <a:t> </a:t>
            </a:r>
            <a:endParaRPr lang="en-ID" sz="1400" dirty="0">
              <a:effectLst/>
              <a:latin typeface="Calibri" panose="020F0502020204030204" charset="0"/>
              <a:ea typeface="DengXian" panose="02010600030101010101" pitchFamily="2" charset="-122"/>
              <a:cs typeface="Times New Roman" panose="02020603050405020304" pitchFamily="18" charset="0"/>
            </a:endParaRPr>
          </a:p>
          <a:p>
            <a:r>
              <a:rPr lang="en-US" sz="1400" dirty="0">
                <a:effectLst/>
                <a:latin typeface="Calibri" panose="020F0502020204030204" charset="0"/>
                <a:ea typeface="DengXian" panose="02010600030101010101" pitchFamily="2" charset="-122"/>
                <a:cs typeface="Times New Roman" panose="02020603050405020304" pitchFamily="18" charset="0"/>
              </a:rPr>
              <a:t> </a:t>
            </a:r>
            <a:endParaRPr lang="en-US" sz="2000" dirty="0">
              <a:latin typeface="+mn-lt"/>
              <a:cs typeface="Arial" panose="020B0604020202020204" pitchFamily="34" charset="0"/>
            </a:endParaRPr>
          </a:p>
        </p:txBody>
      </p:sp>
      <p:sp>
        <p:nvSpPr>
          <p:cNvPr id="14" name="Text Box 14"/>
          <p:cNvSpPr txBox="1">
            <a:spLocks noChangeArrowheads="1"/>
          </p:cNvSpPr>
          <p:nvPr/>
        </p:nvSpPr>
        <p:spPr bwMode="auto">
          <a:xfrm>
            <a:off x="67044" y="2039302"/>
            <a:ext cx="8959003" cy="932497"/>
          </a:xfrm>
          <a:prstGeom prst="rect">
            <a:avLst/>
          </a:prstGeom>
          <a:solidFill>
            <a:schemeClr val="bg2"/>
          </a:solidFill>
          <a:ln w="9525">
            <a:solidFill>
              <a:schemeClr val="tx1"/>
            </a:solidFill>
            <a:miter lim="800000"/>
          </a:ln>
        </p:spPr>
        <p:txBody>
          <a:bodyPr/>
          <a:lstStyle/>
          <a:p>
            <a:pPr algn="ctr"/>
            <a:r>
              <a:rPr lang="en-US" sz="2000" b="1" i="1" dirty="0">
                <a:effectLst/>
                <a:latin typeface="Arial" panose="020B0604020202020204" pitchFamily="34" charset="0"/>
                <a:ea typeface="DengXian" panose="02010600030101010101" pitchFamily="2" charset="-122"/>
              </a:rPr>
              <a:t>DSS + </a:t>
            </a:r>
            <a:r>
              <a:rPr lang="en-US" sz="2000" b="1" i="1" dirty="0">
                <a:latin typeface="Arial" panose="020B0604020202020204" pitchFamily="34" charset="0"/>
                <a:ea typeface="DengXian" panose="02010600030101010101" pitchFamily="2" charset="-122"/>
              </a:rPr>
              <a:t>Overweight</a:t>
            </a:r>
            <a:r>
              <a:rPr lang="en-US" sz="2000" b="1" i="1" dirty="0">
                <a:effectLst/>
                <a:latin typeface="Arial" panose="020B0604020202020204" pitchFamily="34" charset="0"/>
                <a:ea typeface="DengXian" panose="02010600030101010101" pitchFamily="2" charset="-122"/>
              </a:rPr>
              <a:t>+ Enteritis </a:t>
            </a:r>
            <a:endParaRPr lang="en-US" sz="2000" b="1" i="1" dirty="0">
              <a:effectLst/>
              <a:latin typeface="Arial" panose="020B0604020202020204" pitchFamily="34" charset="0"/>
              <a:ea typeface="DengXian" panose="02010600030101010101" pitchFamily="2" charset="-122"/>
            </a:endParaRPr>
          </a:p>
          <a:p>
            <a:pPr algn="ctr"/>
            <a:r>
              <a:rPr lang="en-US" sz="2000" b="1" i="1" dirty="0">
                <a:latin typeface="Arial" panose="020B0604020202020204" pitchFamily="34" charset="0"/>
                <a:ea typeface="DengXian" panose="02010600030101010101" pitchFamily="2" charset="-122"/>
              </a:rPr>
              <a:t>+</a:t>
            </a:r>
            <a:r>
              <a:rPr lang="en-US" sz="2000" b="1" i="1" dirty="0">
                <a:effectLst/>
                <a:latin typeface="Arial" panose="020B0604020202020204" pitchFamily="34" charset="0"/>
                <a:ea typeface="DengXian" panose="02010600030101010101" pitchFamily="2" charset="-122"/>
              </a:rPr>
              <a:t> transaminitis + Azotemia + </a:t>
            </a:r>
            <a:r>
              <a:rPr lang="en-US" sz="2000" b="1" i="1" dirty="0">
                <a:latin typeface="Arial" panose="020B0604020202020204" pitchFamily="34" charset="0"/>
                <a:ea typeface="DengXian" panose="02010600030101010101" pitchFamily="2" charset="-122"/>
              </a:rPr>
              <a:t>Upper GI B</a:t>
            </a:r>
            <a:r>
              <a:rPr lang="en-US" sz="2000" b="1" i="1" dirty="0">
                <a:effectLst/>
                <a:latin typeface="Arial" panose="020B0604020202020204" pitchFamily="34" charset="0"/>
                <a:ea typeface="DengXian" panose="02010600030101010101" pitchFamily="2" charset="-122"/>
              </a:rPr>
              <a:t>leeding + Status </a:t>
            </a:r>
            <a:r>
              <a:rPr lang="en-US" sz="2000" b="1" i="1" dirty="0" err="1">
                <a:effectLst/>
                <a:latin typeface="Arial" panose="020B0604020202020204" pitchFamily="34" charset="0"/>
                <a:ea typeface="DengXian" panose="02010600030101010101" pitchFamily="2" charset="-122"/>
              </a:rPr>
              <a:t>Epileptikus</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O.k</a:t>
            </a:r>
            <a:r>
              <a:rPr lang="en-US" sz="2000" b="1" i="1" dirty="0">
                <a:effectLst/>
                <a:latin typeface="Arial" panose="020B0604020202020204" pitchFamily="34" charset="0"/>
                <a:ea typeface="DengXian" panose="02010600030101010101" pitchFamily="2" charset="-122"/>
              </a:rPr>
              <a:t> </a:t>
            </a:r>
            <a:r>
              <a:rPr lang="en-US" sz="2000" b="1" i="1" dirty="0" err="1">
                <a:effectLst/>
                <a:latin typeface="Arial" panose="020B0604020202020204" pitchFamily="34" charset="0"/>
                <a:ea typeface="DengXian" panose="02010600030101010101" pitchFamily="2" charset="-122"/>
              </a:rPr>
              <a:t>perdarahan</a:t>
            </a:r>
            <a:r>
              <a:rPr lang="en-US" sz="2000" b="1" i="1" dirty="0">
                <a:effectLst/>
                <a:latin typeface="Arial" panose="020B0604020202020204" pitchFamily="34" charset="0"/>
                <a:ea typeface="DengXian" panose="02010600030101010101" pitchFamily="2" charset="-122"/>
              </a:rPr>
              <a:t> dd </a:t>
            </a:r>
            <a:r>
              <a:rPr lang="en-US" sz="2000" b="1" i="1" dirty="0" err="1">
                <a:latin typeface="Arial" panose="020B0604020202020204" pitchFamily="34" charset="0"/>
                <a:ea typeface="DengXian" panose="02010600030101010101" pitchFamily="2" charset="-122"/>
              </a:rPr>
              <a:t>elektrolit</a:t>
            </a:r>
            <a:r>
              <a:rPr lang="en-US" sz="2000" b="1" i="1" dirty="0">
                <a:latin typeface="Arial" panose="020B0604020202020204" pitchFamily="34" charset="0"/>
                <a:ea typeface="DengXian" panose="02010600030101010101" pitchFamily="2" charset="-122"/>
              </a:rPr>
              <a:t> imbalance dd </a:t>
            </a:r>
            <a:r>
              <a:rPr lang="en-US" sz="2000" b="1" i="1" dirty="0" err="1">
                <a:latin typeface="Arial" panose="020B0604020202020204" pitchFamily="34" charset="0"/>
                <a:ea typeface="DengXian" panose="02010600030101010101" pitchFamily="2" charset="-122"/>
              </a:rPr>
              <a:t>ensefalitis</a:t>
            </a:r>
            <a:r>
              <a:rPr lang="en-US" sz="2000" b="1" i="1" dirty="0">
                <a:effectLst/>
                <a:latin typeface="Arial" panose="020B0604020202020204" pitchFamily="34" charset="0"/>
                <a:ea typeface="DengXian" panose="02010600030101010101" pitchFamily="2" charset="-122"/>
              </a:rPr>
              <a:t> + Hyponatremia </a:t>
            </a:r>
            <a:endParaRPr lang="en-ID" sz="2000" b="1" i="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eaLnBrk="1" fontAlgn="auto" hangingPunct="1">
              <a:spcAft>
                <a:spcPts val="0"/>
              </a:spcAft>
              <a:defRPr/>
            </a:pPr>
            <a:r>
              <a:rPr lang="id-ID">
                <a:cs typeface="+mj-cs"/>
              </a:rPr>
              <a:t>Diagnosis </a:t>
            </a:r>
            <a:r>
              <a:rPr lang="id-ID"/>
              <a:t>Akhir</a:t>
            </a:r>
            <a:endParaRPr lang="id-ID">
              <a:cs typeface="+mj-cs"/>
            </a:endParaRPr>
          </a:p>
        </p:txBody>
      </p:sp>
      <p:sp>
        <p:nvSpPr>
          <p:cNvPr id="14338" name="Content Placeholder 1"/>
          <p:cNvSpPr>
            <a:spLocks noGrp="1"/>
          </p:cNvSpPr>
          <p:nvPr>
            <p:ph idx="1"/>
          </p:nvPr>
        </p:nvSpPr>
        <p:spPr>
          <a:xfrm>
            <a:off x="822959" y="1845734"/>
            <a:ext cx="7709316" cy="4319456"/>
          </a:xfrm>
        </p:spPr>
        <p:txBody>
          <a:bodyPr>
            <a:normAutofit/>
          </a:bodyPr>
          <a:lstStyle/>
          <a:p>
            <a:pPr marL="457200" indent="-457200">
              <a:buFont typeface="+mj-lt"/>
              <a:buAutoNum type="arabicPeriod"/>
            </a:pPr>
            <a:r>
              <a:rPr lang="en-US" sz="1800" b="1" i="1" dirty="0">
                <a:effectLst/>
                <a:latin typeface="Arial" panose="020B0604020202020204" pitchFamily="34" charset="0"/>
                <a:ea typeface="DengXian" panose="02010600030101010101" pitchFamily="2" charset="-122"/>
              </a:rPr>
              <a:t>DSS  </a:t>
            </a:r>
            <a:endParaRPr lang="en-US" sz="1800" b="1" i="1" dirty="0">
              <a:effectLst/>
              <a:latin typeface="Arial" panose="020B0604020202020204" pitchFamily="34" charset="0"/>
              <a:ea typeface="DengXian" panose="02010600030101010101" pitchFamily="2" charset="-122"/>
            </a:endParaRPr>
          </a:p>
          <a:p>
            <a:pPr marL="457200" indent="-457200">
              <a:buFont typeface="+mj-lt"/>
              <a:buAutoNum type="arabicPeriod"/>
            </a:pPr>
            <a:r>
              <a:rPr lang="en-US" sz="1800" b="1" i="1" dirty="0">
                <a:latin typeface="Arial" panose="020B0604020202020204" pitchFamily="34" charset="0"/>
                <a:ea typeface="DengXian" panose="02010600030101010101" pitchFamily="2" charset="-122"/>
              </a:rPr>
              <a:t>Overweight</a:t>
            </a:r>
            <a:endParaRPr lang="en-US" sz="1800" b="1" i="1" dirty="0">
              <a:latin typeface="Arial" panose="020B0604020202020204" pitchFamily="34" charset="0"/>
              <a:ea typeface="DengXian" panose="02010600030101010101" pitchFamily="2" charset="-122"/>
            </a:endParaRPr>
          </a:p>
          <a:p>
            <a:pPr marL="457200" indent="-457200">
              <a:buFont typeface="+mj-lt"/>
              <a:buAutoNum type="arabicPeriod"/>
            </a:pPr>
            <a:r>
              <a:rPr lang="en-US" sz="1800" b="1" i="1" dirty="0">
                <a:effectLst/>
                <a:latin typeface="Arial" panose="020B0604020202020204" pitchFamily="34" charset="0"/>
                <a:ea typeface="DengXian" panose="02010600030101010101" pitchFamily="2" charset="-122"/>
              </a:rPr>
              <a:t> Enteritis </a:t>
            </a:r>
            <a:endParaRPr lang="en-US" sz="1800" b="1" i="1" dirty="0">
              <a:effectLst/>
              <a:latin typeface="Arial" panose="020B0604020202020204" pitchFamily="34" charset="0"/>
              <a:ea typeface="DengXian" panose="02010600030101010101" pitchFamily="2" charset="-122"/>
            </a:endParaRPr>
          </a:p>
          <a:p>
            <a:pPr marL="457200" indent="-457200">
              <a:buFont typeface="+mj-lt"/>
              <a:buAutoNum type="arabicPeriod"/>
            </a:pPr>
            <a:r>
              <a:rPr lang="en-US" sz="1800" b="1" i="1" dirty="0">
                <a:effectLst/>
                <a:latin typeface="Arial" panose="020B0604020202020204" pitchFamily="34" charset="0"/>
                <a:ea typeface="DengXian" panose="02010600030101010101" pitchFamily="2" charset="-122"/>
              </a:rPr>
              <a:t>transaminitis </a:t>
            </a:r>
            <a:endParaRPr lang="en-US" sz="1800" b="1" i="1" dirty="0">
              <a:effectLst/>
              <a:latin typeface="Arial" panose="020B0604020202020204" pitchFamily="34" charset="0"/>
              <a:ea typeface="DengXian" panose="02010600030101010101" pitchFamily="2" charset="-122"/>
            </a:endParaRPr>
          </a:p>
          <a:p>
            <a:pPr marL="457200" indent="-457200">
              <a:buFont typeface="+mj-lt"/>
              <a:buAutoNum type="arabicPeriod"/>
            </a:pPr>
            <a:r>
              <a:rPr lang="en-US" sz="1800" b="1" i="1" dirty="0">
                <a:effectLst/>
                <a:latin typeface="Arial" panose="020B0604020202020204" pitchFamily="34" charset="0"/>
                <a:ea typeface="DengXian" panose="02010600030101010101" pitchFamily="2" charset="-122"/>
              </a:rPr>
              <a:t>Azotemia </a:t>
            </a:r>
            <a:endParaRPr lang="en-US" sz="1800" b="1" i="1" dirty="0">
              <a:effectLst/>
              <a:latin typeface="Arial" panose="020B0604020202020204" pitchFamily="34" charset="0"/>
              <a:ea typeface="DengXian" panose="02010600030101010101" pitchFamily="2" charset="-122"/>
            </a:endParaRPr>
          </a:p>
          <a:p>
            <a:pPr marL="457200" indent="-457200">
              <a:buFont typeface="+mj-lt"/>
              <a:buAutoNum type="arabicPeriod"/>
            </a:pPr>
            <a:r>
              <a:rPr lang="en-US" sz="1800" b="1" i="1" dirty="0">
                <a:latin typeface="Arial" panose="020B0604020202020204" pitchFamily="34" charset="0"/>
                <a:ea typeface="DengXian" panose="02010600030101010101" pitchFamily="2" charset="-122"/>
              </a:rPr>
              <a:t>Upper GI B</a:t>
            </a:r>
            <a:r>
              <a:rPr lang="en-US" sz="1800" b="1" i="1" dirty="0">
                <a:effectLst/>
                <a:latin typeface="Arial" panose="020B0604020202020204" pitchFamily="34" charset="0"/>
                <a:ea typeface="DengXian" panose="02010600030101010101" pitchFamily="2" charset="-122"/>
              </a:rPr>
              <a:t>leeding </a:t>
            </a:r>
            <a:endParaRPr lang="en-US" sz="1800" b="1" i="1" dirty="0">
              <a:effectLst/>
              <a:latin typeface="Arial" panose="020B0604020202020204" pitchFamily="34" charset="0"/>
              <a:ea typeface="DengXian" panose="02010600030101010101" pitchFamily="2" charset="-122"/>
            </a:endParaRPr>
          </a:p>
          <a:p>
            <a:pPr marL="457200" indent="-457200">
              <a:buFont typeface="+mj-lt"/>
              <a:buAutoNum type="arabicPeriod"/>
            </a:pPr>
            <a:r>
              <a:rPr lang="en-US" sz="1800" b="1" i="1" dirty="0">
                <a:effectLst/>
                <a:latin typeface="Arial" panose="020B0604020202020204" pitchFamily="34" charset="0"/>
                <a:ea typeface="DengXian" panose="02010600030101010101" pitchFamily="2" charset="-122"/>
              </a:rPr>
              <a:t>Status </a:t>
            </a:r>
            <a:r>
              <a:rPr lang="en-US" sz="1800" b="1" i="1" dirty="0" err="1">
                <a:effectLst/>
                <a:latin typeface="Arial" panose="020B0604020202020204" pitchFamily="34" charset="0"/>
                <a:ea typeface="DengXian" panose="02010600030101010101" pitchFamily="2" charset="-122"/>
              </a:rPr>
              <a:t>Epileptikus</a:t>
            </a:r>
            <a:r>
              <a:rPr lang="en-US" sz="1800" b="1" i="1" dirty="0">
                <a:effectLst/>
                <a:latin typeface="Arial" panose="020B0604020202020204" pitchFamily="34" charset="0"/>
                <a:ea typeface="DengXian" panose="02010600030101010101" pitchFamily="2" charset="-122"/>
              </a:rPr>
              <a:t> </a:t>
            </a:r>
            <a:r>
              <a:rPr lang="en-US" sz="1800" b="1" i="1" dirty="0" err="1">
                <a:effectLst/>
                <a:latin typeface="Arial" panose="020B0604020202020204" pitchFamily="34" charset="0"/>
                <a:ea typeface="DengXian" panose="02010600030101010101" pitchFamily="2" charset="-122"/>
              </a:rPr>
              <a:t>O.k</a:t>
            </a:r>
            <a:r>
              <a:rPr lang="en-US" sz="1800" b="1" i="1" dirty="0">
                <a:effectLst/>
                <a:latin typeface="Arial" panose="020B0604020202020204" pitchFamily="34" charset="0"/>
                <a:ea typeface="DengXian" panose="02010600030101010101" pitchFamily="2" charset="-122"/>
              </a:rPr>
              <a:t> </a:t>
            </a:r>
            <a:r>
              <a:rPr lang="en-US" sz="1800" b="1" i="1" dirty="0" err="1">
                <a:effectLst/>
                <a:latin typeface="Arial" panose="020B0604020202020204" pitchFamily="34" charset="0"/>
                <a:ea typeface="DengXian" panose="02010600030101010101" pitchFamily="2" charset="-122"/>
              </a:rPr>
              <a:t>perdarahan</a:t>
            </a:r>
            <a:r>
              <a:rPr lang="en-US" sz="1800" b="1" i="1" dirty="0">
                <a:effectLst/>
                <a:latin typeface="Arial" panose="020B0604020202020204" pitchFamily="34" charset="0"/>
                <a:ea typeface="DengXian" panose="02010600030101010101" pitchFamily="2" charset="-122"/>
              </a:rPr>
              <a:t> dd </a:t>
            </a:r>
            <a:r>
              <a:rPr lang="en-US" sz="1800" b="1" i="1" dirty="0" err="1">
                <a:latin typeface="Arial" panose="020B0604020202020204" pitchFamily="34" charset="0"/>
                <a:ea typeface="DengXian" panose="02010600030101010101" pitchFamily="2" charset="-122"/>
              </a:rPr>
              <a:t>elektrolit</a:t>
            </a:r>
            <a:r>
              <a:rPr lang="en-US" sz="1800" b="1" i="1" dirty="0">
                <a:latin typeface="Arial" panose="020B0604020202020204" pitchFamily="34" charset="0"/>
                <a:ea typeface="DengXian" panose="02010600030101010101" pitchFamily="2" charset="-122"/>
              </a:rPr>
              <a:t> imbalance dd </a:t>
            </a:r>
            <a:r>
              <a:rPr lang="en-US" sz="1800" b="1" i="1" dirty="0" err="1">
                <a:latin typeface="Arial" panose="020B0604020202020204" pitchFamily="34" charset="0"/>
                <a:ea typeface="DengXian" panose="02010600030101010101" pitchFamily="2" charset="-122"/>
              </a:rPr>
              <a:t>ensefalitis</a:t>
            </a:r>
            <a:r>
              <a:rPr lang="en-US" sz="1800" b="1" i="1" dirty="0">
                <a:effectLst/>
                <a:latin typeface="Arial" panose="020B0604020202020204" pitchFamily="34" charset="0"/>
                <a:ea typeface="DengXian" panose="02010600030101010101" pitchFamily="2" charset="-122"/>
              </a:rPr>
              <a:t> </a:t>
            </a:r>
            <a:endParaRPr lang="en-US" sz="1800" b="1" i="1" dirty="0">
              <a:effectLst/>
              <a:latin typeface="Arial" panose="020B0604020202020204" pitchFamily="34" charset="0"/>
              <a:ea typeface="DengXian" panose="02010600030101010101" pitchFamily="2" charset="-122"/>
            </a:endParaRPr>
          </a:p>
          <a:p>
            <a:pPr marL="457200" indent="-457200">
              <a:buFont typeface="+mj-lt"/>
              <a:buAutoNum type="arabicPeriod"/>
            </a:pPr>
            <a:r>
              <a:rPr lang="en-US" sz="1800" b="1" i="1" dirty="0">
                <a:effectLst/>
                <a:latin typeface="Arial" panose="020B0604020202020204" pitchFamily="34" charset="0"/>
                <a:ea typeface="DengXian" panose="02010600030101010101" pitchFamily="2" charset="-122"/>
              </a:rPr>
              <a:t>Hyponatremia </a:t>
            </a:r>
            <a:endParaRPr lang="en-ID" sz="1800" b="1" i="1" dirty="0"/>
          </a:p>
          <a:p>
            <a:pPr marL="457200" indent="-457200">
              <a:buFont typeface="+mj-lt"/>
              <a:buAutoNum type="arabicPeriod"/>
            </a:pPr>
            <a:endParaRPr lang="id-ID" sz="1800" b="1" dirty="0">
              <a:ea typeface="华文新魏"/>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040" y="1988820"/>
            <a:ext cx="7560310" cy="1440180"/>
          </a:xfrm>
        </p:spPr>
        <p:txBody>
          <a:bodyPr>
            <a:noAutofit/>
          </a:bodyPr>
          <a:lstStyle/>
          <a:p>
            <a:r>
              <a:rPr lang="en-US" altLang="id-ID" sz="1800" b="1" dirty="0">
                <a:latin typeface="+mn-lt"/>
              </a:rPr>
              <a:t>peNYEBAB KEMATIAN LANGSUNG: DIC, KEBOCORAN PLASMA YANG MENYEBABKAN KEKURANGAN CAIRAN DAN KEGAGALAN ORGAN MULTIPLE, PERDARAHAN GI DAN OTAK</a:t>
            </a:r>
            <a:br>
              <a:rPr lang="id-ID" sz="1800" b="1" dirty="0">
                <a:latin typeface="+mn-lt"/>
              </a:rPr>
            </a:br>
            <a:br>
              <a:rPr lang="id-ID" sz="3200" b="1" dirty="0">
                <a:latin typeface="+mn-lt"/>
              </a:rPr>
            </a:br>
            <a:br>
              <a:rPr lang="id-ID" sz="2800" b="1" dirty="0">
                <a:latin typeface="+mn-lt"/>
              </a:rPr>
            </a:br>
            <a:r>
              <a:rPr lang="id-ID" sz="1800" b="1" dirty="0">
                <a:latin typeface="+mn-lt"/>
              </a:rPr>
              <a:t>Penyebab kematian tidak langsung : </a:t>
            </a:r>
            <a:br>
              <a:rPr lang="id-ID" sz="1800" b="1" dirty="0">
                <a:latin typeface="+mn-lt"/>
              </a:rPr>
            </a:br>
            <a:r>
              <a:rPr lang="en-US" altLang="id-ID" sz="1800" b="1" dirty="0">
                <a:latin typeface="+mn-lt"/>
              </a:rPr>
              <a:t>FAKTOR RESIKO INDIVIDU ADANYA PENYAKIT PENYERTA , KOMPLIKASI </a:t>
            </a:r>
            <a:endParaRPr lang="en-US" altLang="id-ID" sz="1800" b="1" dirty="0">
              <a:latin typeface="+mn-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43355" y="804545"/>
            <a:ext cx="6571615" cy="657225"/>
          </a:xfrm>
        </p:spPr>
        <p:txBody>
          <a:bodyPr/>
          <a:p>
            <a:r>
              <a:rPr lang="en-US"/>
              <a:t>ANALISA KASUS</a:t>
            </a:r>
            <a:endParaRPr lang="en-US"/>
          </a:p>
        </p:txBody>
      </p:sp>
      <p:sp>
        <p:nvSpPr>
          <p:cNvPr id="3" name="Content Placeholder 2"/>
          <p:cNvSpPr>
            <a:spLocks noGrp="1"/>
          </p:cNvSpPr>
          <p:nvPr>
            <p:ph idx="1"/>
          </p:nvPr>
        </p:nvSpPr>
        <p:spPr>
          <a:xfrm>
            <a:off x="1443355" y="1836420"/>
            <a:ext cx="6571615" cy="3629660"/>
          </a:xfrm>
        </p:spPr>
        <p:txBody>
          <a:bodyPr/>
          <a:p>
            <a:r>
              <a:rPr lang="en-US" altLang="en-US"/>
              <a:t>Kematian pada pasien Anak dengan Demam Berdarah Dengue (DBD) disebabkan oleh komplikasi yang ditimbulkan oleh infeksi virus dengue Beberapa faktor yang dapat menyebabkan kematian akibat DBD adalah kebocoran plasma, pendarahan hebat, syok, dan kegagalan organ </a:t>
            </a:r>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43355" y="804545"/>
            <a:ext cx="6571615" cy="640715"/>
          </a:xfrm>
        </p:spPr>
        <p:txBody>
          <a:bodyPr>
            <a:normAutofit fontScale="90000"/>
          </a:bodyPr>
          <a:p>
            <a:r>
              <a:rPr lang="en-US" altLang="en-US" sz="1780"/>
              <a:t>Analisa Faktor-faktor yang berkontribusi terhadap kematian DBD:</a:t>
            </a:r>
            <a:br>
              <a:rPr lang="en-US" altLang="en-US"/>
            </a:br>
            <a:br>
              <a:rPr lang="en-US" altLang="en-US"/>
            </a:br>
            <a:endParaRPr lang="en-US" altLang="en-US"/>
          </a:p>
        </p:txBody>
      </p:sp>
      <p:sp>
        <p:nvSpPr>
          <p:cNvPr id="3" name="Content Placeholder 2"/>
          <p:cNvSpPr>
            <a:spLocks noGrp="1"/>
          </p:cNvSpPr>
          <p:nvPr>
            <p:ph idx="1"/>
          </p:nvPr>
        </p:nvSpPr>
        <p:spPr/>
        <p:txBody>
          <a:bodyPr/>
          <a:p>
            <a:pPr marL="0" indent="0">
              <a:buNone/>
            </a:pPr>
            <a:r>
              <a:rPr lang="en-US" altLang="en-US"/>
              <a:t>1. Kebocoran Plasma:</a:t>
            </a:r>
            <a:endParaRPr lang="en-US" altLang="en-US"/>
          </a:p>
          <a:p>
            <a:r>
              <a:rPr lang="en-US" altLang="en-US"/>
              <a:t>Infeksi virus dengue dapat menyebabkan peningkatan permeabilitas pembuluh darah, mengakibatkan kebocoran plasma ke jaringan tubuh. Hal ini dapat menyebabkan hipotensi (tekanan darah rendah), hemokonsentrasi (peningkatan konsentrasi sel darah merah), dan hipoproteinemia (penurunan kadar protein dalam darah). </a:t>
            </a:r>
            <a:endParaRPr lang="en-US" altLang="en-US"/>
          </a:p>
          <a:p>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altLang="en-US"/>
              <a:t>2. Pendarahan:</a:t>
            </a:r>
            <a:endParaRPr lang="en-US" altLang="en-US"/>
          </a:p>
          <a:p>
            <a:r>
              <a:rPr lang="en-US" altLang="en-US"/>
              <a:t>Penurunan trombosit (sel darah yang berperan dalam pembekuan darah) akibat DBD dapat menyebabkan pendarahan, baik internal maupun eksternal. Pendarahan yang parah dapat mengancam jiwa. </a:t>
            </a:r>
            <a:endParaRPr lang="en-US" altLang="en-US"/>
          </a:p>
          <a:p>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altLang="en-US"/>
              <a:t>3. Syok:</a:t>
            </a:r>
            <a:endParaRPr lang="en-US" altLang="en-US"/>
          </a:p>
          <a:p>
            <a:r>
              <a:rPr lang="en-US" altLang="en-US"/>
              <a:t>Kebocoran plasma dan pendarahan dapat menyebabkan syok, suatu kondisi dimana organ-organ tubuh tidak mendapatkan cukup darah dan oksigen. Syok yang berkepanjangan dapat menyebabkan kegagalan organ dan kematian. </a:t>
            </a:r>
            <a:endParaRPr lang="en-US" altLang="en-US"/>
          </a:p>
          <a:p>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altLang="en-US"/>
              <a:t>4. Kegagalan Organ:</a:t>
            </a:r>
            <a:endParaRPr lang="en-US" altLang="en-US"/>
          </a:p>
          <a:p>
            <a:r>
              <a:rPr lang="en-US" altLang="en-US"/>
              <a:t>Jika DBD tidak tertangani dengan baik, dapat terjadi gagal ginjal akut, ensefalopati dengue (kerusakan otak), edema paru (penumpukan cairan di paru-paru), dan komplikasi lainnya yang dapat berujung pada kematian. </a:t>
            </a:r>
            <a:endParaRPr lang="en-US" altLang="en-US"/>
          </a:p>
          <a:p>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a:bodyPr>
          <a:p>
            <a:pPr marL="0" indent="0">
              <a:buNone/>
            </a:pPr>
            <a:r>
              <a:rPr lang="en-US" altLang="en-US"/>
              <a:t>5. Keterlambatan Diagnosis dan Penanganan:</a:t>
            </a:r>
            <a:endParaRPr lang="en-US" altLang="en-US"/>
          </a:p>
          <a:p>
            <a:pPr marL="0" indent="0">
              <a:buNone/>
            </a:pPr>
            <a:r>
              <a:rPr lang="en-US" altLang="en-US"/>
              <a:t>Jika pasien terlambat didiagnosis dan mendapatkan penanganan medis, risiko komplikasi berat dan kematian meningkat. </a:t>
            </a:r>
            <a:endParaRPr lang="en-US" altLang="en-US"/>
          </a:p>
          <a:p>
            <a:pPr marL="0" indent="0">
              <a:buNone/>
            </a:pPr>
            <a:r>
              <a:rPr lang="en-US" altLang="en-US">
                <a:sym typeface="+mn-ea"/>
              </a:rPr>
              <a:t>6. Kondisi Kesehatan Penyerta:</a:t>
            </a:r>
            <a:endParaRPr lang="en-US" altLang="en-US"/>
          </a:p>
          <a:p>
            <a:pPr marL="0" indent="0">
              <a:buNone/>
            </a:pPr>
            <a:r>
              <a:rPr lang="en-US" altLang="en-US">
                <a:sym typeface="+mn-ea"/>
              </a:rPr>
              <a:t>Pasien dengan kondisi kesehatan penyerta seperti diabetes melitus atau hipertensi , obesitas memiliki risiko kematian yang lebih tinggi akibat DBD. </a:t>
            </a:r>
            <a:endParaRPr lang="en-US" altLang="en-US"/>
          </a:p>
          <a:p>
            <a:pPr marL="0" indent="0">
              <a:buNone/>
            </a:pPr>
            <a:r>
              <a:rPr lang="en-US" altLang="en-US">
                <a:sym typeface="+mn-ea"/>
              </a:rPr>
              <a:t> </a:t>
            </a:r>
            <a:endParaRPr lang="en-US" altLang="en-US"/>
          </a:p>
          <a:p>
            <a:pPr marL="0" indent="0">
              <a:buNone/>
            </a:pPr>
            <a:endParaRPr lang="en-US" altLang="en-US"/>
          </a:p>
          <a:p>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altLang="en-US">
                <a:sym typeface="+mn-ea"/>
              </a:rPr>
              <a:t>7. Usia:</a:t>
            </a:r>
            <a:endParaRPr lang="en-US" altLang="en-US"/>
          </a:p>
          <a:p>
            <a:pPr marL="0" indent="0">
              <a:buNone/>
            </a:pPr>
            <a:r>
              <a:rPr lang="en-US" altLang="en-US">
                <a:sym typeface="+mn-ea"/>
              </a:rPr>
              <a:t>Anak-anak dan lansia lebih rentan terhadap komplikasi DBD dan memiliki risiko kematian yang lebih tinggi. </a:t>
            </a:r>
            <a:endParaRPr lang="en-US" altLang="en-US"/>
          </a:p>
          <a:p>
            <a:pPr marL="0" indent="0">
              <a:buNone/>
            </a:pPr>
            <a:r>
              <a:rPr lang="en-US" altLang="en-US"/>
              <a:t>8. Perawatan Kurang Tepat:</a:t>
            </a:r>
            <a:endParaRPr lang="en-US" altLang="en-US"/>
          </a:p>
          <a:p>
            <a:pPr marL="0" indent="0">
              <a:buNone/>
            </a:pPr>
            <a:r>
              <a:rPr lang="en-US" altLang="en-US"/>
              <a:t>Pasien yang tidak mendapatkan perawatan yang tepat, terutama di fasilitas kesehatan dengan sumber daya terbatas, juga memiliki risiko kematian yang lebih tinggi. </a:t>
            </a:r>
            <a:endParaRPr lang="en-US" altLang="en-US"/>
          </a:p>
          <a:p>
            <a:pPr marL="0" indent="0">
              <a:buNone/>
            </a:pPr>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TRIMAKASIH ...</a:t>
            </a:r>
            <a:endParaRPr lang="en-US"/>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0</TotalTime>
  <Words>16656</Words>
  <Application>WPS Presentation</Application>
  <PresentationFormat>On-screen Show (4:3)</PresentationFormat>
  <Paragraphs>706</Paragraphs>
  <Slides>41</Slides>
  <Notes>12</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41</vt:i4>
      </vt:variant>
    </vt:vector>
  </HeadingPairs>
  <TitlesOfParts>
    <vt:vector size="60" baseType="lpstr">
      <vt:lpstr>Arial</vt:lpstr>
      <vt:lpstr>SimSun</vt:lpstr>
      <vt:lpstr>Wingdings</vt:lpstr>
      <vt:lpstr>DengXian</vt:lpstr>
      <vt:lpstr>Open Sans</vt:lpstr>
      <vt:lpstr>Segoe Print</vt:lpstr>
      <vt:lpstr>Tw Cen MT</vt:lpstr>
      <vt:lpstr>Arial</vt:lpstr>
      <vt:lpstr>Gill Sans MT</vt:lpstr>
      <vt:lpstr>Microsoft YaHei</vt:lpstr>
      <vt:lpstr>Arial Unicode MS</vt:lpstr>
      <vt:lpstr>Calibri</vt:lpstr>
      <vt:lpstr>Calibri</vt:lpstr>
      <vt:lpstr>Times New Roman</vt:lpstr>
      <vt:lpstr>Symbol</vt:lpstr>
      <vt:lpstr>Wingdings 2</vt:lpstr>
      <vt:lpstr>华文新魏</vt:lpstr>
      <vt:lpstr>Times New Roman</vt:lpstr>
      <vt:lpstr>Gallery</vt:lpstr>
      <vt:lpstr>KAJIAN KASUS PASIEN MD DI UNIT PICU DENGAN DIAGNOSA</vt:lpstr>
      <vt:lpstr>	PENDAHULUAN</vt:lpstr>
      <vt:lpstr>DENGUE SHOCK SYNDROME</vt:lpstr>
      <vt:lpstr>Probable dengue</vt:lpstr>
      <vt:lpstr>Warning signs*</vt:lpstr>
      <vt:lpstr>KRITERIA UNTUK SEVERE DENGUE</vt:lpstr>
      <vt:lpstr>STUDI KASUS  </vt:lpstr>
      <vt:lpstr>Identitas Pasien</vt:lpstr>
      <vt:lpstr>PowerPoint 演示文稿</vt:lpstr>
      <vt:lpstr>PowerPoint 演示文稿</vt:lpstr>
      <vt:lpstr>PowerPoint 演示文稿</vt:lpstr>
      <vt:lpstr>RIWAYAT PENYAKIT</vt:lpstr>
      <vt:lpstr>PEMERIKSAAN FISIK</vt:lpstr>
      <vt:lpstr>pemeriksaan fisis..(2)</vt:lpstr>
      <vt:lpstr>pemeriksaan fisis..(3)</vt:lpstr>
      <vt:lpstr>pemeriksaan fisis..(4)</vt:lpstr>
      <vt:lpstr>PEMERIKSAAN NEUROLOGIS</vt:lpstr>
      <vt:lpstr>STATUS ANTROPOMETRI</vt:lpstr>
      <vt:lpstr>Diagonosis awal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Diagnosis Akhir</vt:lpstr>
      <vt:lpstr>peNYEBAB KEMATIAN LANGSUNG: DIC, KEBOCORAN PLASMA YANG MENYEBABKAN KEKURANGAN CAIRAN DAN KEGAGALAN ORGAN MULTIPLE, PERDARAHAN GI DAN OTAK   Penyebab kematian tidak langsung :  FAKTOR RESIKO INDIVIDU ADANYA PENYAKIT PENYERTA , KOMPLIKASI </vt:lpstr>
      <vt:lpstr>ANALISA KASUS</vt:lpstr>
      <vt:lpstr>Analisa Faktor-faktor yang berkontribusi terhadap kematian DBD:  </vt:lpstr>
      <vt:lpstr>PowerPoint 演示文稿</vt:lpstr>
      <vt:lpstr>PowerPoint 演示文稿</vt:lpstr>
      <vt:lpstr>PowerPoint 演示文稿</vt:lpstr>
      <vt:lpstr>PowerPoint 演示文稿</vt:lpstr>
      <vt:lpstr>PowerPoint 演示文稿</vt:lpstr>
      <vt:lpstr>PowerPoint 演示文稿</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TOSHIBA</dc:creator>
  <cp:lastModifiedBy>Perina Rs</cp:lastModifiedBy>
  <cp:revision>61</cp:revision>
  <cp:lastPrinted>2015-11-08T23:14:00Z</cp:lastPrinted>
  <dcterms:created xsi:type="dcterms:W3CDTF">2015-09-05T11:00:00Z</dcterms:created>
  <dcterms:modified xsi:type="dcterms:W3CDTF">2025-06-24T07:05:09Z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803FDE3F0198421A965E694258789116_13</vt:lpwstr>
  </property>
  <property fmtid="{D5CDD505-2E9C-101B-9397-08002B2CF9AE}" pid="3" name="KSOProductBuildVer">
    <vt:lpwstr>1033-12.2.0.21546</vt:lpwstr>
  </property>
</Properties>
</file>